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de préparation personnelle, à ne pas projeter devant le jury. Les réponses complètes sont aussi dans les notes de chaque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réponse : conclusion d'abord, puis justification, puis limite et plan. La phrase « la limite actuelle est… la solution cible est… » est votre meilleure arme face à un jury qui a lu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ces observations viennent de la lecture du dépôt (septembre 2026). Corriger les points 1, 2 (renommage), 6 et la CSP du point 4 prend peu de temps et retire autant de questions pièges.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Pourquoi un nouveau SAE alors qu'Alfresco, Nuxeo, Maarch, DocuWare ou M-Files existent déjà ?
CE QUE LE JURY TESTE : Votre connaissance de l'état de l'art et la réalité de votre valeur ajoutée.
RÉPONSE :
- Les GED génériques (Alfresco, Nuxeo) gèrent des documents mais la valeur probante demande des modules et une intégration coûteuse.
- Les solutions commerciales (DocuWare, M-Files) ont un coût de licence élevé pour une PME ou une administration locale.
- MadeArchive intègre nativement la chaîne de preuve : PDF/A, empreinte SHA-256, signature, horodatage RFC 3161, contrôle de fixité quotidien, destruction tracée.
- Différenciateur : extraction de métadonnées par IA locale, sans envoyer de données à un tiers, et déploiement en une commande Docker.
PIÈGE / RELANCE : Ne dites JAMAIS « rien de tel n'existe ». Relance fréquente : « Avez-vous comparé avec un tableau de critères ? » Préparez un tableau comparatif (prix, preuve, IA, souveraineté).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Quelle est VOTRE contribution personnelle ? Vous avez surtout assemblé des briques open source.
CE QUE LE JURY TESTE : Distinguer l'intégrateur de l'ingénieur. C'est la question qui fait le plus de dégâts.
RÉPONSE :
- Assumez l'assemblage : c'est le métier d'ingénieur, personne ne réécrit Postgres ou Tesseract.
- Contribution 1 : un pipeline où le LLM génère des règles d'extraction (regex) une fois par type de document, puis ces règles s'exécutent en millisecondes. C'est une IA « frugale » et auditable.
- Contribution 2 : une chaîne de preuve cohérente de bout en bout (conversion, empreinte, signature par éditeur, jeton RFC 3161, chiffrement GCM, contrôle de fixité, suppression tracée).
- Contribution 3 : un modèle de droits par unité organisationnelle et groupes d'accès, avec journal d'audit.
PIÈGE / RELANCE : « Montrez-nous une partie du code que vous seul pouviez écrire. » Ayez 2 fichiers prêts (ex. RegexGenerationService, LoginAttemptService).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Formulez votre problématique en une seule phrase.
CE QUE LE JURY TESTE : La capacité à prendre de la hauteur au-delà du code.
RÉPONSE :
- « Comment garantir, sur une durée de 10 ans ou plus, qu'un document numérique archivé reste intègre, daté de façon opposable et retrouvable, sans exposer son contenu à des tiers ? »
- Puis, en une phrase : « MadeArchive y répond par une chaîne de preuve cryptographique et une indexation assistée par une IA locale. »
PIÈGE / RELANCE : Réciter la liste des fonctionnalités à la place d'une problématique.
==========
QUESTION : Qui sont vos utilisateurs ? Les avez-vous rencontrés ? Combien d'entretiens ?
CE QUE LE JURY TESTE : La démarche centrée utilisateur, et si le besoin est réel ou imaginé.
RÉPONSE :
- Donnez des chiffres RÉELS : nombre d'entretiens, profils (archiviste, DAF, secrétariat), besoins exprimés.
- Si vous n'en avez pas fait : dites-le, et présentez le plan de validation (pilote avec une PME ou un cabinet).
PIÈGE / RELANCE : Inventer des entretiens : le jury demandera un nom, une date ou un compte rendu.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Votre système est-il conforme à la NF Z42-013 / ISO 14641 ?
CE QUE LE JURY TESTE : Si vous confondez « conforme », « certifié » et « inspiré de ».
RÉPONSE :
- Non certifié. La certification exige un audit par un organisme accrédité et des procédures organisationnelles (politique d'archivage, gestion des habilitations, plan de continuité).
- Le système implémente les exigences techniques clés : intégrité (SHA-256 + signature), horodatage, traçabilité (journal d'audit), cycle de vie (rétention, corbeille, destruction tracée), format pérenne (PDF/A-3b).
- Formulation juste : « conçu pour faciliter une future certification ».
PIÈGE / RELANCE : Dire « conforme ». Relance : « Citez 3 exigences de la norme que vous NE couvrez PAS. » Réponse : politique d'archivage écrite, audit externe, stockage WORM et sauvegardes externalisées testées.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Un document archivé chez vous a-t-il une valeur probante devant un juge ?
CE QUE LE JURY TESTE : Votre culture juridique : la preuve est appréciée par le juge, pas décrétée par un logiciel.
RÉPONSE :
- La copie numérique fait foi si l'on prouve sa fidélité et son intégrité dans le temps (en France : art. 1379 du Code civil et décret 2016-1673 ; citez l'équivalent de votre droit national ou OHADA).
- MadeArchive fournit les éléments techniques de preuve : empreinte, signature, jeton d'horodatage d'un tiers et journal d'audit.
- Avec une TSA et une signature qualifiées eIDAS, la présomption de fiabilité est renforcée. C'est l'étape suivante.
PIÈGE / RELANCE : Promettre une « valeur juridique garantie ». Seul le juge décide.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Pourquoi le PDF/A ? Et pourquoi la variante 3b plutôt que 1b ou 2b ?
CE QUE LE JURY TESTE : Si vous connaissez vos propres choix techniques.
RÉPONSE :
- PDF/A = PDF autonome : polices embarquées, pas de JavaScript ni de ressources externes, profil couleur défini. Il reste lisible dans 30 ans.
- Le code marque en PDF/A-3b (XMP + OutputIntent sRGB). 3b = rendu visuel garanti et pièces jointes autorisées (ex. XML de métadonnées).
- 2b serait plus strict (aucune pièce jointe non PDF/A) : un choix défendable pour l'archivage pur.
PIÈGE / RELANCE : « Validez-vous le résultat avec veraPDF ? » Si ce n'est pas le cas, dites-le et faites-le avant la soutenance.
==========
QUESTION : RGPD : comment conciliez-vous droit à l'effacement et obligation de conservation ?
CE QUE LE JURY TESTE : La maîtrise des principes de protection des données.
RÉPONSE :
- L'obligation légale de conservation prime (art. 17.3.b RGPD) jusqu'à la fin de la durée de rétention.
- Chiffrement au repos, droits par UO, journal des accès, purge automatique en fin de rétention.
- Après la purge, une « pierre tombale » garde la trace de la destruction avec des métadonnées minimales.
PIÈGE / RELANCE : « Votre pierre tombale contient-elle des données personnelles ? » Sachez exactement quels champs elle conserve.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Connaissez-vous le modèle OAIS (ISO 14721) ? Où sont vos SIP, AIP et DIP ?
CE QUE LE JURY TESTE : Le vocabulaire de référence de l'archivistique.
RÉPONSE :
- SIP (paquet versé) : fichier uploadé et métadonnées saisies ou extraites.
- AIP (paquet archivé) : PDF/A chiffré dans MinIO, empreinte, signature, jeton RFC 3161 et métadonnées dans Postgres.
- DIP (paquet diffusé) : consultation, export CSV/Excel + fichiers, attestation.
PIÈGE / RELANCE : Ne pas connaître le sigle OAIS en master archivage/SI : très mauvais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Dix conteneurs pour une PME : n'est-ce pas surdimensionné ?
CE QUE LE JURY TESTE : La justification du rapport complexité/besoin.
RÉPONSE :
- Ce n'est PAS une architecture microservices : c'est un seul backend et des services d'infrastructure spécialisés.
- Chaque brique est standard et remplaçable (S3, Postgres). Ollama est optionnel : sans lui, la saisie reste manuelle.
- Tout se déploie avec docker compose, et un chart Helm existe pour Kubernetes.
PIÈGE / RELANCE : Parler de « microservices » : le jury vous fera définir le terme.
==========
QUESTION : Pourquoi MinIO plutôt que le disque ou des BLOB en base de données ?
CE QUE LE JURY TESTE : La compréhension du stockage objet.
RÉPONSE :
- API S3 standard : migration vers n'importe quel cloud S3 sans réécriture.
- Des BLOB en base font exploser la taille des sauvegardes et la charge sur Postgres.
- Fonctions d'archivage possibles : versioning et Object Lock (WORM).
PIÈGE / RELANCE : « Avez-vous activé l'Object Lock (WORM) ? » Si ce n'est pas le cas, présentez-le comme une 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Votre recherche filtre les droits APRÈS la pagination Meilisearch. Un utilisateur peut donc recevoir une page vide ?
CE QUE LE JURY TESTE : Le jury a lu votre code (DocumentSearchService). C'est un vrai défaut.
RÉPONSE :
- Exact : Meilisearch renvoie une page de N résultats, puis le backend retire ceux qui sont inaccessibles (isAccessible). Une page peut contenir moins de N résultats, voire aucun, et le total affiché est faux.
- Sécurité préservée : aucun document interdit n'est renvoyé, car le front ne parle jamais directement à Meilisearch.
- Correctif : indexer les UO et les groupes autorisés dans chaque document, et filtrer DANS Meilisearch (filter sur uoId / groupeIds). La pagination devient alors exacte.
PIÈGE / RELANCE : « Le nombre total de résultats révèle-t-il l'existence de documents confidentiels ? » Vérifiez ce que renvoie estimatedTotalHits.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Le serveur de base de données brûle ce soir. Où sont vos sauvegardes ? Quel RPO / RTO ?
CE QUE LE JURY TESTE : La maturité d'exploitation. Un SAE sans sauvegarde testée n'est pas un SAE.
RÉPONSE :
- Aujourd'hui : volumes Docker nommés, pas de sauvegarde automatisée dans le dépôt. Dites-le.
- Stratégie cible (règle 3-2-1) : pg_dump chiffré chaque nuit, réplication MinIO vers un second site, conservation hors ligne, et test de restauration mensuel.
- Objectifs à annoncer : RPO ≤ 24 h, RTO ≤ 4 h (à ajuster selon le client).
- Point fort : les métadonnées de preuve (empreinte, jeton) permettent de vérifier l'intégrité de ce qui est restauré.
PIÈGE / RELANCE : « Avez-vous déjà restauré une sauvegarde ? » Faites le test une fois avant la soutenance.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Vous activez Flyway dans application.properties, mais la dépendance n'existe pas et ddl-auto=update. Comment migrez-vous le schéma en production ?
CE QUE LE JURY TESTE : Le jury a ouvert application.properties.
RÉPONSE :
- Reconnaître : en l'état, c'est Hibernate (ddl-auto=update) qui fait évoluer le schéma. Les propriétés Flyway sont inopérantes.
- Risque : ddl-auto=update ne supprime ni ne renomme proprement les colonnes et n'est pas versionné. C'est dangereux sur des données d'archives.
- Correctif : ajouter flyway-core, créer V1__baseline.sql depuis schema.sql, puis passer ddl-auto=validate.
PIÈGE / RELANCE : Corrigez-le AVANT la soutenance : c'est simple et cela retire une munition au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Pourquoi Spring Boot et React plutôt que Django ou Laravel ?
CE QUE LE JURY TESTE : Choix argumenté plutôt que « c'est ce que je connais ».
RÉPONSE :
- L'écosystème Java est mûr pour ce domaine : BouncyCastle (PKI, RFC 3161), PDFBox, Tika et Tess4J.
- Typage fort, standard en banque et dans l'administration, où se trouvent les clients d'un SAE.
- React + TypeScript, React Query et Zod : une interface typée de bout en bout.
PIÈGE / RELANCE : Répondre uniquement « je maîtrise Java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Une seule clé AES pour TOUS les documents, dans une variable d'environnement. Si elle fuit ?
CE QUE LE JURY TESTE : La gestion des clés, le point faible réel du projet.
RÉPONSE :
- Oui : STORAGE_ENCRYPTION_KEY est unique. Si elle fuit, tout le stock est déchiffrable. C'est une limite assumée du prototype.
- Cible : chiffrement d'enveloppe. Une clé par document (DEK), elle-même chiffrée par une clé maître (KEK) gardée dans un KMS ou un HSM (Vault, KMS cloud).
- Bénéfices : rotation de la KEK sans rechiffrer les fichiers, révocation ciblée, et la clé maître ne quitte jamais le KMS.
PIÈGE / RELANCE : Défendre la clé unique comme « suffisante ». Montrez que vous connaissez la bonne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Vous parlez de HSM. Où est votre HSM ?
CE QUE LE JURY TESTE : L'honnêteté sur le vocabulaire. Le jury sait qu'un HSM est un boîtier matériel.
RÉPONSE :
- « Il n'y en a pas physiquement. C'est un keystore PKCS#12 logiciel protégé par mot de passe, derrière une abstraction nommée HsmKeyStoreService. »
- « Le nom reflète la cible : en production, on branche un vrai HSM via PKCS#11 (SoftHSM en test, puis un HSM matériel ou cloud) sans toucher au code métier. »
- Idéalement, renommez-le en « KeyStoreService » dans le mémoire, ou écrivez « HSM logiciel (simulé) ».
PIÈGE / RELANCE : Prétendre avoir un HSM. Si le jury le découvre lui-même, votre crédibilité sur tout le reste s'effondre.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Votre signature est-elle une signature électronique au sens eIDAS ? Du PAdES ?
CE QUE LE JURY TESTE : La différence entre « signer un hash » et « signature électronique qualifiée ».
RÉPONSE :
- Techniquement : SHA256withRSA sur l'empreinte SHA-256, avec une clé propre à chaque éditeur. La signature est détachée et stockée en base.
- Ce n'est ni du PAdES ni une signature qualifiée : elle n'est pas intégrée au PDF, et le certificat n'est pas émis par un prestataire qualifié.
- Évolution : PAdES-B-LTA via la bibliothèque européenne DSS, avec des certificats d'une autorité reconnue.
PIÈGE / RELANCE : « Un tiers peut-il vérifier la signature sans votre application ? » Aujourd'hui, non. C'est l'argument pour PAdES.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Votre JWT est stocké dans le localStorage. Que se passe-t-il en cas de faille XSS ?
CE QUE LE JURY TESTE : Le jury a ouvert authService.tsx. C'est un classique des jurys sécurité.
RÉPONSE :
- Reconnaître : le token et le refresh token sont dans le localStorage. Un script injecté peut les voler.
- Atténuations actuelles : React échappe le rendu par défaut, aucun dangerouslySetInnerHTML dans le front, expiration courte avec refresh.
- Cible : cookie HttpOnly + Secure + SameSite=Strict et en-tête Content-Security-Policy dans Nginx.
- Pourquoi CSRF est désactivé : l'API est stateless et le token passe dans l'en-tête Authorization, donc pas de CSRF. En passant au cookie, il faudra réactiver la protection CSRF.
PIÈGE / RELANCE : « Avez-vous une CSP ? » Aujourd'hui, non : ajoutez-la dans nginx.conf avant la soutenance.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Détaillez votre chiffrement. Pourquoi AES-GCM ? Comment gérez-vous l'IV ?
CE QUE LE JURY TESTE : Si vous comprenez votre propre crypto.
RÉPONSE :
- AES-256-GCM, un IV aléatoire de 12 octets (SecureRandom) par fichier, et un tag d'authentification de 128 bits.
- GCM est un chiffrement authentifié : confidentialité et détection d'altération à la fois.
- Réutiliser un IV avec la même clé serait catastrophique (fuite du XOR des clairs, falsification possible). Avec des IV aléatoires de 96 bits, rester sous 2³² chiffrements par clé (recommandation NIST).
PIÈGE / RELANCE : « Que se passe-t-il au 5 milliardième document ? » On approche la limite : il faut changer de clé, d'où la question suivante.
==========
QUESTION : Comment vous protégez-vous contre la force brute ? Et si un attaquant bloque volontairement le compte du directeur ?
CE QUE LE JURY TESTE : Si vous avez pensé au déni de service par verrouillage.
RÉPONSE :
- Des compteurs Redis par e-mail ET par IP, avec un blocage progressif (au moins 5 min dès le premier palier, qui s'allonge à chaque récidive). Mots de passe hachés en BCrypt.
- Un administrateur peut débloquer un compte, et l'action est journalisée.
- Contre le blocage malveillant : ajouter le MFA et un CAPTCHA après N échecs plutôt qu'un verrou dur, et alerter l'utilisateur.
PIÈGE / RELANCE : « Derrière un NAT d'entreprise, tous les employés partagent une IP. » Le blocage par IP peut alors bloquer tout un bureau.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Un administrateur malveillant avec accès à Postgres peut-il falsifier un document ET son empreinte ET le journal d'audit ?
CE QUE LE JURY TESTE : Le modèle de menace de l'initié (insider), la question la plus « sans pitié ».
RÉPONSE :
- Le fichier seul : non. Toute modification casse le tag GCM et l'empreinte, ce que le contrôle de fixité détecte.
- Fichier + empreinte en base : il pourrait tout remplacer de façon cohérente. MAIS le jeton RFC 3161 est signé par la TSA, qui est un tiers : il lie l'empreinte d'origine à une date et ne peut pas être refait pour une date passée.
- Journal d'audit : aujourd'hui modifiable en base. Correctif : journal chaîné (chaque entrée contient l'empreinte de la précédente), avec un ancrage horodaté périodique.
PIÈGE / RELANCE : Répondre « c'est impossible ». Aucun système n'y est immunisé : montrez que vous connaissez la limite et la parade.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Avez-vous réalisé un test d'intrusion ? Où en êtes-vous sur l'OWASP Top 10 ?
CE QUE LE JURY TESTE : Si « sécurisé » est une affirmation ou une preuve.
RÉPONSE :
- Pas d'audit externe. Revue interne : requêtes JPA paramétrées (injection), contrôle d'accès côté serveur, BCrypt, anti-force brute, TLS via Traefik.
- Avant la soutenance : un scan OWASP ZAP et un scan de dépendances (OWASP Dependency-Check). Présentez le rapport.
PIÈGE / RELANCE : Dire « l'application est sécurisée ». Dites plutôt « voici les mesures et voici les limites connues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Vous utilisez FreeTSA, un service gratuit. Est-il fiable ? Qualifié eIDAS ?
CE QUE LE JURY TESTE : La distinction démo / production.
RÉPONSE :
- Non, FreeTSA n'est pas qualifié et ne garantit aucun niveau de service. Il sert au développement et à la démo.
- La configuration prévoit une TSA payante prioritaire (HORODATAGE_TSA_URL_PAYANT), sans repli silencieux vers le gratuit en cas d'échec. C'est un choix volontaire, car un horodatage « au rabais » dégraderait la preuve.
- En production : une TSA qualifiée de la liste de confiance européenne, ou un prestataire reconnu dans votre pays.
PIÈGE / RELANCE : Présenter FreeTSA comme la solution de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Dans 15 ans, le certificat de la TSA aura expiré et RSA-2048 sera peut-être cassé. Que vaut votre preuve ?
CE QUE LE JURY TESTE : La conservation à long terme de la preuve, question de niveau expert.
RÉPONSE :
- C'est le problème de la preuve à long terme. La réponse standard est le RÉ-HORODATAGE : avant l'expiration du certificat ou l'affaiblissement de l'algorithme, on horodate à nouveau (document + ancien jeton) avec un algorithme plus fort.
- Normes : RFC 4998 (Evidence Record Syntax), ou PAdES-LTA pour le PDF.
- Non implémenté aujourd'hui. C'est une perspective explicite du mémoire.
PIÈGE / RELANCE : Ne rien savoir sur le sujet. Même sans l'implémenter, citer le ré-horodatage vaut beaucoup de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Expliquez le RFC 3161 à un non-spécialiste. Pourquoi ne pas utiliser l'heure du serveur ?
CE QUE LE JURY TESTE : La pédagogie, un vrai critère de notation.
RÉPONSE :
- L'heure du serveur est modifiable par son administrateur, donc elle ne prouve rien.
- Une autorité d'horodatage (TSA), tiers de confiance, signe le couple (empreinte, date). C'est un « notaire » qui certifie qu'un contenu existait à cette date, sans jamais le voir.
- En cas d'échec de la TSA, une nouvelle tentative est lancée toutes les heures (HorodatageRetryScheduler).
PIÈGE / RELANCE : Se perdre dans l'ASN.1. Restez sur l'analogie, puis détaillez si on vous le demande.
==========
QUESTION : Votre contrôle de fixité vérifie TOUT chaque nuit à 3 h. Avec 10 millions de documents ?
CE QUE LE JURY TESTE : Le passage à l'échelle et le dimensionnement chiffré.
RÉPONSE :
- Il faut télécharger, déchiffrer puis hacher chaque fichier : c'est la bande passante MinIO qui limite, pas le CPU.
- Mesurez votre débit (documents/minute) et extrapolez : si le temps dépasse la fenêtre de nuit, passez à une vérification tournante (chaque document vérifié une fois tous les N jours) et parallélisez.
- En cas d'altération : notification de corruption et entrée dans le journal d'audit (FixityCheckService.notifyCorruption).
PIÈGE / RELANCE : Ne pas avoir de chiffre. Mesurez avant la soutenance : « X documents/minute sur telle machine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Pourquoi une blockchain (Polygon) ? Où l'utilisez-vous dans le flux d'archivage ?
CE QUE LE JURY TESTE : Le « buzzword ». Et le jury a vu que BlockchainService n'est appelé NULLE PART.
RÉPONSE :
- Constat dans votre code : BlockchainService et DocumentRegistry.sol existent, mais aucun service ne les appelle. C'est du code mort.
- Option A (recommandée) : le retirer du code et du mémoire, ou le déplacer dans les « perspectives ».
- Option B : le présenter comme un prototype d'ancrage public. On ancre chaque jour la racine d'un arbre de Merkle des empreintes du jour, pour un coût quasi nul et une preuve indépendante de toute autorité.
- Dans tous les cas, ne dites jamais qu'il est « en production ».
PIÈGE / RELANCE : « Quelle différence avec le RFC 3161 ? » La TSA est une confiance dans une autorité, la blockchain une confiance distribuée. Les deux sont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Votre contrat Solidity : qui peut appeler registerDocument ? Pourquoi string plutôt que bytes32 ?
CE QUE LE JURY TESTE : La lecture critique de votre propre smart contract.
RÉPONSE :
- Aucun contrôle d'accès : n'importe qui peut enregistrer n'importe quelle empreinte, et le premier arrivé « squatte » un hash (require … « Document deja enregistre »).
- Un string coûte plus de gas qu'un bytes32, qui suffit pour un SHA-256.
- Améliorations : bytes32, onlyOwner ou rôle, et ancrage de racines de Merkle plutôt que document par document.
PIÈGE / RELANCE : « Combien coûte l'ancrage d'un million de documents ? » Sans Merkle, c'est beaucoup. Avec Merkle, une seule transaction par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Quel est votre taux de réussite d'extraction ? Sur quel jeu de test ? Précision, rappel ?
CE QUE LE JURY TESTE : La démarche scientifique : une évaluation chiffrée ou rien.
RÉPONSE :
- Il FAUT un chiffre. Construisez un jeu annoté : au moins 50 documents, 3 types (facture, attestation, pièce d'identité), champs attendus saisis à la main.
- Mesurez par champ : précision, rappel et F1, et comparez OCR + regex générée vs extraction directe par le LLM vs saisie manuelle (temps).
- Présentez un tableau et UN exemple d'échec analysé : cela montre la rigueur.
PIÈGE / RELANCE : « Ça marche bien » ou « environ 90 % » sans protocole : sanction garantie.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Pourquoi faire générer des regex par un LLM au lieu de lui demander directement d'extraire les champs ?
CE QUE LE JURY TESTE : La justification de l'idée la plus originale du projet.
RÉPONSE :
- Coût : le LLM est appelé UNE fois par type de document. Les regex s'exécutent ensuite en millisecondes sur des milliers de documents, sans GPU.
- Déterminisme : même entrée, même sortie, alors qu'un LLM varie d'un appel à l'autre.
- Auditabilité : une règle se lit et se corrige, pas une boîte noire.
- Limite : si la mise en page change, la regex casse. D'où la régénération périodique (RegexGenerationRetryScheduler, toutes les 8 h).
PIÈGE / RELANCE : « Les regex ne gèrent pas les variations de format. » Oui : c'est le compromis coût/précision, à défendre avec des mesures.
==========
QUESTION : Le LLM peut halluciner une regex qui extrait une mauvaise date. Qui le détecte ?
CE QUE LE JURY TESTE : La gestion du risque IA.
RÉPONSE :
- L'humain reste dans la boucle : les champs sont PRÉ-REMPLIS et l'utilisateur les valide.
- La regex est testée sur le texte OCR avant d'être adoptée, et le document original reste la source de vérité.
- Piste : un score de confiance par champ et une mise en évidence visuelle des valeurs incertaines.
PIÈGE / RELANCE : « Et si l'utilisateur valide sans lire ? » C'est un risque organisationnel : formation et contrôles par échantillonnage.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Pourquoi qwen2.5-coder:14b ? Sur quel matériel ? Et un client sans GPU ?
CE QUE LE JURY TESTE : Choix de modèle argumenté et réalisme du déploiement.
RÉPONSE :
- C'est un modèle spécialisé code, donc performant pour produire des regex. Il est open-weight et tourne en local (souveraineté).
- Un 14B quantifié demande environ 9-10 Go de RAM/VRAM. Sur CPU, c'est lent mais acceptable, puisqu'on l'appelle une fois par type de document.
- Ollama est optionnel : sans lui, la saisie est manuelle. Une API LLM externe est configurable si le client l'accepte.
PIÈGE / RELANCE : « Avez-vous comparé avec d'autres modèles ? » Préparez un mini-benchmark (7B vs 14B : temps et taux de regex valides).
==========
QUESTION : Tesseract sur des documents manuscrits, tamponnés ou mal scannés ?
CE QUE LE JURY TESTE : La connaissance des limites de l'OCR.
RÉPONSE :
- Tesseract est faible sur le manuscrit et sensible à la qualité du scan (inclinaison, résolution &lt; 300 dpi).
- Le projet utilise l'OCR positionnel et des dictionnaires Tesseract spécifiques.
- Alternatives : PaddleOCR, docTR, ou TrOCR pour le manuscrit.
PIÈGE / RELANCE : Promettre que « l'OCR lit tout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Quelle est votre couverture de tests ?
CE QUE LE JURY TESTE : La rigueur d'ingénierie. Le jury a compté vos fichiers de test.
RÉPONSE :
- Constat : 14 classes de test pour environ 29 000 lignes Java. La couverture est faible, reconnaissez-le.
- Défense : les tests ciblent les parties critiques, à savoir chiffrement, empreinte, horodatage invalide, export, OCR positionnel, concurrence d'import, services UO et utilisateur. Une CI GitHub Actions les exécute.
- Avant la soutenance : générer un rapport JaCoCo et CONNAÎTRE le pourcentage exact, idéalement en ajoutant des tests sur FixityCheckService et LoginAttemptService.
PIÈGE / RELANCE : Inventer un pourcentage : le jury peut demander à voir le rapport.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DocumentService fait 1 500 lignes et DossiersPanel.tsx 1 877. Du code propre ?
CE QUE LE JURY TESTE : Les principes SOLID et la dette technique.
RÉPONSE :
- Reconnaître une dette technique : ces classes ont trop de responsabilités (principe de responsabilité unique).
- Un découpage est déjà amorcé (DocumentUploadeService, DocumentAccessService, DocumentRetentionService…) et il faut le poursuivre.
- Côté front : extraire des hooks et des sous-composants.
PIÈGE / RELANCE : Petits détails qu'un jury pointilleux relève : « DocumentUploadeService » (faute), « adminService » (minuscule). Corrigez-les.
==========
QUESTION : Quelle méthodologie ? Quel planning prévu vs réalisé ? Quels écarts ?
CE QUE LE JURY TESTE : La gestion de projet, souvent notée à part.
RÉPONSE :
- Méthode itérative de type Kanban, historique Git, CI (tests + publication des images Docker).
- Montrez un Gantt prévu vs réalisé et expliquez 2 écarts et ce que vous en avez appris.
PIÈGE / RELANCE : Un planning parfait sans aucun écart ne paraît pas crédible.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Avez-vous utilisé une IA (ChatGPT, Claude, Copilot) pour écrire ce code ?
CE QUE LE JURY TESTE : L'honnêteté intellectuelle et la maîtrise réelle du code.
RÉPONSE :
- Répondez la vérité, avec précision : pour quoi (génération, relecture, documentation), dans quelle proportion, et comment vous avez validé.
- Montrez la maîtrise : « Je peux expliquer n'importe quelle ligne, ouvrez le fichier de votre choix. »
- Formulation : « L'IA a été un outil d'accélération ; l'architecture, les choix de sécurité et la validation sont les miens. »
PIÈGE / RELANCE : NIER si c'est faux : les commentaires très détaillés et le style trahissent souvent l'usage d'IA. Un mensonge découvert peut être éliminatoire.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Combien d'utilisateurs simultanés et de documents votre système supporte-t-il ? Mesuré comment ?
CE QUE LE JURY TESTE : Des chiffres mesurés, pas estimés.
RÉPONSE :
- Un test de performance d'import concurrent existe (WebImportConcurrencyPerformanceTest). Sortez-en les chiffres.
- Ajoutez un test de charge k6 ou JMeter : temps de réponse de la recherche (p95) et débit d'upload, sur une machine décrite (CPU/RAM).
- Présentez un graphique : latence en fonction du nombre d'utilisateurs.
PIÈGE / RELANCE : « Il supporte beaucoup d'utilisateurs. » Sans mesure, cette phrase vous coûte des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Combien de temps pour archiver un PDF de 50 pages ? Quel est le goulot d'étranglement ?
CE QUE LE JURY TESTE : La compréhension de votre pipeline.
RÉPONSE :
- Chaîne : conversion PDF/A → OCR → empreinte → signature → chiffrement → MinIO → horodatage → indexation.
- Le goulot est l'OCR, d'environ 1 à 3 s par page selon le CPU (à mesurer). Traitement asynchrone (@Async) pour ne pas bloquer l'utilisateur.
- Scalabilité : paralléliser l'OCR par page ou utiliser des workers dédiés.
PIÈGE / RELANCE : Ne pas connaître l'ordre des étapes. Faites un schéma que vous savez redessiner au tableau.
==========
QUESTION : Réversibilité : un client qui vous quitte récupère-t-il TOUT, et dans un format exploitable ?
CE QUE LE JURY TESTE : Exigence des marchés publics et de la NF Z42-013.
RÉPONSE :
- Export des métadonnées (CSV/Excel) et des fichiers, dans des formats ouverts (PDF/A) et un stockage S3 standard.
- À ajouter : export des preuves (empreintes, jetons .tsr, signatures) pour qu'elles restent vérifiables sans MadeArchive.
PIÈGE / RELANCE : Oublier les preuves : sans elles, les archives exportées perdent leur valeur probante.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Qui confierait 30 ans d'archives à un étudiant ? Que deviennent-elles si vous arrêtez ?
CE QUE LE JURY TESTE : La crédibilité et la pérennité, la question « sans pitié » par excellence.
RÉPONSE :
- Réversibilité totale : formats ouverts (PDF/A), stockage S3 standard, export des preuves. Le client n'est jamais prisonnier.
- Séquestre du code source chez un tiers, déclenché en cas de cessation d'activité.
- Hébergement chez un tiers (datacenter du client ou hébergeur certifié), pas sur votre machine.
- Objectif réaliste : 1 à 3 clients pilotes la première année, puis structuration (société, support, partenaire intégrateur).
PIÈGE / RELANCE : Répondre sur l'émotion (« je suis motivé »). Répondez par des mécanismes contractuels et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Quel est votre modèle économique ? Combien coûte MadeArchive à un client ?
CE QUE LE JURY TESTE : La vision au-delà du diplôme.
RÉPONSE :
- SaaS : abonnement par utilisateur et par volume stocké. On-premise : licence annuelle + maintenance + installation.
- Donnez une fourchette calibrée sur les concurrents locaux et le coût réel d'hébergement (stockage, GPU, TSA payante).
PIÈGE / RELANCE : « C'est gratuit / open source » sans modèle de revenus.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Quel est le point le plus faible de votre projet ?
CE QUE LE JURY TESTE : La lucidité. Le jury connaît déjà la réponse et vérifie si vous la connaissez.
RÉPONSE :
- Choisissez UN point réel avec un plan : « La gestion des clés. Une clé AES unique en variable d'environnement et un keystore logiciel. La cible est un chiffrement d'enveloppe avec KMS/HSM, et voici comment j'y migrerais sans rechiffrer le stock. »
- Ensuite, n'en ajoutez pas trois autres de vous-même.
PIÈGE / RELANCE : Répondre par un faux défaut (« je suis perfectionniste ») ou un défaut sans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Ouvrez DocumentEncryptionService et expliquez-nous la ligne 53.
CE QUE LE JURY TESTE : Vérifier que vous avez écrit ou compris le code.
RÉPONSE :
- Ligne 53 : cipher.init(ENCRYPT_MODE, clé, new GCMParameterSpec(128, iv)) initialise AES-GCM avec un tag de 128 bits et l'IV aléatoire généré juste avant.
- Connaissez PAR CŒUR 5 fichiers : DocumentEncryptionService, HorodatageService, FixityCheckService, LoginAttemptService, SecurityConfig / JwtAuthFilter.
- Entraînez-vous à expliquer le flux d'une requête HTTP, du navigateur jusqu'à MinIO.
PIÈGE / RELANCE : Hésiter longuement sur votre propre code. C'est le signal le plus négatif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Si vous deviez tout recommencer, que changeriez-vous ?
CE QUE LE JURY TESTE : La capacité de recul.
RÉPONSE :
- Des tests dès le début sur la chaîne de preuve, le chiffrement d'enveloppe dès la conception, Flyway dès le premier jour.
- La signature PAdES plutôt qu'une signature détachée maison, et des services découpés plus tôt.
PIÈGE / RELANCE : Répondre « rien ». C'est un aveu de manque de recul.
==========
QUESTION : Votre démo plante devant nous. Que faites-vous ?
CE QUE LE JURY TESTE : Le sang-froid et la préparation.
RÉPONSE :
- Préparez une vidéo de secours enregistrée, des données pré-chargées et la démo en local (sans dépendre du réseau : Ollama local, TSA en cache).
- Ne déboguez JAMAIS devant le jury : « Je bascule sur l'enregistrement et j'analyserai l'incident après. »
PIÈGE / RELANCE : Passer 5 minutes à relancer des conteneurs.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 En quoi est-ce un travail de niveau MASTER et pas un projet de fin de licence ?
CE QUE LE JURY TESTE : La dimension scientifique et réflexive.
RÉPONSE :
- Une problématique de recherche (preuve à long terme, IA frugale pour l'extraction), un état de l'art référencé, des choix argumentés et comparés.
- Une ÉVALUATION chiffrée (précision/rappel, performance) et une analyse critique des limites, avec un modèle de menace.
PIÈGE / RELANCE : Répondre par la quantité de code ou le nombre de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640080" y="731520"/>
            <a:ext cx="1005840" cy="1005840"/>
          </a:xfrm>
          <a:prstGeom prst="ellipse">
            <a:avLst/>
          </a:prstGeom>
          <a:solidFill>
            <a:srgbClr val="A4302A"/>
          </a:solidFill>
          <a:ln w="19050">
            <a:solidFill>
              <a:srgbClr val="C8A04A"/>
            </a:solidFill>
            <a:prstDash val="solid"/>
          </a:ln>
        </p:spPr>
      </p:sp>
      <p:sp>
        <p:nvSpPr>
          <p:cNvPr id="3" name="Text 1"/>
          <p:cNvSpPr txBox="1"/>
          <p:nvPr/>
        </p:nvSpPr>
        <p:spPr>
          <a:xfrm>
            <a:off x="640080" y="73152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t>
            </a:r>
            <a:endParaRPr lang="en-US" sz="4000" dirty="0"/>
          </a:p>
        </p:txBody>
      </p:sp>
      <p:sp>
        <p:nvSpPr>
          <p:cNvPr id="4" name="Text 2"/>
          <p:cNvSpPr txBox="1"/>
          <p:nvPr/>
        </p:nvSpPr>
        <p:spPr>
          <a:xfrm>
            <a:off x="640080" y="1965960"/>
            <a:ext cx="786384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Soutenance MadeArchive</a:t>
            </a:r>
            <a:endParaRPr lang="en-US" sz="4000" dirty="0"/>
          </a:p>
        </p:txBody>
      </p:sp>
      <p:sp>
        <p:nvSpPr>
          <p:cNvPr id="5" name="Text 3"/>
          <p:cNvSpPr txBox="1"/>
          <p:nvPr/>
        </p:nvSpPr>
        <p:spPr>
          <a:xfrm>
            <a:off x="640080" y="2697480"/>
            <a:ext cx="7863840" cy="457200"/>
          </a:xfrm>
          <a:prstGeom prst="rect">
            <a:avLst/>
          </a:prstGeom>
          <a:noFill/>
          <a:ln/>
        </p:spPr>
        <p:txBody>
          <a:bodyPr wrap="square" lIns="0" tIns="0" rIns="0" bIns="0" rtlCol="0" anchor="t"/>
          <a:lstStyle/>
          <a:p>
            <a:pPr indent="0" marL="0">
              <a:buNone/>
            </a:pPr>
            <a:r>
              <a:rPr lang="en-US" sz="1800" i="1" dirty="0">
                <a:solidFill>
                  <a:srgbClr val="C8A04A"/>
                </a:solidFill>
                <a:latin typeface="Calibri" pitchFamily="34" charset="0"/>
                <a:ea typeface="Calibri" pitchFamily="34" charset="-122"/>
                <a:cs typeface="Calibri" pitchFamily="34" charset="-120"/>
              </a:rPr>
              <a:t>Les questions du jury le plus impitoyable, et comment y répondre</a:t>
            </a:r>
            <a:endParaRPr lang="en-US" sz="1800" dirty="0"/>
          </a:p>
        </p:txBody>
      </p:sp>
      <p:sp>
        <p:nvSpPr>
          <p:cNvPr id="6" name="Text 4"/>
          <p:cNvSpPr txBox="1"/>
          <p:nvPr/>
        </p:nvSpPr>
        <p:spPr>
          <a:xfrm>
            <a:off x="640080" y="4206240"/>
            <a:ext cx="7863840" cy="274320"/>
          </a:xfrm>
          <a:prstGeom prst="rect">
            <a:avLst/>
          </a:prstGeom>
          <a:noFill/>
          <a:ln/>
        </p:spPr>
        <p:txBody>
          <a:bodyPr wrap="square" lIns="0" tIns="0" rIns="0" bIns="0" rtlCol="0" anchor="t"/>
          <a:lstStyle/>
          <a:p>
            <a:pPr indent="0" marL="0">
              <a:buNone/>
            </a:pPr>
            <a:r>
              <a:rPr lang="en-US" sz="1200" dirty="0">
                <a:solidFill>
                  <a:srgbClr val="C9D1DB"/>
                </a:solidFill>
                <a:latin typeface="Calibri" pitchFamily="34" charset="0"/>
                <a:ea typeface="Calibri" pitchFamily="34" charset="-122"/>
                <a:cs typeface="Calibri" pitchFamily="34" charset="-120"/>
              </a:rPr>
              <a:t>48 questions · 11 thèmes · réponses construites à partir de l'analyse réelle de votre code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La méthode de réponse en 4 temps</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t"/>
          <a:lstStyle/>
          <a:p>
            <a:pPr indent="0" marL="0">
              <a:buNone/>
            </a:pPr>
            <a:r>
              <a:rPr lang="en-US" sz="1300" i="1" dirty="0">
                <a:solidFill>
                  <a:srgbClr val="5B6573"/>
                </a:solidFill>
                <a:latin typeface="Calibri" pitchFamily="34" charset="0"/>
                <a:ea typeface="Calibri" pitchFamily="34" charset="-122"/>
                <a:cs typeface="Calibri" pitchFamily="34" charset="-120"/>
              </a:rPr>
              <a:t>Un jury impitoyable ne cherche pas le candidat qui sait tout, mais celui qui sait où s'arrête ce qu'il sait.</a:t>
            </a:r>
            <a:endParaRPr lang="en-US" sz="1300" dirty="0"/>
          </a:p>
        </p:txBody>
      </p:sp>
      <p:sp>
        <p:nvSpPr>
          <p:cNvPr id="4" name="Shape 2"/>
          <p:cNvSpPr/>
          <p:nvPr/>
        </p:nvSpPr>
        <p:spPr>
          <a:xfrm>
            <a:off x="457200" y="1645920"/>
            <a:ext cx="1874520" cy="2377440"/>
          </a:xfrm>
          <a:prstGeom prst="roundRect">
            <a:avLst>
              <a:gd name="adj" fmla="val 4878"/>
            </a:avLst>
          </a:prstGeom>
          <a:solidFill>
            <a:srgbClr val="F1F3F5"/>
          </a:solidFill>
          <a:ln w="12700">
            <a:solidFill>
              <a:srgbClr val="F1F3F5"/>
            </a:solidFill>
            <a:prstDash val="solid"/>
          </a:ln>
        </p:spPr>
      </p:sp>
      <p:sp>
        <p:nvSpPr>
          <p:cNvPr id="5" name="Shape 3"/>
          <p:cNvSpPr/>
          <p:nvPr/>
        </p:nvSpPr>
        <p:spPr>
          <a:xfrm>
            <a:off x="640080" y="1828800"/>
            <a:ext cx="548640" cy="548640"/>
          </a:xfrm>
          <a:prstGeom prst="ellipse">
            <a:avLst/>
          </a:prstGeom>
          <a:solidFill>
            <a:srgbClr val="1B2430"/>
          </a:solidFill>
          <a:ln w="19050">
            <a:solidFill>
              <a:srgbClr val="C8A04A"/>
            </a:solidFill>
            <a:prstDash val="solid"/>
          </a:ln>
        </p:spPr>
      </p:sp>
      <p:sp>
        <p:nvSpPr>
          <p:cNvPr id="6" name="Text 4"/>
          <p:cNvSpPr txBox="1"/>
          <p:nvPr/>
        </p:nvSpPr>
        <p:spPr>
          <a:xfrm>
            <a:off x="64008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40080" y="2514600"/>
            <a:ext cx="1554480" cy="365760"/>
          </a:xfrm>
          <a:prstGeom prst="rect">
            <a:avLst/>
          </a:prstGeom>
          <a:noFill/>
          <a:ln/>
        </p:spPr>
        <p:txBody>
          <a:bodyPr wrap="square" lIns="0" tIns="0" rIns="0" bIns="0" rtlCol="0" anchor="t"/>
          <a:lstStyle/>
          <a:p>
            <a:pPr indent="0" marL="0">
              <a:buNone/>
            </a:pPr>
            <a:r>
              <a:rPr lang="en-US" sz="1700" b="1" dirty="0">
                <a:solidFill>
                  <a:srgbClr val="1B2430"/>
                </a:solidFill>
                <a:latin typeface="Cambria" pitchFamily="34" charset="0"/>
                <a:ea typeface="Cambria" pitchFamily="34" charset="-122"/>
                <a:cs typeface="Cambria" pitchFamily="34" charset="-120"/>
              </a:rPr>
              <a:t>Écouter</a:t>
            </a:r>
            <a:endParaRPr lang="en-US" sz="1700" dirty="0"/>
          </a:p>
        </p:txBody>
      </p:sp>
      <p:sp>
        <p:nvSpPr>
          <p:cNvPr id="8" name="Text 6"/>
          <p:cNvSpPr txBox="1"/>
          <p:nvPr/>
        </p:nvSpPr>
        <p:spPr>
          <a:xfrm>
            <a:off x="640080" y="2926080"/>
            <a:ext cx="1554480" cy="10058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Jusqu'au bout. Notez les mots-clés. Ne coupez jamais.</a:t>
            </a:r>
            <a:endParaRPr lang="en-US" sz="1150" dirty="0"/>
          </a:p>
        </p:txBody>
      </p:sp>
      <p:sp>
        <p:nvSpPr>
          <p:cNvPr id="9" name="Shape 7"/>
          <p:cNvSpPr/>
          <p:nvPr/>
        </p:nvSpPr>
        <p:spPr>
          <a:xfrm>
            <a:off x="2560320" y="1645920"/>
            <a:ext cx="1874520" cy="2377440"/>
          </a:xfrm>
          <a:prstGeom prst="roundRect">
            <a:avLst>
              <a:gd name="adj" fmla="val 4878"/>
            </a:avLst>
          </a:prstGeom>
          <a:solidFill>
            <a:srgbClr val="F1F3F5"/>
          </a:solidFill>
          <a:ln w="12700">
            <a:solidFill>
              <a:srgbClr val="F1F3F5"/>
            </a:solidFill>
            <a:prstDash val="solid"/>
          </a:ln>
        </p:spPr>
      </p:sp>
      <p:sp>
        <p:nvSpPr>
          <p:cNvPr id="10" name="Shape 8"/>
          <p:cNvSpPr/>
          <p:nvPr/>
        </p:nvSpPr>
        <p:spPr>
          <a:xfrm>
            <a:off x="2743200" y="1828800"/>
            <a:ext cx="548640" cy="548640"/>
          </a:xfrm>
          <a:prstGeom prst="ellipse">
            <a:avLst/>
          </a:prstGeom>
          <a:solidFill>
            <a:srgbClr val="1B2430"/>
          </a:solidFill>
          <a:ln w="19050">
            <a:solidFill>
              <a:srgbClr val="C8A04A"/>
            </a:solidFill>
            <a:prstDash val="solid"/>
          </a:ln>
        </p:spPr>
      </p:sp>
      <p:sp>
        <p:nvSpPr>
          <p:cNvPr id="11" name="Text 9"/>
          <p:cNvSpPr txBox="1"/>
          <p:nvPr/>
        </p:nvSpPr>
        <p:spPr>
          <a:xfrm>
            <a:off x="274320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2743200" y="2514600"/>
            <a:ext cx="1554480" cy="365760"/>
          </a:xfrm>
          <a:prstGeom prst="rect">
            <a:avLst/>
          </a:prstGeom>
          <a:noFill/>
          <a:ln/>
        </p:spPr>
        <p:txBody>
          <a:bodyPr wrap="square" lIns="0" tIns="0" rIns="0" bIns="0" rtlCol="0" anchor="t"/>
          <a:lstStyle/>
          <a:p>
            <a:pPr indent="0" marL="0">
              <a:buNone/>
            </a:pPr>
            <a:r>
              <a:rPr lang="en-US" sz="1700" b="1" dirty="0">
                <a:solidFill>
                  <a:srgbClr val="1B2430"/>
                </a:solidFill>
                <a:latin typeface="Cambria" pitchFamily="34" charset="0"/>
                <a:ea typeface="Cambria" pitchFamily="34" charset="-122"/>
                <a:cs typeface="Cambria" pitchFamily="34" charset="-120"/>
              </a:rPr>
              <a:t>Reformuler</a:t>
            </a:r>
            <a:endParaRPr lang="en-US" sz="1700" dirty="0"/>
          </a:p>
        </p:txBody>
      </p:sp>
      <p:sp>
        <p:nvSpPr>
          <p:cNvPr id="13" name="Text 11"/>
          <p:cNvSpPr txBox="1"/>
          <p:nvPr/>
        </p:nvSpPr>
        <p:spPr>
          <a:xfrm>
            <a:off x="2743200" y="2926080"/>
            <a:ext cx="1554480" cy="10058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 Si je comprends bien, vous me demandez… » Cela vous donne 5 secondes.</a:t>
            </a:r>
            <a:endParaRPr lang="en-US" sz="1150" dirty="0"/>
          </a:p>
        </p:txBody>
      </p:sp>
      <p:sp>
        <p:nvSpPr>
          <p:cNvPr id="14" name="Shape 12"/>
          <p:cNvSpPr/>
          <p:nvPr/>
        </p:nvSpPr>
        <p:spPr>
          <a:xfrm>
            <a:off x="4663440" y="1645920"/>
            <a:ext cx="1874520" cy="2377440"/>
          </a:xfrm>
          <a:prstGeom prst="roundRect">
            <a:avLst>
              <a:gd name="adj" fmla="val 4878"/>
            </a:avLst>
          </a:prstGeom>
          <a:solidFill>
            <a:srgbClr val="F1F3F5"/>
          </a:solidFill>
          <a:ln w="12700">
            <a:solidFill>
              <a:srgbClr val="F1F3F5"/>
            </a:solidFill>
            <a:prstDash val="solid"/>
          </a:ln>
        </p:spPr>
      </p:sp>
      <p:sp>
        <p:nvSpPr>
          <p:cNvPr id="15" name="Shape 13"/>
          <p:cNvSpPr/>
          <p:nvPr/>
        </p:nvSpPr>
        <p:spPr>
          <a:xfrm>
            <a:off x="4846320" y="1828800"/>
            <a:ext cx="548640" cy="548640"/>
          </a:xfrm>
          <a:prstGeom prst="ellipse">
            <a:avLst/>
          </a:prstGeom>
          <a:solidFill>
            <a:srgbClr val="1B2430"/>
          </a:solidFill>
          <a:ln w="19050">
            <a:solidFill>
              <a:srgbClr val="C8A04A"/>
            </a:solidFill>
            <a:prstDash val="solid"/>
          </a:ln>
        </p:spPr>
      </p:sp>
      <p:sp>
        <p:nvSpPr>
          <p:cNvPr id="16" name="Text 14"/>
          <p:cNvSpPr txBox="1"/>
          <p:nvPr/>
        </p:nvSpPr>
        <p:spPr>
          <a:xfrm>
            <a:off x="484632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4846320" y="2514600"/>
            <a:ext cx="1554480" cy="365760"/>
          </a:xfrm>
          <a:prstGeom prst="rect">
            <a:avLst/>
          </a:prstGeom>
          <a:noFill/>
          <a:ln/>
        </p:spPr>
        <p:txBody>
          <a:bodyPr wrap="square" lIns="0" tIns="0" rIns="0" bIns="0" rtlCol="0" anchor="t"/>
          <a:lstStyle/>
          <a:p>
            <a:pPr indent="0" marL="0">
              <a:buNone/>
            </a:pPr>
            <a:r>
              <a:rPr lang="en-US" sz="1700" b="1" dirty="0">
                <a:solidFill>
                  <a:srgbClr val="1B2430"/>
                </a:solidFill>
                <a:latin typeface="Cambria" pitchFamily="34" charset="0"/>
                <a:ea typeface="Cambria" pitchFamily="34" charset="-122"/>
                <a:cs typeface="Cambria" pitchFamily="34" charset="-120"/>
              </a:rPr>
              <a:t>Répondre</a:t>
            </a:r>
            <a:endParaRPr lang="en-US" sz="1700" dirty="0"/>
          </a:p>
        </p:txBody>
      </p:sp>
      <p:sp>
        <p:nvSpPr>
          <p:cNvPr id="18" name="Text 16"/>
          <p:cNvSpPr txBox="1"/>
          <p:nvPr/>
        </p:nvSpPr>
        <p:spPr>
          <a:xfrm>
            <a:off x="4846320" y="2926080"/>
            <a:ext cx="1554480" cy="10058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30 à 60 s. Commencez par la conclusion, puis la justification.</a:t>
            </a:r>
            <a:endParaRPr lang="en-US" sz="1150" dirty="0"/>
          </a:p>
        </p:txBody>
      </p:sp>
      <p:sp>
        <p:nvSpPr>
          <p:cNvPr id="19" name="Shape 17"/>
          <p:cNvSpPr/>
          <p:nvPr/>
        </p:nvSpPr>
        <p:spPr>
          <a:xfrm>
            <a:off x="6766560" y="1645920"/>
            <a:ext cx="1874520" cy="2377440"/>
          </a:xfrm>
          <a:prstGeom prst="roundRect">
            <a:avLst>
              <a:gd name="adj" fmla="val 4878"/>
            </a:avLst>
          </a:prstGeom>
          <a:solidFill>
            <a:srgbClr val="F1F3F5"/>
          </a:solidFill>
          <a:ln w="12700">
            <a:solidFill>
              <a:srgbClr val="F1F3F5"/>
            </a:solidFill>
            <a:prstDash val="solid"/>
          </a:ln>
        </p:spPr>
      </p:sp>
      <p:sp>
        <p:nvSpPr>
          <p:cNvPr id="20" name="Shape 18"/>
          <p:cNvSpPr/>
          <p:nvPr/>
        </p:nvSpPr>
        <p:spPr>
          <a:xfrm>
            <a:off x="6949440" y="1828800"/>
            <a:ext cx="548640" cy="548640"/>
          </a:xfrm>
          <a:prstGeom prst="ellipse">
            <a:avLst/>
          </a:prstGeom>
          <a:solidFill>
            <a:srgbClr val="A4302A"/>
          </a:solidFill>
          <a:ln w="19050">
            <a:solidFill>
              <a:srgbClr val="C8A04A"/>
            </a:solidFill>
            <a:prstDash val="solid"/>
          </a:ln>
        </p:spPr>
      </p:sp>
      <p:sp>
        <p:nvSpPr>
          <p:cNvPr id="21" name="Text 19"/>
          <p:cNvSpPr txBox="1"/>
          <p:nvPr/>
        </p:nvSpPr>
        <p:spPr>
          <a:xfrm>
            <a:off x="694944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6949440" y="2514600"/>
            <a:ext cx="1554480" cy="365760"/>
          </a:xfrm>
          <a:prstGeom prst="rect">
            <a:avLst/>
          </a:prstGeom>
          <a:noFill/>
          <a:ln/>
        </p:spPr>
        <p:txBody>
          <a:bodyPr wrap="square" lIns="0" tIns="0" rIns="0" bIns="0" rtlCol="0" anchor="t"/>
          <a:lstStyle/>
          <a:p>
            <a:pPr indent="0" marL="0">
              <a:buNone/>
            </a:pPr>
            <a:r>
              <a:rPr lang="en-US" sz="1700" b="1" dirty="0">
                <a:solidFill>
                  <a:srgbClr val="1B2430"/>
                </a:solidFill>
                <a:latin typeface="Cambria" pitchFamily="34" charset="0"/>
                <a:ea typeface="Cambria" pitchFamily="34" charset="-122"/>
                <a:cs typeface="Cambria" pitchFamily="34" charset="-120"/>
              </a:rPr>
              <a:t>Limite + plan</a:t>
            </a:r>
            <a:endParaRPr lang="en-US" sz="1700" dirty="0"/>
          </a:p>
        </p:txBody>
      </p:sp>
      <p:sp>
        <p:nvSpPr>
          <p:cNvPr id="23" name="Text 21"/>
          <p:cNvSpPr txBox="1"/>
          <p:nvPr/>
        </p:nvSpPr>
        <p:spPr>
          <a:xfrm>
            <a:off x="6949440" y="2926080"/>
            <a:ext cx="1554480" cy="10058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 La limite actuelle est X ; la solution cible est Y. »</a:t>
            </a:r>
            <a:endParaRPr lang="en-US" sz="1150" dirty="0"/>
          </a:p>
        </p:txBody>
      </p:sp>
      <p:sp>
        <p:nvSpPr>
          <p:cNvPr id="24" name="Text 22"/>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1300" b="1" dirty="0">
                <a:solidFill>
                  <a:srgbClr val="A4302A"/>
                </a:solidFill>
                <a:latin typeface="Calibri" pitchFamily="34" charset="0"/>
                <a:ea typeface="Calibri" pitchFamily="34" charset="-122"/>
                <a:cs typeface="Calibri" pitchFamily="34" charset="-120"/>
              </a:rPr>
              <a:t>Règle d'or : </a:t>
            </a:r>
            <a:pPr indent="0" marL="0">
              <a:buNone/>
            </a:pPr>
            <a:r>
              <a:rPr lang="en-US" sz="1300" dirty="0">
                <a:solidFill>
                  <a:srgbClr val="1B2430"/>
                </a:solidFill>
                <a:latin typeface="Calibri" pitchFamily="34" charset="0"/>
                <a:ea typeface="Calibri" pitchFamily="34" charset="-122"/>
                <a:cs typeface="Calibri" pitchFamily="34" charset="-120"/>
              </a:rPr>
              <a:t>si vous ne savez pas, dites « Je ne sais pas, mais voici comment je le déterminerais ». Inventer est toujours pire.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Ce qu'un jury qui lit votre code trouvera</a:t>
            </a:r>
            <a:endParaRPr lang="en-US" sz="2800" dirty="0"/>
          </a:p>
        </p:txBody>
      </p:sp>
      <p:sp>
        <p:nvSpPr>
          <p:cNvPr id="3"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200" i="1" dirty="0">
                <a:solidFill>
                  <a:srgbClr val="C8A04A"/>
                </a:solidFill>
                <a:latin typeface="Calibri" pitchFamily="34" charset="0"/>
                <a:ea typeface="Calibri" pitchFamily="34" charset="-122"/>
                <a:cs typeface="Calibri" pitchFamily="34" charset="-120"/>
              </a:rPr>
              <a:t>Munitions réelles, relevées dans le dépôt. Chacune a sa question dans ce deck.</a:t>
            </a:r>
            <a:endParaRPr lang="en-US" sz="1200" dirty="0"/>
          </a:p>
        </p:txBody>
      </p:sp>
      <p:sp>
        <p:nvSpPr>
          <p:cNvPr id="4" name="Shape 2"/>
          <p:cNvSpPr/>
          <p:nvPr/>
        </p:nvSpPr>
        <p:spPr>
          <a:xfrm>
            <a:off x="457200" y="1417320"/>
            <a:ext cx="384048" cy="384048"/>
          </a:xfrm>
          <a:prstGeom prst="ellipse">
            <a:avLst/>
          </a:prstGeom>
          <a:solidFill>
            <a:srgbClr val="A4302A"/>
          </a:solidFill>
          <a:ln w="19050">
            <a:solidFill>
              <a:srgbClr val="C8A04A"/>
            </a:solidFill>
            <a:prstDash val="solid"/>
          </a:ln>
        </p:spPr>
      </p:sp>
      <p:sp>
        <p:nvSpPr>
          <p:cNvPr id="5" name="Text 3"/>
          <p:cNvSpPr txBox="1"/>
          <p:nvPr/>
        </p:nvSpPr>
        <p:spPr>
          <a:xfrm>
            <a:off x="457200" y="14173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6" name="Text 4"/>
          <p:cNvSpPr txBox="1"/>
          <p:nvPr/>
        </p:nvSpPr>
        <p:spPr>
          <a:xfrm>
            <a:off x="960120" y="1371600"/>
            <a:ext cx="35204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BlockchainService n'est appelé nulle part</a:t>
            </a:r>
            <a:endParaRPr lang="en-US" sz="1250" dirty="0"/>
          </a:p>
        </p:txBody>
      </p:sp>
      <p:sp>
        <p:nvSpPr>
          <p:cNvPr id="7" name="Text 5"/>
          <p:cNvSpPr txBox="1"/>
          <p:nvPr/>
        </p:nvSpPr>
        <p:spPr>
          <a:xfrm>
            <a:off x="960120" y="1664208"/>
            <a:ext cx="3520440" cy="27432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code mort présenté comme fonctionnalité</a:t>
            </a:r>
            <a:endParaRPr lang="en-US" sz="1100" dirty="0"/>
          </a:p>
        </p:txBody>
      </p:sp>
      <p:sp>
        <p:nvSpPr>
          <p:cNvPr id="8" name="Shape 6"/>
          <p:cNvSpPr/>
          <p:nvPr/>
        </p:nvSpPr>
        <p:spPr>
          <a:xfrm>
            <a:off x="4663440" y="1417320"/>
            <a:ext cx="384048" cy="384048"/>
          </a:xfrm>
          <a:prstGeom prst="ellipse">
            <a:avLst/>
          </a:prstGeom>
          <a:solidFill>
            <a:srgbClr val="A4302A"/>
          </a:solidFill>
          <a:ln w="19050">
            <a:solidFill>
              <a:srgbClr val="C8A04A"/>
            </a:solidFill>
            <a:prstDash val="solid"/>
          </a:ln>
        </p:spPr>
      </p:sp>
      <p:sp>
        <p:nvSpPr>
          <p:cNvPr id="9" name="Text 7"/>
          <p:cNvSpPr txBox="1"/>
          <p:nvPr/>
        </p:nvSpPr>
        <p:spPr>
          <a:xfrm>
            <a:off x="4663440" y="14173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0" name="Text 8"/>
          <p:cNvSpPr txBox="1"/>
          <p:nvPr/>
        </p:nvSpPr>
        <p:spPr>
          <a:xfrm>
            <a:off x="5166360" y="1371600"/>
            <a:ext cx="35204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 HSM » = keystore PKCS#12 logiciel</a:t>
            </a:r>
            <a:endParaRPr lang="en-US" sz="1250" dirty="0"/>
          </a:p>
        </p:txBody>
      </p:sp>
      <p:sp>
        <p:nvSpPr>
          <p:cNvPr id="11" name="Text 9"/>
          <p:cNvSpPr txBox="1"/>
          <p:nvPr/>
        </p:nvSpPr>
        <p:spPr>
          <a:xfrm>
            <a:off x="5166360" y="1664208"/>
            <a:ext cx="3520440" cy="27432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vocabulaire trompeur</a:t>
            </a:r>
            <a:endParaRPr lang="en-US" sz="1100" dirty="0"/>
          </a:p>
        </p:txBody>
      </p:sp>
      <p:sp>
        <p:nvSpPr>
          <p:cNvPr id="12" name="Shape 10"/>
          <p:cNvSpPr/>
          <p:nvPr/>
        </p:nvSpPr>
        <p:spPr>
          <a:xfrm>
            <a:off x="457200" y="2286000"/>
            <a:ext cx="384048" cy="384048"/>
          </a:xfrm>
          <a:prstGeom prst="ellipse">
            <a:avLst/>
          </a:prstGeom>
          <a:solidFill>
            <a:srgbClr val="A4302A"/>
          </a:solidFill>
          <a:ln w="19050">
            <a:solidFill>
              <a:srgbClr val="C8A04A"/>
            </a:solidFill>
            <a:prstDash val="solid"/>
          </a:ln>
        </p:spPr>
      </p:sp>
      <p:sp>
        <p:nvSpPr>
          <p:cNvPr id="13" name="Text 11"/>
          <p:cNvSpPr txBox="1"/>
          <p:nvPr/>
        </p:nvSpPr>
        <p:spPr>
          <a:xfrm>
            <a:off x="457200" y="2286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960120" y="2240280"/>
            <a:ext cx="35204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Clé AES unique en variable d'environnement</a:t>
            </a:r>
            <a:endParaRPr lang="en-US" sz="1250" dirty="0"/>
          </a:p>
        </p:txBody>
      </p:sp>
      <p:sp>
        <p:nvSpPr>
          <p:cNvPr id="15" name="Text 13"/>
          <p:cNvSpPr txBox="1"/>
          <p:nvPr/>
        </p:nvSpPr>
        <p:spPr>
          <a:xfrm>
            <a:off x="960120" y="2532888"/>
            <a:ext cx="3520440" cy="27432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pas de rotation ni d'enveloppe</a:t>
            </a:r>
            <a:endParaRPr lang="en-US" sz="1100" dirty="0"/>
          </a:p>
        </p:txBody>
      </p:sp>
      <p:sp>
        <p:nvSpPr>
          <p:cNvPr id="16" name="Shape 14"/>
          <p:cNvSpPr/>
          <p:nvPr/>
        </p:nvSpPr>
        <p:spPr>
          <a:xfrm>
            <a:off x="4663440" y="2286000"/>
            <a:ext cx="384048" cy="384048"/>
          </a:xfrm>
          <a:prstGeom prst="ellipse">
            <a:avLst/>
          </a:prstGeom>
          <a:solidFill>
            <a:srgbClr val="A4302A"/>
          </a:solidFill>
          <a:ln w="19050">
            <a:solidFill>
              <a:srgbClr val="C8A04A"/>
            </a:solidFill>
            <a:prstDash val="solid"/>
          </a:ln>
        </p:spPr>
      </p:sp>
      <p:sp>
        <p:nvSpPr>
          <p:cNvPr id="17" name="Text 15"/>
          <p:cNvSpPr txBox="1"/>
          <p:nvPr/>
        </p:nvSpPr>
        <p:spPr>
          <a:xfrm>
            <a:off x="4663440" y="2286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8" name="Text 16"/>
          <p:cNvSpPr txBox="1"/>
          <p:nvPr/>
        </p:nvSpPr>
        <p:spPr>
          <a:xfrm>
            <a:off x="5166360" y="2240280"/>
            <a:ext cx="35204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JWT + refresh token en localStorage</a:t>
            </a:r>
            <a:endParaRPr lang="en-US" sz="1250" dirty="0"/>
          </a:p>
        </p:txBody>
      </p:sp>
      <p:sp>
        <p:nvSpPr>
          <p:cNvPr id="19" name="Text 17"/>
          <p:cNvSpPr txBox="1"/>
          <p:nvPr/>
        </p:nvSpPr>
        <p:spPr>
          <a:xfrm>
            <a:off x="5166360" y="2532888"/>
            <a:ext cx="3520440" cy="27432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exposés en cas de XSS, pas de CSP</a:t>
            </a:r>
            <a:endParaRPr lang="en-US" sz="1100" dirty="0"/>
          </a:p>
        </p:txBody>
      </p:sp>
      <p:sp>
        <p:nvSpPr>
          <p:cNvPr id="20" name="Shape 18"/>
          <p:cNvSpPr/>
          <p:nvPr/>
        </p:nvSpPr>
        <p:spPr>
          <a:xfrm>
            <a:off x="457200" y="3154680"/>
            <a:ext cx="384048" cy="384048"/>
          </a:xfrm>
          <a:prstGeom prst="ellipse">
            <a:avLst/>
          </a:prstGeom>
          <a:solidFill>
            <a:srgbClr val="A4302A"/>
          </a:solidFill>
          <a:ln w="19050">
            <a:solidFill>
              <a:srgbClr val="C8A04A"/>
            </a:solidFill>
            <a:prstDash val="solid"/>
          </a:ln>
        </p:spPr>
      </p:sp>
      <p:sp>
        <p:nvSpPr>
          <p:cNvPr id="21" name="Text 19"/>
          <p:cNvSpPr txBox="1"/>
          <p:nvPr/>
        </p:nvSpPr>
        <p:spPr>
          <a:xfrm>
            <a:off x="457200" y="31546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2" name="Text 20"/>
          <p:cNvSpPr txBox="1"/>
          <p:nvPr/>
        </p:nvSpPr>
        <p:spPr>
          <a:xfrm>
            <a:off x="960120" y="3108960"/>
            <a:ext cx="35204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Droits filtrés APRÈS la pagination Meilisearch</a:t>
            </a:r>
            <a:endParaRPr lang="en-US" sz="1250" dirty="0"/>
          </a:p>
        </p:txBody>
      </p:sp>
      <p:sp>
        <p:nvSpPr>
          <p:cNvPr id="23" name="Text 21"/>
          <p:cNvSpPr txBox="1"/>
          <p:nvPr/>
        </p:nvSpPr>
        <p:spPr>
          <a:xfrm>
            <a:off x="960120" y="3401568"/>
            <a:ext cx="3520440" cy="27432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pages incomplètes, total faux</a:t>
            </a:r>
            <a:endParaRPr lang="en-US" sz="1100" dirty="0"/>
          </a:p>
        </p:txBody>
      </p:sp>
      <p:sp>
        <p:nvSpPr>
          <p:cNvPr id="24" name="Shape 22"/>
          <p:cNvSpPr/>
          <p:nvPr/>
        </p:nvSpPr>
        <p:spPr>
          <a:xfrm>
            <a:off x="4663440" y="3154680"/>
            <a:ext cx="384048" cy="384048"/>
          </a:xfrm>
          <a:prstGeom prst="ellipse">
            <a:avLst/>
          </a:prstGeom>
          <a:solidFill>
            <a:srgbClr val="A4302A"/>
          </a:solidFill>
          <a:ln w="19050">
            <a:solidFill>
              <a:srgbClr val="C8A04A"/>
            </a:solidFill>
            <a:prstDash val="solid"/>
          </a:ln>
        </p:spPr>
      </p:sp>
      <p:sp>
        <p:nvSpPr>
          <p:cNvPr id="25" name="Text 23"/>
          <p:cNvSpPr txBox="1"/>
          <p:nvPr/>
        </p:nvSpPr>
        <p:spPr>
          <a:xfrm>
            <a:off x="4663440" y="31546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26" name="Text 24"/>
          <p:cNvSpPr txBox="1"/>
          <p:nvPr/>
        </p:nvSpPr>
        <p:spPr>
          <a:xfrm>
            <a:off x="5166360" y="3108960"/>
            <a:ext cx="35204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Flyway configuré mais absent ; ddl-auto=update</a:t>
            </a:r>
            <a:endParaRPr lang="en-US" sz="1250" dirty="0"/>
          </a:p>
        </p:txBody>
      </p:sp>
      <p:sp>
        <p:nvSpPr>
          <p:cNvPr id="27" name="Text 25"/>
          <p:cNvSpPr txBox="1"/>
          <p:nvPr/>
        </p:nvSpPr>
        <p:spPr>
          <a:xfrm>
            <a:off x="5166360" y="3401568"/>
            <a:ext cx="3520440" cy="27432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migrations non versionnées</a:t>
            </a:r>
            <a:endParaRPr lang="en-US" sz="1100" dirty="0"/>
          </a:p>
        </p:txBody>
      </p:sp>
      <p:sp>
        <p:nvSpPr>
          <p:cNvPr id="28" name="Shape 26"/>
          <p:cNvSpPr/>
          <p:nvPr/>
        </p:nvSpPr>
        <p:spPr>
          <a:xfrm>
            <a:off x="457200" y="4023360"/>
            <a:ext cx="384048" cy="384048"/>
          </a:xfrm>
          <a:prstGeom prst="ellipse">
            <a:avLst/>
          </a:prstGeom>
          <a:solidFill>
            <a:srgbClr val="A4302A"/>
          </a:solidFill>
          <a:ln w="19050">
            <a:solidFill>
              <a:srgbClr val="C8A04A"/>
            </a:solidFill>
            <a:prstDash val="solid"/>
          </a:ln>
        </p:spPr>
      </p:sp>
      <p:sp>
        <p:nvSpPr>
          <p:cNvPr id="29" name="Text 27"/>
          <p:cNvSpPr txBox="1"/>
          <p:nvPr/>
        </p:nvSpPr>
        <p:spPr>
          <a:xfrm>
            <a:off x="457200" y="4023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30" name="Text 28"/>
          <p:cNvSpPr txBox="1"/>
          <p:nvPr/>
        </p:nvSpPr>
        <p:spPr>
          <a:xfrm>
            <a:off x="960120" y="3977640"/>
            <a:ext cx="35204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14 classes de test / ~29 000 lignes Java</a:t>
            </a:r>
            <a:endParaRPr lang="en-US" sz="1250" dirty="0"/>
          </a:p>
        </p:txBody>
      </p:sp>
      <p:sp>
        <p:nvSpPr>
          <p:cNvPr id="31" name="Text 29"/>
          <p:cNvSpPr txBox="1"/>
          <p:nvPr/>
        </p:nvSpPr>
        <p:spPr>
          <a:xfrm>
            <a:off x="960120" y="4270248"/>
            <a:ext cx="3520440" cy="27432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couverture faible</a:t>
            </a:r>
            <a:endParaRPr lang="en-US" sz="1100" dirty="0"/>
          </a:p>
        </p:txBody>
      </p:sp>
      <p:sp>
        <p:nvSpPr>
          <p:cNvPr id="32" name="Shape 30"/>
          <p:cNvSpPr/>
          <p:nvPr/>
        </p:nvSpPr>
        <p:spPr>
          <a:xfrm>
            <a:off x="4663440" y="4023360"/>
            <a:ext cx="384048" cy="384048"/>
          </a:xfrm>
          <a:prstGeom prst="ellipse">
            <a:avLst/>
          </a:prstGeom>
          <a:solidFill>
            <a:srgbClr val="A4302A"/>
          </a:solidFill>
          <a:ln w="19050">
            <a:solidFill>
              <a:srgbClr val="C8A04A"/>
            </a:solidFill>
            <a:prstDash val="solid"/>
          </a:ln>
        </p:spPr>
      </p:sp>
      <p:sp>
        <p:nvSpPr>
          <p:cNvPr id="33" name="Text 31"/>
          <p:cNvSpPr txBox="1"/>
          <p:nvPr/>
        </p:nvSpPr>
        <p:spPr>
          <a:xfrm>
            <a:off x="4663440" y="4023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34" name="Text 32"/>
          <p:cNvSpPr txBox="1"/>
          <p:nvPr/>
        </p:nvSpPr>
        <p:spPr>
          <a:xfrm>
            <a:off x="5166360" y="3977640"/>
            <a:ext cx="35204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Aucune sauvegarde automatisée ; FreeTSA par défaut</a:t>
            </a:r>
            <a:endParaRPr lang="en-US" sz="1250" dirty="0"/>
          </a:p>
        </p:txBody>
      </p:sp>
      <p:sp>
        <p:nvSpPr>
          <p:cNvPr id="35" name="Text 33"/>
          <p:cNvSpPr txBox="1"/>
          <p:nvPr/>
        </p:nvSpPr>
        <p:spPr>
          <a:xfrm>
            <a:off x="5166360" y="4270248"/>
            <a:ext cx="3520440" cy="27432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maturité d'exploitation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54864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11 thèmes d'attaque</a:t>
            </a:r>
            <a:endParaRPr lang="en-US" sz="3000" dirty="0"/>
          </a:p>
        </p:txBody>
      </p:sp>
      <p:sp>
        <p:nvSpPr>
          <p:cNvPr id="3" name="Text 1"/>
          <p:cNvSpPr txBox="1"/>
          <p:nvPr/>
        </p:nvSpPr>
        <p:spPr>
          <a:xfrm>
            <a:off x="6583680" y="548640"/>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4" name="Shape 2"/>
          <p:cNvSpPr/>
          <p:nvPr/>
        </p:nvSpPr>
        <p:spPr>
          <a:xfrm>
            <a:off x="7150608" y="585216"/>
            <a:ext cx="118872" cy="118872"/>
          </a:xfrm>
          <a:prstGeom prst="ellipse">
            <a:avLst/>
          </a:prstGeom>
          <a:solidFill>
            <a:srgbClr val="A4302A"/>
          </a:solidFill>
          <a:ln w="6350">
            <a:solidFill>
              <a:srgbClr val="A4302A"/>
            </a:solidFill>
            <a:prstDash val="solid"/>
          </a:ln>
        </p:spPr>
      </p:sp>
      <p:sp>
        <p:nvSpPr>
          <p:cNvPr id="5" name="Shape 3"/>
          <p:cNvSpPr/>
          <p:nvPr/>
        </p:nvSpPr>
        <p:spPr>
          <a:xfrm>
            <a:off x="7333488" y="585216"/>
            <a:ext cx="118872" cy="118872"/>
          </a:xfrm>
          <a:prstGeom prst="ellipse">
            <a:avLst/>
          </a:prstGeom>
          <a:solidFill>
            <a:srgbClr val="A4302A"/>
          </a:solidFill>
          <a:ln w="6350">
            <a:solidFill>
              <a:srgbClr val="A4302A"/>
            </a:solidFill>
            <a:prstDash val="solid"/>
          </a:ln>
        </p:spPr>
      </p:sp>
      <p:sp>
        <p:nvSpPr>
          <p:cNvPr id="6" name="Shape 4"/>
          <p:cNvSpPr/>
          <p:nvPr/>
        </p:nvSpPr>
        <p:spPr>
          <a:xfrm>
            <a:off x="7516368" y="585216"/>
            <a:ext cx="118872" cy="118872"/>
          </a:xfrm>
          <a:prstGeom prst="ellipse">
            <a:avLst/>
          </a:prstGeom>
          <a:solidFill>
            <a:srgbClr val="A4302A"/>
          </a:solidFill>
          <a:ln w="6350">
            <a:solidFill>
              <a:srgbClr val="A4302A"/>
            </a:solidFill>
            <a:prstDash val="solid"/>
          </a:ln>
        </p:spPr>
      </p:sp>
      <p:sp>
        <p:nvSpPr>
          <p:cNvPr id="7" name="Text 5"/>
          <p:cNvSpPr txBox="1"/>
          <p:nvPr/>
        </p:nvSpPr>
        <p:spPr>
          <a:xfrm>
            <a:off x="6583680" y="777240"/>
            <a:ext cx="2194560" cy="365760"/>
          </a:xfrm>
          <a:prstGeom prst="rect">
            <a:avLst/>
          </a:prstGeom>
          <a:noFill/>
          <a:ln/>
        </p:spPr>
        <p:txBody>
          <a:bodyPr wrap="square" lIns="0" tIns="0" rIns="0" bIns="0" rtlCol="0" anchor="t"/>
          <a:lstStyle/>
          <a:p>
            <a:pPr indent="0" marL="0">
              <a:buNone/>
            </a:pPr>
            <a:r>
              <a:rPr lang="en-US" sz="900" dirty="0">
                <a:solidFill>
                  <a:srgbClr val="5B6573"/>
                </a:solidFill>
                <a:latin typeface="Calibri" pitchFamily="34" charset="0"/>
                <a:ea typeface="Calibri" pitchFamily="34" charset="-122"/>
                <a:cs typeface="Calibri" pitchFamily="34" charset="-120"/>
              </a:rPr>
              <a:t>= question qui peut faire basculer la note</a:t>
            </a:r>
            <a:endParaRPr lang="en-US" sz="900" dirty="0"/>
          </a:p>
        </p:txBody>
      </p:sp>
      <p:sp>
        <p:nvSpPr>
          <p:cNvPr id="8" name="Shape 6"/>
          <p:cNvSpPr/>
          <p:nvPr/>
        </p:nvSpPr>
        <p:spPr>
          <a:xfrm>
            <a:off x="457200" y="1234440"/>
            <a:ext cx="2606040" cy="777240"/>
          </a:xfrm>
          <a:prstGeom prst="roundRect">
            <a:avLst>
              <a:gd name="adj" fmla="val 9412"/>
            </a:avLst>
          </a:prstGeom>
          <a:solidFill>
            <a:srgbClr val="F1F3F5"/>
          </a:solidFill>
          <a:ln w="12700">
            <a:solidFill>
              <a:srgbClr val="F1F3F5"/>
            </a:solidFill>
            <a:prstDash val="solid"/>
          </a:ln>
        </p:spPr>
      </p:sp>
      <p:sp>
        <p:nvSpPr>
          <p:cNvPr id="9" name="Text 7"/>
          <p:cNvSpPr txBox="1"/>
          <p:nvPr/>
        </p:nvSpPr>
        <p:spPr>
          <a:xfrm>
            <a:off x="594360" y="13441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01</a:t>
            </a:r>
            <a:endParaRPr lang="en-US" sz="2200" dirty="0"/>
          </a:p>
        </p:txBody>
      </p:sp>
      <p:sp>
        <p:nvSpPr>
          <p:cNvPr id="10" name="Text 8"/>
          <p:cNvSpPr txBox="1"/>
          <p:nvPr/>
        </p:nvSpPr>
        <p:spPr>
          <a:xfrm>
            <a:off x="1097280" y="13258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Problématique &amp; positionnement</a:t>
            </a:r>
            <a:endParaRPr lang="en-US" sz="1200" dirty="0"/>
          </a:p>
        </p:txBody>
      </p:sp>
      <p:sp>
        <p:nvSpPr>
          <p:cNvPr id="11" name="Text 9"/>
          <p:cNvSpPr txBox="1"/>
          <p:nvPr/>
        </p:nvSpPr>
        <p:spPr>
          <a:xfrm>
            <a:off x="1097280" y="16916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Q1–Q4 · 2 critiques</a:t>
            </a:r>
            <a:endParaRPr lang="en-US" sz="1000" dirty="0"/>
          </a:p>
        </p:txBody>
      </p:sp>
      <p:sp>
        <p:nvSpPr>
          <p:cNvPr id="12" name="Shape 10"/>
          <p:cNvSpPr/>
          <p:nvPr/>
        </p:nvSpPr>
        <p:spPr>
          <a:xfrm>
            <a:off x="3246120" y="1234440"/>
            <a:ext cx="2606040" cy="777240"/>
          </a:xfrm>
          <a:prstGeom prst="roundRect">
            <a:avLst>
              <a:gd name="adj" fmla="val 9412"/>
            </a:avLst>
          </a:prstGeom>
          <a:solidFill>
            <a:srgbClr val="F1F3F5"/>
          </a:solidFill>
          <a:ln w="12700">
            <a:solidFill>
              <a:srgbClr val="F1F3F5"/>
            </a:solidFill>
            <a:prstDash val="solid"/>
          </a:ln>
        </p:spPr>
      </p:sp>
      <p:sp>
        <p:nvSpPr>
          <p:cNvPr id="13" name="Text 11"/>
          <p:cNvSpPr txBox="1"/>
          <p:nvPr/>
        </p:nvSpPr>
        <p:spPr>
          <a:xfrm>
            <a:off x="3383280" y="13441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02</a:t>
            </a:r>
            <a:endParaRPr lang="en-US" sz="2200" dirty="0"/>
          </a:p>
        </p:txBody>
      </p:sp>
      <p:sp>
        <p:nvSpPr>
          <p:cNvPr id="14" name="Text 12"/>
          <p:cNvSpPr txBox="1"/>
          <p:nvPr/>
        </p:nvSpPr>
        <p:spPr>
          <a:xfrm>
            <a:off x="3886200" y="13258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Normes &amp; valeur juridique</a:t>
            </a:r>
            <a:endParaRPr lang="en-US" sz="1200" dirty="0"/>
          </a:p>
        </p:txBody>
      </p:sp>
      <p:sp>
        <p:nvSpPr>
          <p:cNvPr id="15" name="Text 13"/>
          <p:cNvSpPr txBox="1"/>
          <p:nvPr/>
        </p:nvSpPr>
        <p:spPr>
          <a:xfrm>
            <a:off x="3886200" y="16916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Q5–Q9 · 2 critiques</a:t>
            </a:r>
            <a:endParaRPr lang="en-US" sz="1000" dirty="0"/>
          </a:p>
        </p:txBody>
      </p:sp>
      <p:sp>
        <p:nvSpPr>
          <p:cNvPr id="16" name="Shape 14"/>
          <p:cNvSpPr/>
          <p:nvPr/>
        </p:nvSpPr>
        <p:spPr>
          <a:xfrm>
            <a:off x="6035040" y="1234440"/>
            <a:ext cx="2606040" cy="777240"/>
          </a:xfrm>
          <a:prstGeom prst="roundRect">
            <a:avLst>
              <a:gd name="adj" fmla="val 9412"/>
            </a:avLst>
          </a:prstGeom>
          <a:solidFill>
            <a:srgbClr val="F1F3F5"/>
          </a:solidFill>
          <a:ln w="12700">
            <a:solidFill>
              <a:srgbClr val="F1F3F5"/>
            </a:solidFill>
            <a:prstDash val="solid"/>
          </a:ln>
        </p:spPr>
      </p:sp>
      <p:sp>
        <p:nvSpPr>
          <p:cNvPr id="17" name="Text 15"/>
          <p:cNvSpPr txBox="1"/>
          <p:nvPr/>
        </p:nvSpPr>
        <p:spPr>
          <a:xfrm>
            <a:off x="6172200" y="13441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03</a:t>
            </a:r>
            <a:endParaRPr lang="en-US" sz="2200" dirty="0"/>
          </a:p>
        </p:txBody>
      </p:sp>
      <p:sp>
        <p:nvSpPr>
          <p:cNvPr id="18" name="Text 16"/>
          <p:cNvSpPr txBox="1"/>
          <p:nvPr/>
        </p:nvSpPr>
        <p:spPr>
          <a:xfrm>
            <a:off x="6675120" y="13258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Architecture &amp; choix techniques</a:t>
            </a:r>
            <a:endParaRPr lang="en-US" sz="1200" dirty="0"/>
          </a:p>
        </p:txBody>
      </p:sp>
      <p:sp>
        <p:nvSpPr>
          <p:cNvPr id="19" name="Text 17"/>
          <p:cNvSpPr txBox="1"/>
          <p:nvPr/>
        </p:nvSpPr>
        <p:spPr>
          <a:xfrm>
            <a:off x="6675120" y="16916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Q10–Q15 · 3 critiques</a:t>
            </a:r>
            <a:endParaRPr lang="en-US" sz="1000" dirty="0"/>
          </a:p>
        </p:txBody>
      </p:sp>
      <p:sp>
        <p:nvSpPr>
          <p:cNvPr id="20" name="Shape 18"/>
          <p:cNvSpPr/>
          <p:nvPr/>
        </p:nvSpPr>
        <p:spPr>
          <a:xfrm>
            <a:off x="457200" y="2148840"/>
            <a:ext cx="2606040" cy="777240"/>
          </a:xfrm>
          <a:prstGeom prst="roundRect">
            <a:avLst>
              <a:gd name="adj" fmla="val 9412"/>
            </a:avLst>
          </a:prstGeom>
          <a:solidFill>
            <a:srgbClr val="F1F3F5"/>
          </a:solidFill>
          <a:ln w="12700">
            <a:solidFill>
              <a:srgbClr val="F1F3F5"/>
            </a:solidFill>
            <a:prstDash val="solid"/>
          </a:ln>
        </p:spPr>
      </p:sp>
      <p:sp>
        <p:nvSpPr>
          <p:cNvPr id="21" name="Text 19"/>
          <p:cNvSpPr txBox="1"/>
          <p:nvPr/>
        </p:nvSpPr>
        <p:spPr>
          <a:xfrm>
            <a:off x="594360" y="22585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04</a:t>
            </a:r>
            <a:endParaRPr lang="en-US" sz="2200" dirty="0"/>
          </a:p>
        </p:txBody>
      </p:sp>
      <p:sp>
        <p:nvSpPr>
          <p:cNvPr id="22" name="Text 20"/>
          <p:cNvSpPr txBox="1"/>
          <p:nvPr/>
        </p:nvSpPr>
        <p:spPr>
          <a:xfrm>
            <a:off x="1097280" y="22402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Sécurité &amp; cryptographie</a:t>
            </a:r>
            <a:endParaRPr lang="en-US" sz="1200" dirty="0"/>
          </a:p>
        </p:txBody>
      </p:sp>
      <p:sp>
        <p:nvSpPr>
          <p:cNvPr id="23" name="Text 21"/>
          <p:cNvSpPr txBox="1"/>
          <p:nvPr/>
        </p:nvSpPr>
        <p:spPr>
          <a:xfrm>
            <a:off x="1097280" y="26060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Q16–Q23 · 5 critiques</a:t>
            </a:r>
            <a:endParaRPr lang="en-US" sz="1000" dirty="0"/>
          </a:p>
        </p:txBody>
      </p:sp>
      <p:sp>
        <p:nvSpPr>
          <p:cNvPr id="24" name="Shape 22"/>
          <p:cNvSpPr/>
          <p:nvPr/>
        </p:nvSpPr>
        <p:spPr>
          <a:xfrm>
            <a:off x="3246120" y="2148840"/>
            <a:ext cx="2606040" cy="777240"/>
          </a:xfrm>
          <a:prstGeom prst="roundRect">
            <a:avLst>
              <a:gd name="adj" fmla="val 9412"/>
            </a:avLst>
          </a:prstGeom>
          <a:solidFill>
            <a:srgbClr val="F1F3F5"/>
          </a:solidFill>
          <a:ln w="12700">
            <a:solidFill>
              <a:srgbClr val="F1F3F5"/>
            </a:solidFill>
            <a:prstDash val="solid"/>
          </a:ln>
        </p:spPr>
      </p:sp>
      <p:sp>
        <p:nvSpPr>
          <p:cNvPr id="25" name="Text 23"/>
          <p:cNvSpPr txBox="1"/>
          <p:nvPr/>
        </p:nvSpPr>
        <p:spPr>
          <a:xfrm>
            <a:off x="3383280" y="22585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05</a:t>
            </a:r>
            <a:endParaRPr lang="en-US" sz="2200" dirty="0"/>
          </a:p>
        </p:txBody>
      </p:sp>
      <p:sp>
        <p:nvSpPr>
          <p:cNvPr id="26" name="Text 24"/>
          <p:cNvSpPr txBox="1"/>
          <p:nvPr/>
        </p:nvSpPr>
        <p:spPr>
          <a:xfrm>
            <a:off x="3886200" y="22402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Intégrité, horodatage &amp; preuve</a:t>
            </a:r>
            <a:endParaRPr lang="en-US" sz="1200" dirty="0"/>
          </a:p>
        </p:txBody>
      </p:sp>
      <p:sp>
        <p:nvSpPr>
          <p:cNvPr id="27" name="Text 25"/>
          <p:cNvSpPr txBox="1"/>
          <p:nvPr/>
        </p:nvSpPr>
        <p:spPr>
          <a:xfrm>
            <a:off x="3886200" y="26060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Q24–Q27 · 2 critiques</a:t>
            </a:r>
            <a:endParaRPr lang="en-US" sz="1000" dirty="0"/>
          </a:p>
        </p:txBody>
      </p:sp>
      <p:sp>
        <p:nvSpPr>
          <p:cNvPr id="28" name="Shape 26"/>
          <p:cNvSpPr/>
          <p:nvPr/>
        </p:nvSpPr>
        <p:spPr>
          <a:xfrm>
            <a:off x="6035040" y="2148840"/>
            <a:ext cx="2606040" cy="777240"/>
          </a:xfrm>
          <a:prstGeom prst="roundRect">
            <a:avLst>
              <a:gd name="adj" fmla="val 9412"/>
            </a:avLst>
          </a:prstGeom>
          <a:solidFill>
            <a:srgbClr val="F1F3F5"/>
          </a:solidFill>
          <a:ln w="12700">
            <a:solidFill>
              <a:srgbClr val="F1F3F5"/>
            </a:solidFill>
            <a:prstDash val="solid"/>
          </a:ln>
        </p:spPr>
      </p:sp>
      <p:sp>
        <p:nvSpPr>
          <p:cNvPr id="29" name="Text 27"/>
          <p:cNvSpPr txBox="1"/>
          <p:nvPr/>
        </p:nvSpPr>
        <p:spPr>
          <a:xfrm>
            <a:off x="6172200" y="22585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06</a:t>
            </a:r>
            <a:endParaRPr lang="en-US" sz="2200" dirty="0"/>
          </a:p>
        </p:txBody>
      </p:sp>
      <p:sp>
        <p:nvSpPr>
          <p:cNvPr id="30" name="Text 28"/>
          <p:cNvSpPr txBox="1"/>
          <p:nvPr/>
        </p:nvSpPr>
        <p:spPr>
          <a:xfrm>
            <a:off x="6675120" y="22402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Blockchain</a:t>
            </a:r>
            <a:endParaRPr lang="en-US" sz="1200" dirty="0"/>
          </a:p>
        </p:txBody>
      </p:sp>
      <p:sp>
        <p:nvSpPr>
          <p:cNvPr id="31" name="Text 29"/>
          <p:cNvSpPr txBox="1"/>
          <p:nvPr/>
        </p:nvSpPr>
        <p:spPr>
          <a:xfrm>
            <a:off x="6675120" y="26060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Q28–Q29 · 1 critique</a:t>
            </a:r>
            <a:endParaRPr lang="en-US" sz="1000" dirty="0"/>
          </a:p>
        </p:txBody>
      </p:sp>
      <p:sp>
        <p:nvSpPr>
          <p:cNvPr id="32" name="Shape 30"/>
          <p:cNvSpPr/>
          <p:nvPr/>
        </p:nvSpPr>
        <p:spPr>
          <a:xfrm>
            <a:off x="457200" y="3063240"/>
            <a:ext cx="2606040" cy="777240"/>
          </a:xfrm>
          <a:prstGeom prst="roundRect">
            <a:avLst>
              <a:gd name="adj" fmla="val 9412"/>
            </a:avLst>
          </a:prstGeom>
          <a:solidFill>
            <a:srgbClr val="F1F3F5"/>
          </a:solidFill>
          <a:ln w="12700">
            <a:solidFill>
              <a:srgbClr val="F1F3F5"/>
            </a:solidFill>
            <a:prstDash val="solid"/>
          </a:ln>
        </p:spPr>
      </p:sp>
      <p:sp>
        <p:nvSpPr>
          <p:cNvPr id="33" name="Text 31"/>
          <p:cNvSpPr txBox="1"/>
          <p:nvPr/>
        </p:nvSpPr>
        <p:spPr>
          <a:xfrm>
            <a:off x="594360" y="31729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07</a:t>
            </a:r>
            <a:endParaRPr lang="en-US" sz="2200" dirty="0"/>
          </a:p>
        </p:txBody>
      </p:sp>
      <p:sp>
        <p:nvSpPr>
          <p:cNvPr id="34" name="Text 32"/>
          <p:cNvSpPr txBox="1"/>
          <p:nvPr/>
        </p:nvSpPr>
        <p:spPr>
          <a:xfrm>
            <a:off x="1097280" y="31546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IA &amp; OCR</a:t>
            </a:r>
            <a:endParaRPr lang="en-US" sz="1200" dirty="0"/>
          </a:p>
        </p:txBody>
      </p:sp>
      <p:sp>
        <p:nvSpPr>
          <p:cNvPr id="35" name="Text 33"/>
          <p:cNvSpPr txBox="1"/>
          <p:nvPr/>
        </p:nvSpPr>
        <p:spPr>
          <a:xfrm>
            <a:off x="1097280" y="35204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Q30–Q34 · 1 critique</a:t>
            </a:r>
            <a:endParaRPr lang="en-US" sz="1000" dirty="0"/>
          </a:p>
        </p:txBody>
      </p:sp>
      <p:sp>
        <p:nvSpPr>
          <p:cNvPr id="36" name="Shape 34"/>
          <p:cNvSpPr/>
          <p:nvPr/>
        </p:nvSpPr>
        <p:spPr>
          <a:xfrm>
            <a:off x="3246120" y="3063240"/>
            <a:ext cx="2606040" cy="777240"/>
          </a:xfrm>
          <a:prstGeom prst="roundRect">
            <a:avLst>
              <a:gd name="adj" fmla="val 9412"/>
            </a:avLst>
          </a:prstGeom>
          <a:solidFill>
            <a:srgbClr val="F1F3F5"/>
          </a:solidFill>
          <a:ln w="12700">
            <a:solidFill>
              <a:srgbClr val="F1F3F5"/>
            </a:solidFill>
            <a:prstDash val="solid"/>
          </a:ln>
        </p:spPr>
      </p:sp>
      <p:sp>
        <p:nvSpPr>
          <p:cNvPr id="37" name="Text 35"/>
          <p:cNvSpPr txBox="1"/>
          <p:nvPr/>
        </p:nvSpPr>
        <p:spPr>
          <a:xfrm>
            <a:off x="3383280" y="31729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08</a:t>
            </a:r>
            <a:endParaRPr lang="en-US" sz="2200" dirty="0"/>
          </a:p>
        </p:txBody>
      </p:sp>
      <p:sp>
        <p:nvSpPr>
          <p:cNvPr id="38" name="Text 36"/>
          <p:cNvSpPr txBox="1"/>
          <p:nvPr/>
        </p:nvSpPr>
        <p:spPr>
          <a:xfrm>
            <a:off x="3886200" y="31546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Qualité logicielle &amp; méthode</a:t>
            </a:r>
            <a:endParaRPr lang="en-US" sz="1200" dirty="0"/>
          </a:p>
        </p:txBody>
      </p:sp>
      <p:sp>
        <p:nvSpPr>
          <p:cNvPr id="39" name="Text 37"/>
          <p:cNvSpPr txBox="1"/>
          <p:nvPr/>
        </p:nvSpPr>
        <p:spPr>
          <a:xfrm>
            <a:off x="3886200" y="35204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Q35–Q38 · 2 critiques</a:t>
            </a:r>
            <a:endParaRPr lang="en-US" sz="1000" dirty="0"/>
          </a:p>
        </p:txBody>
      </p:sp>
      <p:sp>
        <p:nvSpPr>
          <p:cNvPr id="40" name="Shape 38"/>
          <p:cNvSpPr/>
          <p:nvPr/>
        </p:nvSpPr>
        <p:spPr>
          <a:xfrm>
            <a:off x="6035040" y="3063240"/>
            <a:ext cx="2606040" cy="777240"/>
          </a:xfrm>
          <a:prstGeom prst="roundRect">
            <a:avLst>
              <a:gd name="adj" fmla="val 9412"/>
            </a:avLst>
          </a:prstGeom>
          <a:solidFill>
            <a:srgbClr val="F1F3F5"/>
          </a:solidFill>
          <a:ln w="12700">
            <a:solidFill>
              <a:srgbClr val="F1F3F5"/>
            </a:solidFill>
            <a:prstDash val="solid"/>
          </a:ln>
        </p:spPr>
      </p:sp>
      <p:sp>
        <p:nvSpPr>
          <p:cNvPr id="41" name="Text 39"/>
          <p:cNvSpPr txBox="1"/>
          <p:nvPr/>
        </p:nvSpPr>
        <p:spPr>
          <a:xfrm>
            <a:off x="6172200" y="31729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09</a:t>
            </a:r>
            <a:endParaRPr lang="en-US" sz="2200" dirty="0"/>
          </a:p>
        </p:txBody>
      </p:sp>
      <p:sp>
        <p:nvSpPr>
          <p:cNvPr id="42" name="Text 40"/>
          <p:cNvSpPr txBox="1"/>
          <p:nvPr/>
        </p:nvSpPr>
        <p:spPr>
          <a:xfrm>
            <a:off x="6675120" y="31546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Performance &amp; exploitation</a:t>
            </a:r>
            <a:endParaRPr lang="en-US" sz="1200" dirty="0"/>
          </a:p>
        </p:txBody>
      </p:sp>
      <p:sp>
        <p:nvSpPr>
          <p:cNvPr id="43" name="Text 41"/>
          <p:cNvSpPr txBox="1"/>
          <p:nvPr/>
        </p:nvSpPr>
        <p:spPr>
          <a:xfrm>
            <a:off x="6675120" y="35204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Q39–Q41 · 1 critique</a:t>
            </a:r>
            <a:endParaRPr lang="en-US" sz="1000" dirty="0"/>
          </a:p>
        </p:txBody>
      </p:sp>
      <p:sp>
        <p:nvSpPr>
          <p:cNvPr id="44" name="Shape 42"/>
          <p:cNvSpPr/>
          <p:nvPr/>
        </p:nvSpPr>
        <p:spPr>
          <a:xfrm>
            <a:off x="457200" y="3977640"/>
            <a:ext cx="2606040" cy="777240"/>
          </a:xfrm>
          <a:prstGeom prst="roundRect">
            <a:avLst>
              <a:gd name="adj" fmla="val 9412"/>
            </a:avLst>
          </a:prstGeom>
          <a:solidFill>
            <a:srgbClr val="F1F3F5"/>
          </a:solidFill>
          <a:ln w="12700">
            <a:solidFill>
              <a:srgbClr val="F1F3F5"/>
            </a:solidFill>
            <a:prstDash val="solid"/>
          </a:ln>
        </p:spPr>
      </p:sp>
      <p:sp>
        <p:nvSpPr>
          <p:cNvPr id="45" name="Text 43"/>
          <p:cNvSpPr txBox="1"/>
          <p:nvPr/>
        </p:nvSpPr>
        <p:spPr>
          <a:xfrm>
            <a:off x="594360" y="40873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10</a:t>
            </a:r>
            <a:endParaRPr lang="en-US" sz="2200" dirty="0"/>
          </a:p>
        </p:txBody>
      </p:sp>
      <p:sp>
        <p:nvSpPr>
          <p:cNvPr id="46" name="Text 44"/>
          <p:cNvSpPr txBox="1"/>
          <p:nvPr/>
        </p:nvSpPr>
        <p:spPr>
          <a:xfrm>
            <a:off x="1097280" y="40690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Modèle économique</a:t>
            </a:r>
            <a:endParaRPr lang="en-US" sz="1200" dirty="0"/>
          </a:p>
        </p:txBody>
      </p:sp>
      <p:sp>
        <p:nvSpPr>
          <p:cNvPr id="47" name="Text 45"/>
          <p:cNvSpPr txBox="1"/>
          <p:nvPr/>
        </p:nvSpPr>
        <p:spPr>
          <a:xfrm>
            <a:off x="1097280" y="44348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Q42–Q43 · 1 critique</a:t>
            </a:r>
            <a:endParaRPr lang="en-US" sz="1000" dirty="0"/>
          </a:p>
        </p:txBody>
      </p:sp>
      <p:sp>
        <p:nvSpPr>
          <p:cNvPr id="48" name="Shape 46"/>
          <p:cNvSpPr/>
          <p:nvPr/>
        </p:nvSpPr>
        <p:spPr>
          <a:xfrm>
            <a:off x="3246120" y="3977640"/>
            <a:ext cx="2606040" cy="777240"/>
          </a:xfrm>
          <a:prstGeom prst="roundRect">
            <a:avLst>
              <a:gd name="adj" fmla="val 9412"/>
            </a:avLst>
          </a:prstGeom>
          <a:solidFill>
            <a:srgbClr val="F1F3F5"/>
          </a:solidFill>
          <a:ln w="12700">
            <a:solidFill>
              <a:srgbClr val="F1F3F5"/>
            </a:solidFill>
            <a:prstDash val="solid"/>
          </a:ln>
        </p:spPr>
      </p:sp>
      <p:sp>
        <p:nvSpPr>
          <p:cNvPr id="49" name="Text 47"/>
          <p:cNvSpPr txBox="1"/>
          <p:nvPr/>
        </p:nvSpPr>
        <p:spPr>
          <a:xfrm>
            <a:off x="3383280" y="4087368"/>
            <a:ext cx="457200" cy="548640"/>
          </a:xfrm>
          <a:prstGeom prst="rect">
            <a:avLst/>
          </a:prstGeom>
          <a:noFill/>
          <a:ln/>
        </p:spPr>
        <p:txBody>
          <a:bodyPr wrap="square" lIns="0" tIns="0" rIns="0" bIns="0" rtlCol="0" anchor="ctr"/>
          <a:lstStyle/>
          <a:p>
            <a:pPr indent="0" marL="0">
              <a:buNone/>
            </a:pPr>
            <a:r>
              <a:rPr lang="en-US" sz="2200" b="1" dirty="0">
                <a:solidFill>
                  <a:srgbClr val="A4302A"/>
                </a:solidFill>
                <a:latin typeface="Cambria" pitchFamily="34" charset="0"/>
                <a:ea typeface="Cambria" pitchFamily="34" charset="-122"/>
                <a:cs typeface="Cambria" pitchFamily="34" charset="-120"/>
              </a:rPr>
              <a:t>11</a:t>
            </a:r>
            <a:endParaRPr lang="en-US" sz="2200" dirty="0"/>
          </a:p>
        </p:txBody>
      </p:sp>
      <p:sp>
        <p:nvSpPr>
          <p:cNvPr id="50" name="Text 48"/>
          <p:cNvSpPr txBox="1"/>
          <p:nvPr/>
        </p:nvSpPr>
        <p:spPr>
          <a:xfrm>
            <a:off x="3886200" y="4069080"/>
            <a:ext cx="1874520" cy="36576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Questions déstabilisantes</a:t>
            </a:r>
            <a:endParaRPr lang="en-US" sz="1200" dirty="0"/>
          </a:p>
        </p:txBody>
      </p:sp>
      <p:sp>
        <p:nvSpPr>
          <p:cNvPr id="51" name="Text 49"/>
          <p:cNvSpPr txBox="1"/>
          <p:nvPr/>
        </p:nvSpPr>
        <p:spPr>
          <a:xfrm>
            <a:off x="3886200" y="4434840"/>
            <a:ext cx="1874520" cy="228600"/>
          </a:xfrm>
          <a:prstGeom prst="rect">
            <a:avLst/>
          </a:prstGeom>
          <a:noFill/>
          <a:ln/>
        </p:spPr>
        <p:txBody>
          <a:bodyPr wrap="square" lIns="0" tIns="0" rIns="0" bIns="0" rtlCol="0" anchor="t"/>
          <a:lstStyle/>
          <a:p>
            <a:pPr indent="0" marL="0">
              <a:buNone/>
            </a:pPr>
            <a:r>
              <a:rPr lang="en-US" sz="1000" dirty="0">
                <a:solidFill>
                  <a:srgbClr val="5B6573"/>
                </a:solidFill>
                <a:latin typeface="Calibri" pitchFamily="34" charset="0"/>
                <a:ea typeface="Calibri" pitchFamily="34" charset="-122"/>
                <a:cs typeface="Calibri" pitchFamily="34" charset="-120"/>
              </a:rPr>
              <a:t>Q44–Q48 · 3 critiques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01 · PROBLÉMATIQUE &amp; POSITIONNEMENT</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Pourquoi un nouveau SAE alors qu'Alfresco, Nuxeo, Maarch, DocuWare ou M-Files existent déjà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Votre connaissance de l'état de l'art et la réalité de votre valeur ajoutée.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Les GED génériques</a:t>
            </a:r>
            <a:pPr indent="0" marL="0">
              <a:buNone/>
            </a:pPr>
            <a:r>
              <a:rPr lang="en-US" sz="1300" dirty="0">
                <a:solidFill>
                  <a:srgbClr val="1B2430"/>
                </a:solidFill>
                <a:latin typeface="Calibri" pitchFamily="34" charset="0"/>
                <a:ea typeface="Calibri" pitchFamily="34" charset="-122"/>
                <a:cs typeface="Calibri" pitchFamily="34" charset="-120"/>
              </a:rPr>
              <a:t> (Alfresco, Nuxeo) gèrent des documents mais la valeur probante demande des modules et une intégration coûteuse.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Les solutions commerciales</a:t>
            </a:r>
            <a:pPr indent="0" marL="0">
              <a:buNone/>
            </a:pPr>
            <a:r>
              <a:rPr lang="en-US" sz="1300" dirty="0">
                <a:solidFill>
                  <a:srgbClr val="1B2430"/>
                </a:solidFill>
                <a:latin typeface="Calibri" pitchFamily="34" charset="0"/>
                <a:ea typeface="Calibri" pitchFamily="34" charset="-122"/>
                <a:cs typeface="Calibri" pitchFamily="34" charset="-120"/>
              </a:rPr>
              <a:t> (DocuWare, M-Files) ont un coût de licence élevé pour une PME ou une administration locale.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MadeArchive intègre nativement la chaîne de preuve</a:t>
            </a:r>
            <a:pPr indent="0" marL="0">
              <a:buNone/>
            </a:pPr>
            <a:r>
              <a:rPr lang="en-US" sz="1300" dirty="0">
                <a:solidFill>
                  <a:srgbClr val="1B2430"/>
                </a:solidFill>
                <a:latin typeface="Calibri" pitchFamily="34" charset="0"/>
                <a:ea typeface="Calibri" pitchFamily="34" charset="-122"/>
                <a:cs typeface="Calibri" pitchFamily="34" charset="-120"/>
              </a:rPr>
              <a:t> : PDF/A, empreinte SHA-256, signature, horodatage RFC 3161, contrôle de fixité quotidien, destruction tracée.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Différenciateur</a:t>
            </a:r>
            <a:pPr indent="0" marL="0">
              <a:buNone/>
            </a:pPr>
            <a:r>
              <a:rPr lang="en-US" sz="1300" dirty="0">
                <a:solidFill>
                  <a:srgbClr val="1B2430"/>
                </a:solidFill>
                <a:latin typeface="Calibri" pitchFamily="34" charset="0"/>
                <a:ea typeface="Calibri" pitchFamily="34" charset="-122"/>
                <a:cs typeface="Calibri" pitchFamily="34" charset="-120"/>
              </a:rPr>
              <a:t> : extraction de métadonnées par IA locale, sans envoyer de données à un tiers, et déploiement en une commande Docker.</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Ne dites JAMAIS « rien de tel n'existe ». Relance fréquente : « Avez-vous comparé avec un tableau de critères ? » Préparez un tableau comparatif (prix, preuve, IA, souveraineté).</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01 · PROBLÉMATIQUE &amp; POSITIONNEMENT</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Quelle est VOTRE contribution personnelle ? Vous avez surtout assemblé des briques open source.</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Distinguer l'intégrateur de l'ingénieur. C'est la question qui fait le plus de dégâts.</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Assumez l'assemblage</a:t>
            </a:r>
            <a:pPr indent="0" marL="0">
              <a:buNone/>
            </a:pPr>
            <a:r>
              <a:rPr lang="en-US" sz="1300" dirty="0">
                <a:solidFill>
                  <a:srgbClr val="1B2430"/>
                </a:solidFill>
                <a:latin typeface="Calibri" pitchFamily="34" charset="0"/>
                <a:ea typeface="Calibri" pitchFamily="34" charset="-122"/>
                <a:cs typeface="Calibri" pitchFamily="34" charset="-120"/>
              </a:rPr>
              <a:t> : c'est le métier d'ingénieur, personne ne réécrit Postgres ou Tesseract.</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Contribution 1</a:t>
            </a:r>
            <a:pPr indent="0" marL="0">
              <a:buNone/>
            </a:pPr>
            <a:r>
              <a:rPr lang="en-US" sz="1300" dirty="0">
                <a:solidFill>
                  <a:srgbClr val="1B2430"/>
                </a:solidFill>
                <a:latin typeface="Calibri" pitchFamily="34" charset="0"/>
                <a:ea typeface="Calibri" pitchFamily="34" charset="-122"/>
                <a:cs typeface="Calibri" pitchFamily="34" charset="-120"/>
              </a:rPr>
              <a:t> : un pipeline où le LLM génère des règles d'extraction (regex) une fois par type de document, puis ces règles s'exécutent en millisecondes. C'est une IA « frugale » et auditable.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Contribution 2</a:t>
            </a:r>
            <a:pPr indent="0" marL="0">
              <a:buNone/>
            </a:pPr>
            <a:r>
              <a:rPr lang="en-US" sz="1300" dirty="0">
                <a:solidFill>
                  <a:srgbClr val="1B2430"/>
                </a:solidFill>
                <a:latin typeface="Calibri" pitchFamily="34" charset="0"/>
                <a:ea typeface="Calibri" pitchFamily="34" charset="-122"/>
                <a:cs typeface="Calibri" pitchFamily="34" charset="-120"/>
              </a:rPr>
              <a:t> : une chaîne de preuve cohérente de bout en bout (conversion, empreinte, signature par éditeur, jeton RFC 3161, chiffrement GCM, contrôle de fixité, suppression tracée).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Contribution 3</a:t>
            </a:r>
            <a:pPr indent="0" marL="0">
              <a:buNone/>
            </a:pPr>
            <a:r>
              <a:rPr lang="en-US" sz="1300" dirty="0">
                <a:solidFill>
                  <a:srgbClr val="1B2430"/>
                </a:solidFill>
                <a:latin typeface="Calibri" pitchFamily="34" charset="0"/>
                <a:ea typeface="Calibri" pitchFamily="34" charset="-122"/>
                <a:cs typeface="Calibri" pitchFamily="34" charset="-120"/>
              </a:rPr>
              <a:t> : un modèle de droits par unité organisationnelle et groupes d'accès, avec journal d'audit.</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Montrez-nous une partie du code que vous seul pouviez écrire. » Ayez 2 fichiers prêts (ex. RegexGenerationService, LoginAttemptService).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01 · PROBLÉMATIQUE &amp; POSITIONNEMENT</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Q3</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Formulez votre problématique en une seule phrase.</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 Comment garantir, sur une durée de 10 ans ou plus, qu'un document numérique archivé reste intègre, daté de façon opposable et retrouvable, sans exposer son contenu à des tiers ? »</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Puis, en une phrase : « MadeArchive y répond par une chaîne de preuve cryptographique et une indexation assistée par une IA locale. »</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Réciter la liste des fonctionnalités à la place d'une problématique.</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Q4</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Qui sont vos utilisateurs ? Les avez-vous rencontrés ? Combien d'entretiens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Donnez des chiffres RÉELS : nombre d'entretiens, profils (archiviste, DAF, secrétariat), besoins exprimés.</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Si vous n'en avez pas fait : dites-le, et présentez le plan de validation (pilote avec une PME ou un cabinet).</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Inventer des entretiens : le jury demandera un nom, une date ou un compte rendu.</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02 · NORMES &amp; VALEUR JURIDIQUE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Q5</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Votre système est-il conforme à la NF Z42-013 / ISO 14641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Si vous confondez « conforme », « certifié » et « inspiré de ».</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Non certifié.</a:t>
            </a:r>
            <a:pPr indent="0" marL="0">
              <a:buNone/>
            </a:pPr>
            <a:r>
              <a:rPr lang="en-US" sz="1300" dirty="0">
                <a:solidFill>
                  <a:srgbClr val="1B2430"/>
                </a:solidFill>
                <a:latin typeface="Calibri" pitchFamily="34" charset="0"/>
                <a:ea typeface="Calibri" pitchFamily="34" charset="-122"/>
                <a:cs typeface="Calibri" pitchFamily="34" charset="-120"/>
              </a:rPr>
              <a:t> La certification exige un audit par un organisme accrédité et des procédures organisationnelles (politique d'archivage, gestion des habilitations, plan de continuité).</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Le système implémente les exigences techniques clés</a:t>
            </a:r>
            <a:pPr indent="0" marL="0">
              <a:buNone/>
            </a:pPr>
            <a:r>
              <a:rPr lang="en-US" sz="1300" dirty="0">
                <a:solidFill>
                  <a:srgbClr val="1B2430"/>
                </a:solidFill>
                <a:latin typeface="Calibri" pitchFamily="34" charset="0"/>
                <a:ea typeface="Calibri" pitchFamily="34" charset="-122"/>
                <a:cs typeface="Calibri" pitchFamily="34" charset="-120"/>
              </a:rPr>
              <a:t> : intégrité (SHA-256 + signature), horodatage, traçabilité (journal d'audit), cycle de vie (rétention, corbeille, destruction tracée), format pérenne (PDF/A-3b).</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Formulation juste</a:t>
            </a:r>
            <a:pPr indent="0" marL="0">
              <a:buNone/>
            </a:pPr>
            <a:r>
              <a:rPr lang="en-US" sz="1300" dirty="0">
                <a:solidFill>
                  <a:srgbClr val="1B2430"/>
                </a:solidFill>
                <a:latin typeface="Calibri" pitchFamily="34" charset="0"/>
                <a:ea typeface="Calibri" pitchFamily="34" charset="-122"/>
                <a:cs typeface="Calibri" pitchFamily="34" charset="-120"/>
              </a:rPr>
              <a:t> : « conçu pour faciliter une future certification ».</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Dire « conforme ». Relance : « Citez 3 exigences de la norme que vous NE couvrez PAS. » Réponse : politique d'archivage écrite, audit externe, stockage WORM et sauvegardes externalisées testées.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02 · NORMES &amp; VALEUR JURIDIQUE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Q6</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Un document archivé chez vous a-t-il une valeur probante devant un juge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Votre culture juridique : la preuve est appréciée par le juge, pas décrétée par un logiciel.</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La copie numérique fait foi si l'on prouve sa fidélité et son intégrité dans le temps (en France : art. 1379 du Code civil et décret 2016-1673 ; citez l'équivalent de votre droit national ou OHADA).</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MadeArchive fournit les éléments techniques de preuve : empreinte, signature, jeton d'horodatage d'un tiers et journal d'audit.</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Avec une TSA et une signature qualifiées eIDAS, la présomption de fiabilité est renforcée. C'est l'étape suivante.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Promettre une « valeur juridique garantie ». Seul le juge décide.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02 · NORMES &amp; VALEUR JURIDIQUE</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Q7</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Pourquoi le PDF/A ? Et pourquoi la variante 3b plutôt que 1b ou 2b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PDF/A = PDF autonome : polices embarquées, pas de JavaScript ni de ressources externes, profil couleur défini. Il reste lisible dans 30 ans.</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Le code marque en PDF/A-3b (XMP + OutputIntent sRGB). 3b = rendu visuel garanti et pièces jointes autorisées (ex. XML de métadonnées).</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2b serait plus strict (aucune pièce jointe non PDF/A) : un choix défendable pour l'archivage pur.</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 Validez-vous le résultat avec veraPDF ? » Si ce n'est pas le cas, dites-le et faites-le avant la soutenance.</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Q8</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RGPD : comment conciliez-vous droit à l'effacement et obligation de conservation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L'obligation légale de conservation prime (art. 17.3.b RGPD) jusqu'à la fin de la durée de rétention.</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Chiffrement au repos, droits par UO, journal des accès, purge automatique en fin de rétention.</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Après la purge, une « pierre tombale » garde la trace de la destruction avec des métadonnées minimales.</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 Votre pierre tombale contient-elle des données personnelles ? » Sachez exactement quels champs elle conserve.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02 · NORMES &amp; VALEUR JURIDIQUE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Q9</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Connaissez-vous le modèle OAIS (ISO 14721) ? Où sont vos SIP, AIP et DIP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Le vocabulaire de référence de l'archivistique.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3A4658"/>
          </a:solidFill>
          <a:ln w="6350">
            <a:solidFill>
              <a:srgbClr val="3A4658"/>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SIP</a:t>
            </a:r>
            <a:pPr indent="0" marL="0">
              <a:buNone/>
            </a:pPr>
            <a:r>
              <a:rPr lang="en-US" sz="1300" dirty="0">
                <a:solidFill>
                  <a:srgbClr val="1B2430"/>
                </a:solidFill>
                <a:latin typeface="Calibri" pitchFamily="34" charset="0"/>
                <a:ea typeface="Calibri" pitchFamily="34" charset="-122"/>
                <a:cs typeface="Calibri" pitchFamily="34" charset="-120"/>
              </a:rPr>
              <a:t> (paquet versé) : fichier uploadé et métadonnées saisies ou extraites.</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AIP</a:t>
            </a:r>
            <a:pPr indent="0" marL="0">
              <a:buNone/>
            </a:pPr>
            <a:r>
              <a:rPr lang="en-US" sz="1300" dirty="0">
                <a:solidFill>
                  <a:srgbClr val="1B2430"/>
                </a:solidFill>
                <a:latin typeface="Calibri" pitchFamily="34" charset="0"/>
                <a:ea typeface="Calibri" pitchFamily="34" charset="-122"/>
                <a:cs typeface="Calibri" pitchFamily="34" charset="-120"/>
              </a:rPr>
              <a:t> (paquet archivé) : PDF/A chiffré dans MinIO, empreinte, signature, jeton RFC 3161 et métadonnées dans Postgres.</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DIP</a:t>
            </a:r>
            <a:pPr indent="0" marL="0">
              <a:buNone/>
            </a:pPr>
            <a:r>
              <a:rPr lang="en-US" sz="1300" dirty="0">
                <a:solidFill>
                  <a:srgbClr val="1B2430"/>
                </a:solidFill>
                <a:latin typeface="Calibri" pitchFamily="34" charset="0"/>
                <a:ea typeface="Calibri" pitchFamily="34" charset="-122"/>
                <a:cs typeface="Calibri" pitchFamily="34" charset="-120"/>
              </a:rPr>
              <a:t> (paquet diffusé) : consultation, export CSV/Excel + fichiers, attestation.</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Ne pas connaître le sigle OAIS en master archivage/SI : très mauvais signal.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03 · ARCHITECTURE &amp; CHOIX TECHNIQUES</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Q10</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Dix conteneurs pour une PME : n'est-ce pas surdimensionné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Ce n'est PAS une architecture microservices : c'est un seul backend et des services d'infrastructure spécialisés.</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Chaque brique est standard et remplaçable (S3, Postgres). Ollama est optionnel : sans lui, la saisie reste manuelle.</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Tout se déploie avec docker compose, et un chart Helm existe pour Kubernetes.</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Parler de « microservices » : le jury vous fera définir le terme.</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Q11</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Pourquoi MinIO plutôt que le disque ou des BLOB en base de données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API S3 standard : migration vers n'importe quel cloud S3 sans réécriture.</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Des BLOB en base font exploser la taille des sauvegardes et la charge sur Postgres.</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Fonctions d'archivage possibles : versioning et Object Lock (WORM).</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 Avez-vous activé l'Object Lock (WORM) ? » Si ce n'est pas le cas, présentez-le comme une amélioration.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03 · ARCHITECTURE &amp; CHOIX TECHNIQUES</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Q12</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Votre recherche filtre les droits APRÈS la pagination Meilisearch. Un utilisateur peut donc recevoir une page vide ?</a:t>
            </a:r>
            <a:endParaRPr lang="en-US" sz="14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Le jury a lu votre code (DocumentSearchService). C'est un vrai défaut.</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Exact</a:t>
            </a:r>
            <a:pPr indent="0" marL="0">
              <a:buNone/>
            </a:pPr>
            <a:r>
              <a:rPr lang="en-US" sz="1300" dirty="0">
                <a:solidFill>
                  <a:srgbClr val="1B2430"/>
                </a:solidFill>
                <a:latin typeface="Calibri" pitchFamily="34" charset="0"/>
                <a:ea typeface="Calibri" pitchFamily="34" charset="-122"/>
                <a:cs typeface="Calibri" pitchFamily="34" charset="-120"/>
              </a:rPr>
              <a:t> : Meilisearch renvoie une page de N résultats, puis le backend retire ceux qui sont inaccessibles (isAccessible). Une page peut contenir moins de N résultats, voire aucun, et le total affiché est faux.</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Sécurité préservée</a:t>
            </a:r>
            <a:pPr indent="0" marL="0">
              <a:buNone/>
            </a:pPr>
            <a:r>
              <a:rPr lang="en-US" sz="1300" dirty="0">
                <a:solidFill>
                  <a:srgbClr val="1B2430"/>
                </a:solidFill>
                <a:latin typeface="Calibri" pitchFamily="34" charset="0"/>
                <a:ea typeface="Calibri" pitchFamily="34" charset="-122"/>
                <a:cs typeface="Calibri" pitchFamily="34" charset="-120"/>
              </a:rPr>
              <a:t> : aucun document interdit n'est renvoyé, car le front ne parle jamais directement à Meilisearch.</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Correctif</a:t>
            </a:r>
            <a:pPr indent="0" marL="0">
              <a:buNone/>
            </a:pPr>
            <a:r>
              <a:rPr lang="en-US" sz="1300" dirty="0">
                <a:solidFill>
                  <a:srgbClr val="1B2430"/>
                </a:solidFill>
                <a:latin typeface="Calibri" pitchFamily="34" charset="0"/>
                <a:ea typeface="Calibri" pitchFamily="34" charset="-122"/>
                <a:cs typeface="Calibri" pitchFamily="34" charset="-120"/>
              </a:rPr>
              <a:t> : indexer les UO et les groupes autorisés dans chaque document, et filtrer DANS Meilisearch (filter sur uoId / groupeIds). La pagination devient alors exacte.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Le nombre total de résultats révèle-t-il l'existence de documents confidentiels ? » Vérifiez ce que renvoie estimatedTotalHits.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03 · ARCHITECTURE &amp; CHOIX TECHNIQUES</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Q13</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Le serveur de base de données brûle ce soir. Où sont vos sauvegardes ? Quel RPO / RTO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maturité d'exploitation. Un SAE sans sauvegarde testée n'est pas un SAE.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Aujourd'hui</a:t>
            </a:r>
            <a:pPr indent="0" marL="0">
              <a:buNone/>
            </a:pPr>
            <a:r>
              <a:rPr lang="en-US" sz="1300" dirty="0">
                <a:solidFill>
                  <a:srgbClr val="1B2430"/>
                </a:solidFill>
                <a:latin typeface="Calibri" pitchFamily="34" charset="0"/>
                <a:ea typeface="Calibri" pitchFamily="34" charset="-122"/>
                <a:cs typeface="Calibri" pitchFamily="34" charset="-120"/>
              </a:rPr>
              <a:t> : volumes Docker nommés, pas de sauvegarde automatisée dans le dépôt. Dites-le.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Stratégie cible (règle 3-2-1)</a:t>
            </a:r>
            <a:pPr indent="0" marL="0">
              <a:buNone/>
            </a:pPr>
            <a:r>
              <a:rPr lang="en-US" sz="1300" dirty="0">
                <a:solidFill>
                  <a:srgbClr val="1B2430"/>
                </a:solidFill>
                <a:latin typeface="Calibri" pitchFamily="34" charset="0"/>
                <a:ea typeface="Calibri" pitchFamily="34" charset="-122"/>
                <a:cs typeface="Calibri" pitchFamily="34" charset="-120"/>
              </a:rPr>
              <a:t> : pg_dump chiffré chaque nuit, réplication MinIO vers un second site, conservation hors ligne, et test de restauration mensuel.</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Objectifs à annoncer</a:t>
            </a:r>
            <a:pPr indent="0" marL="0">
              <a:buNone/>
            </a:pPr>
            <a:r>
              <a:rPr lang="en-US" sz="1300" dirty="0">
                <a:solidFill>
                  <a:srgbClr val="1B2430"/>
                </a:solidFill>
                <a:latin typeface="Calibri" pitchFamily="34" charset="0"/>
                <a:ea typeface="Calibri" pitchFamily="34" charset="-122"/>
                <a:cs typeface="Calibri" pitchFamily="34" charset="-120"/>
              </a:rPr>
              <a:t> : RPO ≤ 24 h, RTO ≤ 4 h (à ajuster selon le client).</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Point fort</a:t>
            </a:r>
            <a:pPr indent="0" marL="0">
              <a:buNone/>
            </a:pPr>
            <a:r>
              <a:rPr lang="en-US" sz="1300" dirty="0">
                <a:solidFill>
                  <a:srgbClr val="1B2430"/>
                </a:solidFill>
                <a:latin typeface="Calibri" pitchFamily="34" charset="0"/>
                <a:ea typeface="Calibri" pitchFamily="34" charset="-122"/>
                <a:cs typeface="Calibri" pitchFamily="34" charset="-120"/>
              </a:rPr>
              <a:t> : les métadonnées de preuve (empreinte, jeton) permettent de vérifier l'intégrité de ce qui est restauré.</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Avez-vous déjà restauré une sauvegarde ? » Faites le test une fois avant la soutenance.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03 · ARCHITECTURE &amp; CHOIX TECHNIQUES</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Q14</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Vous activez Flyway dans application.properties, mais la dépendance n'existe pas et ddl-auto=update. Comment migrez-vous le schéma en production ?</a:t>
            </a:r>
            <a:endParaRPr lang="en-US" sz="14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Le jury a ouvert application.properties.</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Reconnaître</a:t>
            </a:r>
            <a:pPr indent="0" marL="0">
              <a:buNone/>
            </a:pPr>
            <a:r>
              <a:rPr lang="en-US" sz="1300" dirty="0">
                <a:solidFill>
                  <a:srgbClr val="1B2430"/>
                </a:solidFill>
                <a:latin typeface="Calibri" pitchFamily="34" charset="0"/>
                <a:ea typeface="Calibri" pitchFamily="34" charset="-122"/>
                <a:cs typeface="Calibri" pitchFamily="34" charset="-120"/>
              </a:rPr>
              <a:t> : en l'état, c'est Hibernate (ddl-auto=update) qui fait évoluer le schéma. Les propriétés Flyway sont inopérantes.</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Risque</a:t>
            </a:r>
            <a:pPr indent="0" marL="0">
              <a:buNone/>
            </a:pPr>
            <a:r>
              <a:rPr lang="en-US" sz="1300" dirty="0">
                <a:solidFill>
                  <a:srgbClr val="1B2430"/>
                </a:solidFill>
                <a:latin typeface="Calibri" pitchFamily="34" charset="0"/>
                <a:ea typeface="Calibri" pitchFamily="34" charset="-122"/>
                <a:cs typeface="Calibri" pitchFamily="34" charset="-120"/>
              </a:rPr>
              <a:t> : ddl-auto=update ne supprime ni ne renomme proprement les colonnes et n'est pas versionné. C'est dangereux sur des données d'archives.</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Correctif</a:t>
            </a:r>
            <a:pPr indent="0" marL="0">
              <a:buNone/>
            </a:pPr>
            <a:r>
              <a:rPr lang="en-US" sz="1300" dirty="0">
                <a:solidFill>
                  <a:srgbClr val="1B2430"/>
                </a:solidFill>
                <a:latin typeface="Calibri" pitchFamily="34" charset="0"/>
                <a:ea typeface="Calibri" pitchFamily="34" charset="-122"/>
                <a:cs typeface="Calibri" pitchFamily="34" charset="-120"/>
              </a:rPr>
              <a:t> : ajouter flyway-core, créer V1__baseline.sql depuis schema.sql, puis passer ddl-auto=validate.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Corrigez-le AVANT la soutenance : c'est simple et cela retire une munition au jury.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03 · ARCHITECTURE &amp; CHOIX TECHNIQUES</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Q15</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Pourquoi Spring Boot et React plutôt que Django ou Laravel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Choix argumenté plutôt que « c'est ce que je connais ».</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3A4658"/>
          </a:solidFill>
          <a:ln w="6350">
            <a:solidFill>
              <a:srgbClr val="3A4658"/>
            </a:solidFill>
            <a:prstDash val="solid"/>
          </a:ln>
        </p:spPr>
      </p:sp>
      <p:sp>
        <p:nvSpPr>
          <p:cNvPr id="12" name="Shape 10"/>
          <p:cNvSpPr/>
          <p:nvPr/>
        </p:nvSpPr>
        <p:spPr>
          <a:xfrm>
            <a:off x="1298448" y="4700016"/>
            <a:ext cx="118872" cy="118872"/>
          </a:xfrm>
          <a:prstGeom prst="ellipse">
            <a:avLst/>
          </a:prstGeom>
          <a:solidFill>
            <a:srgbClr val="3A4658"/>
          </a:solidFill>
          <a:ln w="6350">
            <a:solidFill>
              <a:srgbClr val="3A4658"/>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L'écosystème Java est mûr pour ce domaine : BouncyCastle (PKI, RFC 3161), PDFBox, Tika et Tess4J.</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Typage fort, standard en banque et dans l'administration, où se trouvent les clients d'un SAE.</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React + TypeScript, React Query et Zod : une interface typée de bout en bout.</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Répondre uniquement « je maîtrise Java ».</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04 · SÉCURITÉ &amp; CRYPTOGRAPHIE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Q16</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Une seule clé AES pour TOUS les documents, dans une variable d'environnement. Si elle fuit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gestion des clés, le point faible réel du projet.</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Oui</a:t>
            </a:r>
            <a:pPr indent="0" marL="0">
              <a:buNone/>
            </a:pPr>
            <a:r>
              <a:rPr lang="en-US" sz="1300" dirty="0">
                <a:solidFill>
                  <a:srgbClr val="1B2430"/>
                </a:solidFill>
                <a:latin typeface="Calibri" pitchFamily="34" charset="0"/>
                <a:ea typeface="Calibri" pitchFamily="34" charset="-122"/>
                <a:cs typeface="Calibri" pitchFamily="34" charset="-120"/>
              </a:rPr>
              <a:t> : STORAGE_ENCRYPTION_KEY est unique. Si elle fuit, tout le stock est déchiffrable. C'est une limite assumée du prototype.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Cible : chiffrement d'enveloppe.</a:t>
            </a:r>
            <a:pPr indent="0" marL="0">
              <a:buNone/>
            </a:pPr>
            <a:r>
              <a:rPr lang="en-US" sz="1300" dirty="0">
                <a:solidFill>
                  <a:srgbClr val="1B2430"/>
                </a:solidFill>
                <a:latin typeface="Calibri" pitchFamily="34" charset="0"/>
                <a:ea typeface="Calibri" pitchFamily="34" charset="-122"/>
                <a:cs typeface="Calibri" pitchFamily="34" charset="-120"/>
              </a:rPr>
              <a:t> Une clé par document (DEK), elle-même chiffrée par une clé maître (KEK) gardée dans un KMS ou un HSM (Vault, KMS cloud).</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Bénéfices</a:t>
            </a:r>
            <a:pPr indent="0" marL="0">
              <a:buNone/>
            </a:pPr>
            <a:r>
              <a:rPr lang="en-US" sz="1300" dirty="0">
                <a:solidFill>
                  <a:srgbClr val="1B2430"/>
                </a:solidFill>
                <a:latin typeface="Calibri" pitchFamily="34" charset="0"/>
                <a:ea typeface="Calibri" pitchFamily="34" charset="-122"/>
                <a:cs typeface="Calibri" pitchFamily="34" charset="-120"/>
              </a:rPr>
              <a:t> : rotation de la KEK sans rechiffrer les fichiers, révocation ciblée, et la clé maître ne quitte jamais le KMS.</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Défendre la clé unique comme « suffisante ». Montrez que vous connaissez la bonne architecture.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04 · SÉCURITÉ &amp; CRYPTOGRAPHIE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Q17</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Vous parlez de HSM. Où est votre HSM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L'honnêteté sur le vocabulaire. Le jury sait qu'un HSM est un boîtier matériel.</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 Il n'y en a pas physiquement. C'est un keystore PKCS#12 logiciel protégé par mot de passe, derrière une abstraction nommée HsmKeyStoreService. »</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 Le nom reflète la cible : en production, on branche un vrai HSM via PKCS#11 (SoftHSM en test, puis un HSM matériel ou cloud) sans toucher au code métier. »</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Idéalement, renommez-le en « KeyStoreService » dans le mémoire, ou écrivez « HSM logiciel (simulé) ».</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Prétendre avoir un HSM. Si le jury le découvre lui-même, votre crédibilité sur tout le reste s'effondre.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04 · SÉCURITÉ &amp; CRYPTOGRAPHIE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Q18</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Votre signature est-elle une signature électronique au sens eIDAS ? Du PAdES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différence entre « signer un hash » et « signature électronique qualifiée ».</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Techniquement</a:t>
            </a:r>
            <a:pPr indent="0" marL="0">
              <a:buNone/>
            </a:pPr>
            <a:r>
              <a:rPr lang="en-US" sz="1300" dirty="0">
                <a:solidFill>
                  <a:srgbClr val="1B2430"/>
                </a:solidFill>
                <a:latin typeface="Calibri" pitchFamily="34" charset="0"/>
                <a:ea typeface="Calibri" pitchFamily="34" charset="-122"/>
                <a:cs typeface="Calibri" pitchFamily="34" charset="-120"/>
              </a:rPr>
              <a:t> : SHA256withRSA sur l'empreinte SHA-256, avec une clé propre à chaque éditeur. La signature est détachée et stockée en base.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Ce n'est ni du PAdES ni une signature qualifiée</a:t>
            </a:r>
            <a:pPr indent="0" marL="0">
              <a:buNone/>
            </a:pPr>
            <a:r>
              <a:rPr lang="en-US" sz="1300" dirty="0">
                <a:solidFill>
                  <a:srgbClr val="1B2430"/>
                </a:solidFill>
                <a:latin typeface="Calibri" pitchFamily="34" charset="0"/>
                <a:ea typeface="Calibri" pitchFamily="34" charset="-122"/>
                <a:cs typeface="Calibri" pitchFamily="34" charset="-120"/>
              </a:rPr>
              <a:t> : elle n'est pas intégrée au PDF, et le certificat n'est pas émis par un prestataire qualifié.</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Évolution</a:t>
            </a:r>
            <a:pPr indent="0" marL="0">
              <a:buNone/>
            </a:pPr>
            <a:r>
              <a:rPr lang="en-US" sz="1300" dirty="0">
                <a:solidFill>
                  <a:srgbClr val="1B2430"/>
                </a:solidFill>
                <a:latin typeface="Calibri" pitchFamily="34" charset="0"/>
                <a:ea typeface="Calibri" pitchFamily="34" charset="-122"/>
                <a:cs typeface="Calibri" pitchFamily="34" charset="-120"/>
              </a:rPr>
              <a:t> : PAdES-B-LTA via la bibliothèque européenne DSS, avec des certificats d'une autorité reconnue.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Un tiers peut-il vérifier la signature sans votre application ? » Aujourd'hui, non. C'est l'argument pour PAdES.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04 · SÉCURITÉ &amp; CRYPTOGRAPHIE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Q19</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Votre JWT est stocké dans le localStorage. Que se passe-t-il en cas de faille XSS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Le jury a ouvert authService.tsx. C'est un classique des jurys sécurité.</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Reconnaître</a:t>
            </a:r>
            <a:pPr indent="0" marL="0">
              <a:buNone/>
            </a:pPr>
            <a:r>
              <a:rPr lang="en-US" sz="1300" dirty="0">
                <a:solidFill>
                  <a:srgbClr val="1B2430"/>
                </a:solidFill>
                <a:latin typeface="Calibri" pitchFamily="34" charset="0"/>
                <a:ea typeface="Calibri" pitchFamily="34" charset="-122"/>
                <a:cs typeface="Calibri" pitchFamily="34" charset="-120"/>
              </a:rPr>
              <a:t> : le token et le refresh token sont dans le localStorage. Un script injecté peut les voler.</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Atténuations actuelles</a:t>
            </a:r>
            <a:pPr indent="0" marL="0">
              <a:buNone/>
            </a:pPr>
            <a:r>
              <a:rPr lang="en-US" sz="1300" dirty="0">
                <a:solidFill>
                  <a:srgbClr val="1B2430"/>
                </a:solidFill>
                <a:latin typeface="Calibri" pitchFamily="34" charset="0"/>
                <a:ea typeface="Calibri" pitchFamily="34" charset="-122"/>
                <a:cs typeface="Calibri" pitchFamily="34" charset="-120"/>
              </a:rPr>
              <a:t> : React échappe le rendu par défaut, aucun dangerouslySetInnerHTML dans le front, expiration courte avec refresh.</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Cible</a:t>
            </a:r>
            <a:pPr indent="0" marL="0">
              <a:buNone/>
            </a:pPr>
            <a:r>
              <a:rPr lang="en-US" sz="1300" dirty="0">
                <a:solidFill>
                  <a:srgbClr val="1B2430"/>
                </a:solidFill>
                <a:latin typeface="Calibri" pitchFamily="34" charset="0"/>
                <a:ea typeface="Calibri" pitchFamily="34" charset="-122"/>
                <a:cs typeface="Calibri" pitchFamily="34" charset="-120"/>
              </a:rPr>
              <a:t> : cookie HttpOnly + Secure + SameSite=Strict et en-tête Content-Security-Policy dans Nginx.</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Pourquoi CSRF est désactivé</a:t>
            </a:r>
            <a:pPr indent="0" marL="0">
              <a:buNone/>
            </a:pPr>
            <a:r>
              <a:rPr lang="en-US" sz="1300" dirty="0">
                <a:solidFill>
                  <a:srgbClr val="1B2430"/>
                </a:solidFill>
                <a:latin typeface="Calibri" pitchFamily="34" charset="0"/>
                <a:ea typeface="Calibri" pitchFamily="34" charset="-122"/>
                <a:cs typeface="Calibri" pitchFamily="34" charset="-120"/>
              </a:rPr>
              <a:t> : l'API est stateless et le token passe dans l'en-tête Authorization, donc pas de CSRF. En passant au cookie, il faudra réactiver la protection CSRF.</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Avez-vous une CSP ? » Aujourd'hui, non : ajoutez-la dans nginx.conf avant la soutenance.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04 · SÉCURITÉ &amp; CRYPTOGRAPHIE</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Q20</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Détaillez votre chiffrement. Pourquoi AES-GCM ? Comment gérez-vous l'IV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AES-256-GCM, un IV aléatoire de 12 octets (SecureRandom) par fichier, et un tag d'authentification de 128 bits.</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GCM est un chiffrement authentifié : confidentialité et détection d'altération à la fois.</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Réutiliser un IV avec la même clé serait catastrophique (fuite du XOR des clairs, falsification possible). Avec des IV aléatoires de 96 bits, rester sous 2³² chiffrements par clé (recommandation NIST).</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 Que se passe-t-il au 5 milliardième document ? » On approche la limite : il faut changer de clé, d'où la question suivante.</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Q21</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Comment vous protégez-vous contre la force brute ? Et si un attaquant bloque volontairement le compte du directeur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Des compteurs Redis par e-mail ET par IP, avec un blocage progressif (au moins 5 min dès le premier palier, qui s'allonge à chaque récidive). Mots de passe hachés en BCrypt.</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Un administrateur peut débloquer un compte, et l'action est journalisée.</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Contre le blocage malveillant : ajouter le MFA et un CAPTCHA après N échecs plutôt qu'un verrou dur, et alerter l'utilisateur.</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 Derrière un NAT d'entreprise, tous les employés partagent une IP. » Le blocage par IP peut alors bloquer tout un bureau.</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04 · SÉCURITÉ &amp; CRYPTOGRAPHIE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Q22</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Un administrateur malveillant avec accès à Postgres peut-il falsifier un document ET son empreinte ET le journal d'audit ?</a:t>
            </a:r>
            <a:endParaRPr lang="en-US" sz="14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Le modèle de menace de l'initié (insider), la question la plus « sans pitié ».</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Le fichier seul</a:t>
            </a:r>
            <a:pPr indent="0" marL="0">
              <a:buNone/>
            </a:pPr>
            <a:r>
              <a:rPr lang="en-US" sz="1300" dirty="0">
                <a:solidFill>
                  <a:srgbClr val="1B2430"/>
                </a:solidFill>
                <a:latin typeface="Calibri" pitchFamily="34" charset="0"/>
                <a:ea typeface="Calibri" pitchFamily="34" charset="-122"/>
                <a:cs typeface="Calibri" pitchFamily="34" charset="-120"/>
              </a:rPr>
              <a:t> : non. Toute modification casse le tag GCM et l'empreinte, ce que le contrôle de fixité détecte.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Fichier + empreinte en base</a:t>
            </a:r>
            <a:pPr indent="0" marL="0">
              <a:buNone/>
            </a:pPr>
            <a:r>
              <a:rPr lang="en-US" sz="1300" dirty="0">
                <a:solidFill>
                  <a:srgbClr val="1B2430"/>
                </a:solidFill>
                <a:latin typeface="Calibri" pitchFamily="34" charset="0"/>
                <a:ea typeface="Calibri" pitchFamily="34" charset="-122"/>
                <a:cs typeface="Calibri" pitchFamily="34" charset="-120"/>
              </a:rPr>
              <a:t> : il pourrait tout remplacer de façon cohérente. MAIS le jeton RFC 3161 est signé par la TSA, qui est un tiers : il lie l'empreinte d'origine à une date et ne peut pas être refait pour une date passée.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Journal d'audit</a:t>
            </a:r>
            <a:pPr indent="0" marL="0">
              <a:buNone/>
            </a:pPr>
            <a:r>
              <a:rPr lang="en-US" sz="1300" dirty="0">
                <a:solidFill>
                  <a:srgbClr val="1B2430"/>
                </a:solidFill>
                <a:latin typeface="Calibri" pitchFamily="34" charset="0"/>
                <a:ea typeface="Calibri" pitchFamily="34" charset="-122"/>
                <a:cs typeface="Calibri" pitchFamily="34" charset="-120"/>
              </a:rPr>
              <a:t> : aujourd'hui modifiable en base. Correctif : journal chaîné (chaque entrée contient l'empreinte de la précédente), avec un ancrage horodaté périodique.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Répondre « c'est impossible ». Aucun système n'y est immunisé : montrez que vous connaissez la limite et la parade.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04 · SÉCURITÉ &amp; CRYPTOGRAPHIE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Q23</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Avez-vous réalisé un test d'intrusion ? Où en êtes-vous sur l'OWASP Top 10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Si « sécurisé » est une affirmation ou une preuve.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3A4658"/>
          </a:solidFill>
          <a:ln w="6350">
            <a:solidFill>
              <a:srgbClr val="3A4658"/>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Pas d'audit externe. Revue interne : requêtes JPA paramétrées (injection), contrôle d'accès côté serveur, BCrypt, anti-force brute, TLS via Traefik.</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Avant la soutenance : un scan OWASP ZAP et un scan de dépendances (OWASP Dependency-Check). Présentez le rapport.</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Dire « l'application est sécurisée ». Dites plutôt « voici les mesures et voici les limites connues ».</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05 · INTÉGRITÉ, HORODATAGE &amp; PREUVE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Q24</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Vous utilisez FreeTSA, un service gratuit. Est-il fiable ? Qualifié eIDAS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distinction démo / production.</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Non</a:t>
            </a:r>
            <a:pPr indent="0" marL="0">
              <a:buNone/>
            </a:pPr>
            <a:r>
              <a:rPr lang="en-US" sz="1300" dirty="0">
                <a:solidFill>
                  <a:srgbClr val="1B2430"/>
                </a:solidFill>
                <a:latin typeface="Calibri" pitchFamily="34" charset="0"/>
                <a:ea typeface="Calibri" pitchFamily="34" charset="-122"/>
                <a:cs typeface="Calibri" pitchFamily="34" charset="-120"/>
              </a:rPr>
              <a:t>, FreeTSA n'est pas qualifié et ne garantit aucun niveau de service. Il sert au développement et à la démo.</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La configuration prévoit une TSA payante prioritaire</a:t>
            </a:r>
            <a:pPr indent="0" marL="0">
              <a:buNone/>
            </a:pPr>
            <a:r>
              <a:rPr lang="en-US" sz="1300" dirty="0">
                <a:solidFill>
                  <a:srgbClr val="1B2430"/>
                </a:solidFill>
                <a:latin typeface="Calibri" pitchFamily="34" charset="0"/>
                <a:ea typeface="Calibri" pitchFamily="34" charset="-122"/>
                <a:cs typeface="Calibri" pitchFamily="34" charset="-120"/>
              </a:rPr>
              <a:t> (HORODATAGE_TSA_URL_PAYANT), sans repli silencieux vers le gratuit en cas d'échec. C'est un choix volontaire, car un horodatage « au rabais » dégraderait la preuve.</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En production : une TSA qualifiée de la liste de confiance européenne, ou un prestataire reconnu dans votre pays.</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Présenter FreeTSA comme la solution de production.</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05 · INTÉGRITÉ, HORODATAGE &amp; PREUVE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Q25</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Dans 15 ans, le certificat de la TSA aura expiré et RSA-2048 sera peut-être cassé. Que vaut votre preuve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conservation à long terme de la preuve, question de niveau expert.</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C'est le problème de la preuve à long terme. La réponse standard est le RÉ-HORODATAGE : avant l'expiration du certificat ou l'affaiblissement de l'algorithme, on horodate à nouveau (document + ancien jeton) avec un algorithme plus fort.</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Normes : RFC 4998 (Evidence Record Syntax), ou PAdES-LTA pour le PDF.</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Non implémenté aujourd'hui. C'est une perspective explicite du mémoire.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Ne rien savoir sur le sujet. Même sans l'implémenter, citer le ré-horodatage vaut beaucoup de points.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05 · INTÉGRITÉ, HORODATAGE &amp; PREUVE</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Q26</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Expliquez le RFC 3161 à un non-spécialiste. Pourquoi ne pas utiliser l'heure du serveur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L'heure du serveur est modifiable par son administrateur, donc elle ne prouve rien.</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Une autorité d'horodatage (TSA), tiers de confiance, signe le couple (empreinte, date). C'est un « notaire » qui certifie qu'un contenu existait à cette date, sans jamais le voir.</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En cas d'échec de la TSA, une nouvelle tentative est lancée toutes les heures (HorodatageRetryScheduler).</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Se perdre dans l'ASN.1. Restez sur l'analogie, puis détaillez si on vous le demande.</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Q27</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Votre contrôle de fixité vérifie TOUT chaque nuit à 3 h. Avec 10 millions de documents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Il faut télécharger, déchiffrer puis hacher chaque fichier : c'est la bande passante MinIO qui limite, pas le CPU.</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Mesurez votre débit (documents/minute) et extrapolez : si le temps dépasse la fenêtre de nuit, passez à une vérification tournante (chaque document vérifié une fois tous les N jours) et parallélisez.</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En cas d'altération : notification de corruption et entrée dans le journal d'audit (FixityCheckService.notifyCorruption).</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Ne pas avoir de chiffre. Mesurez avant la soutenance : « X documents/minute sur telle machine ».</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06 · BLOCKCHAIN</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Q28</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Pourquoi une blockchain (Polygon) ? Où l'utilisez-vous dans le flux d'archivage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Le « buzzword ». Et le jury a vu que BlockchainService n'est appelé NULLE PART.</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Constat dans votre code</a:t>
            </a:r>
            <a:pPr indent="0" marL="0">
              <a:buNone/>
            </a:pPr>
            <a:r>
              <a:rPr lang="en-US" sz="1300" dirty="0">
                <a:solidFill>
                  <a:srgbClr val="1B2430"/>
                </a:solidFill>
                <a:latin typeface="Calibri" pitchFamily="34" charset="0"/>
                <a:ea typeface="Calibri" pitchFamily="34" charset="-122"/>
                <a:cs typeface="Calibri" pitchFamily="34" charset="-120"/>
              </a:rPr>
              <a:t> : BlockchainService et DocumentRegistry.sol existent, mais aucun service ne les appelle. C'est du code mort.</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Option A (recommandée)</a:t>
            </a:r>
            <a:pPr indent="0" marL="0">
              <a:buNone/>
            </a:pPr>
            <a:r>
              <a:rPr lang="en-US" sz="1300" dirty="0">
                <a:solidFill>
                  <a:srgbClr val="1B2430"/>
                </a:solidFill>
                <a:latin typeface="Calibri" pitchFamily="34" charset="0"/>
                <a:ea typeface="Calibri" pitchFamily="34" charset="-122"/>
                <a:cs typeface="Calibri" pitchFamily="34" charset="-120"/>
              </a:rPr>
              <a:t> : le retirer du code et du mémoire, ou le déplacer dans les « perspectives ».</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Option B</a:t>
            </a:r>
            <a:pPr indent="0" marL="0">
              <a:buNone/>
            </a:pPr>
            <a:r>
              <a:rPr lang="en-US" sz="1300" dirty="0">
                <a:solidFill>
                  <a:srgbClr val="1B2430"/>
                </a:solidFill>
                <a:latin typeface="Calibri" pitchFamily="34" charset="0"/>
                <a:ea typeface="Calibri" pitchFamily="34" charset="-122"/>
                <a:cs typeface="Calibri" pitchFamily="34" charset="-120"/>
              </a:rPr>
              <a:t> : le présenter comme un prototype d'ancrage public. On ancre chaque jour la racine d'un arbre de Merkle des empreintes du jour, pour un coût quasi nul et une preuve indépendante de toute autorité.</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Dans tous les cas, ne dites jamais qu'il est « en production ».</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Quelle différence avec le RFC 3161 ? » La TSA est une confiance dans une autorité, la blockchain une confiance distribuée. Les deux sont complémentaires.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06 · BLOCKCHAIN</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Q29</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Votre contrat Solidity : qui peut appeler registerDocument ? Pourquoi string plutôt que bytes32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lecture critique de votre propre smart contract.</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3A4658"/>
          </a:solidFill>
          <a:ln w="6350">
            <a:solidFill>
              <a:srgbClr val="3A4658"/>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Aucun contrôle d'accès : n'importe qui peut enregistrer n'importe quelle empreinte, et le premier arrivé « squatte » un hash (require … « Document deja enregistre »).</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Un string coûte plus de gas qu'un bytes32, qui suffit pour un SHA-256.</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Améliorations : bytes32, onlyOwner ou rôle, et ancrage de racines de Merkle plutôt que document par document.</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Combien coûte l'ancrage d'un million de documents ? » Sans Merkle, c'est beaucoup. Avec Merkle, une seule transaction par jour.</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07 · IA &amp; OCR</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Q30</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Quel est votre taux de réussite d'extraction ? Sur quel jeu de test ? Précision, rappel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démarche scientifique : une évaluation chiffrée ou rien.</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Il FAUT un chiffre. Construisez un jeu annoté : au moins 50 documents, 3 types (facture, attestation, pièce d'identité), champs attendus saisis à la main.</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Mesurez par champ : précision, rappel et F1, et comparez OCR + regex générée vs extraction directe par le LLM vs saisie manuelle (temps).</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Présentez un tableau et UN exemple d'échec analysé : cela montre la rigueur.</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Ça marche bien » ou « environ 90 % » sans protocole : sanction garantie.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07 · IA &amp; OCR</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Q31</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Pourquoi faire générer des regex par un LLM au lieu de lui demander directement d'extraire les champs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b="1" dirty="0">
                <a:solidFill>
                  <a:srgbClr val="1B2430"/>
                </a:solidFill>
                <a:latin typeface="Calibri" pitchFamily="34" charset="0"/>
                <a:ea typeface="Calibri" pitchFamily="34" charset="-122"/>
                <a:cs typeface="Calibri" pitchFamily="34" charset="-120"/>
              </a:rPr>
              <a:t>Coût</a:t>
            </a:r>
            <a:pPr indent="0" marL="0">
              <a:buNone/>
            </a:pPr>
            <a:r>
              <a:rPr lang="en-US" sz="1100" dirty="0">
                <a:solidFill>
                  <a:srgbClr val="1B2430"/>
                </a:solidFill>
                <a:latin typeface="Calibri" pitchFamily="34" charset="0"/>
                <a:ea typeface="Calibri" pitchFamily="34" charset="-122"/>
                <a:cs typeface="Calibri" pitchFamily="34" charset="-120"/>
              </a:rPr>
              <a:t> : le LLM est appelé UNE fois par type de document. Les regex s'exécutent ensuite en millisecondes sur des milliers de documents, sans GPU.</a:t>
            </a:r>
            <a:endParaRPr lang="en-US" sz="1100" dirty="0"/>
          </a:p>
          <a:p>
            <a:pPr marL="152400" indent="-152400">
              <a:spcAft>
                <a:spcPts val="400"/>
              </a:spcAft>
              <a:buSzPct val="100000"/>
              <a:buChar char="•"/>
            </a:pPr>
            <a:r>
              <a:rPr lang="en-US" sz="1100" b="1" dirty="0">
                <a:solidFill>
                  <a:srgbClr val="1B2430"/>
                </a:solidFill>
                <a:latin typeface="Calibri" pitchFamily="34" charset="0"/>
                <a:ea typeface="Calibri" pitchFamily="34" charset="-122"/>
                <a:cs typeface="Calibri" pitchFamily="34" charset="-120"/>
              </a:rPr>
              <a:t>Déterminisme</a:t>
            </a:r>
            <a:pPr indent="0" marL="0">
              <a:buNone/>
            </a:pPr>
            <a:r>
              <a:rPr lang="en-US" sz="1100" dirty="0">
                <a:solidFill>
                  <a:srgbClr val="1B2430"/>
                </a:solidFill>
                <a:latin typeface="Calibri" pitchFamily="34" charset="0"/>
                <a:ea typeface="Calibri" pitchFamily="34" charset="-122"/>
                <a:cs typeface="Calibri" pitchFamily="34" charset="-120"/>
              </a:rPr>
              <a:t> : même entrée, même sortie, alors qu'un LLM varie d'un appel à l'autre.</a:t>
            </a:r>
            <a:endParaRPr lang="en-US" sz="1100" dirty="0"/>
          </a:p>
          <a:p>
            <a:pPr marL="152400" indent="-152400">
              <a:spcAft>
                <a:spcPts val="400"/>
              </a:spcAft>
              <a:buSzPct val="100000"/>
              <a:buChar char="•"/>
            </a:pPr>
            <a:r>
              <a:rPr lang="en-US" sz="1100" b="1" dirty="0">
                <a:solidFill>
                  <a:srgbClr val="1B2430"/>
                </a:solidFill>
                <a:latin typeface="Calibri" pitchFamily="34" charset="0"/>
                <a:ea typeface="Calibri" pitchFamily="34" charset="-122"/>
                <a:cs typeface="Calibri" pitchFamily="34" charset="-120"/>
              </a:rPr>
              <a:t>Auditabilité</a:t>
            </a:r>
            <a:pPr indent="0" marL="0">
              <a:buNone/>
            </a:pPr>
            <a:r>
              <a:rPr lang="en-US" sz="1100" dirty="0">
                <a:solidFill>
                  <a:srgbClr val="1B2430"/>
                </a:solidFill>
                <a:latin typeface="Calibri" pitchFamily="34" charset="0"/>
                <a:ea typeface="Calibri" pitchFamily="34" charset="-122"/>
                <a:cs typeface="Calibri" pitchFamily="34" charset="-120"/>
              </a:rPr>
              <a:t> : une règle se lit et se corrige, pas une boîte noire.</a:t>
            </a:r>
            <a:endParaRPr lang="en-US" sz="1100" dirty="0"/>
          </a:p>
          <a:p>
            <a:pPr marL="152400" indent="-152400">
              <a:spcAft>
                <a:spcPts val="400"/>
              </a:spcAft>
              <a:buSzPct val="100000"/>
              <a:buChar char="•"/>
            </a:pPr>
            <a:r>
              <a:rPr lang="en-US" sz="1100" b="1" dirty="0">
                <a:solidFill>
                  <a:srgbClr val="1B2430"/>
                </a:solidFill>
                <a:latin typeface="Calibri" pitchFamily="34" charset="0"/>
                <a:ea typeface="Calibri" pitchFamily="34" charset="-122"/>
                <a:cs typeface="Calibri" pitchFamily="34" charset="-120"/>
              </a:rPr>
              <a:t>Limite</a:t>
            </a:r>
            <a:pPr indent="0" marL="0">
              <a:buNone/>
            </a:pPr>
            <a:r>
              <a:rPr lang="en-US" sz="1100" dirty="0">
                <a:solidFill>
                  <a:srgbClr val="1B2430"/>
                </a:solidFill>
                <a:latin typeface="Calibri" pitchFamily="34" charset="0"/>
                <a:ea typeface="Calibri" pitchFamily="34" charset="-122"/>
                <a:cs typeface="Calibri" pitchFamily="34" charset="-120"/>
              </a:rPr>
              <a:t> : si la mise en page change, la regex casse. D'où la régénération périodique (RegexGenerationRetryScheduler, toutes les 8 h).</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 Les regex ne gèrent pas les variations de format. » Oui : c'est le compromis coût/précision, à défendre avec des mesures.</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Q32</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Le LLM peut halluciner une regex qui extrait une mauvaise date. Qui le détecte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L'humain reste dans la boucle : les champs sont PRÉ-REMPLIS et l'utilisateur les valide.</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La regex est testée sur le texte OCR avant d'être adoptée, et le document original reste la source de vérité.</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Piste : un score de confiance par champ et une mise en évidence visuelle des valeurs incertaines.</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 Et si l'utilisateur valide sans lire ? » C'est un risque organisationnel : formation et contrôles par échantillonnage.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07 · IA &amp; OCR</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Q33</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Pourquoi qwen2.5-coder:14b ? Sur quel matériel ? Et un client sans GPU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C'est un modèle spécialisé code, donc performant pour produire des regex. Il est open-weight et tourne en local (souveraineté).</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Un 14B quantifié demande environ 9-10 Go de RAM/VRAM. Sur CPU, c'est lent mais acceptable, puisqu'on l'appelle une fois par type de document.</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Ollama est optionnel : sans lui, la saisie est manuelle. Une API LLM externe est configurable si le client l'accepte.</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 Avez-vous comparé avec d'autres modèles ? » Préparez un mini-benchmark (7B vs 14B : temps et taux de regex valides).</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Q34</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D5DAE0"/>
          </a:solidFill>
          <a:ln w="6350">
            <a:solidFill>
              <a:srgbClr val="D5DAE0"/>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Tesseract sur des documents manuscrits, tamponnés ou mal scannés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Tesseract est faible sur le manuscrit et sensible à la qualité du scan (inclinaison, résolution &lt; 300 dpi).</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Le projet utilise l'OCR positionnel et des dictionnaires Tesseract spécifiques.</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Alternatives : PaddleOCR, docTR, ou TrOCR pour le manuscrit.</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Promettre que « l'OCR lit tout ».</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08 · QUALITÉ LOGICIELLE &amp; MÉTHODE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Q35</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Quelle est votre couverture de tests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rigueur d'ingénierie. Le jury a compté vos fichiers de test.</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Constat</a:t>
            </a:r>
            <a:pPr indent="0" marL="0">
              <a:buNone/>
            </a:pPr>
            <a:r>
              <a:rPr lang="en-US" sz="1300" dirty="0">
                <a:solidFill>
                  <a:srgbClr val="1B2430"/>
                </a:solidFill>
                <a:latin typeface="Calibri" pitchFamily="34" charset="0"/>
                <a:ea typeface="Calibri" pitchFamily="34" charset="-122"/>
                <a:cs typeface="Calibri" pitchFamily="34" charset="-120"/>
              </a:rPr>
              <a:t> : 14 classes de test pour environ 29 000 lignes Java. La couverture est faible, reconnaissez-le.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Défense</a:t>
            </a:r>
            <a:pPr indent="0" marL="0">
              <a:buNone/>
            </a:pPr>
            <a:r>
              <a:rPr lang="en-US" sz="1300" dirty="0">
                <a:solidFill>
                  <a:srgbClr val="1B2430"/>
                </a:solidFill>
                <a:latin typeface="Calibri" pitchFamily="34" charset="0"/>
                <a:ea typeface="Calibri" pitchFamily="34" charset="-122"/>
                <a:cs typeface="Calibri" pitchFamily="34" charset="-120"/>
              </a:rPr>
              <a:t> : les tests ciblent les parties critiques, à savoir chiffrement, empreinte, horodatage invalide, export, OCR positionnel, concurrence d'import, services UO et utilisateur. Une CI GitHub Actions les exécute.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Avant la soutenance</a:t>
            </a:r>
            <a:pPr indent="0" marL="0">
              <a:buNone/>
            </a:pPr>
            <a:r>
              <a:rPr lang="en-US" sz="1300" dirty="0">
                <a:solidFill>
                  <a:srgbClr val="1B2430"/>
                </a:solidFill>
                <a:latin typeface="Calibri" pitchFamily="34" charset="0"/>
                <a:ea typeface="Calibri" pitchFamily="34" charset="-122"/>
                <a:cs typeface="Calibri" pitchFamily="34" charset="-120"/>
              </a:rPr>
              <a:t> : générer un rapport JaCoCo et CONNAÎTRE le pourcentage exact, idéalement en ajoutant des tests sur FixityCheckService et LoginAttemptService.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Inventer un pourcentage : le jury peut demander à voir le rapport.</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08 · QUALITÉ LOGICIELLE &amp; MÉTHODE</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Q36</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DocumentService fait 1 500 lignes et DossiersPanel.tsx 1 877. Du code propre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Reconnaître une dette technique : ces classes ont trop de responsabilités (principe de responsabilité unique).</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Un découpage est déjà amorcé (DocumentUploadeService, DocumentAccessService, DocumentRetentionService…) et il faut le poursuivre.</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Côté front : extraire des hooks et des sous-composants.</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Petits détails qu'un jury pointilleux relève : « DocumentUploadeService » (faute), « adminService » (minuscule). Corrigez-les.</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Q37</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Quelle méthodologie ? Quel planning prévu vs réalisé ? Quels écarts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Méthode itérative de type Kanban, historique Git, CI (tests + publication des images Docker).</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Montrez un Gantt prévu vs réalisé et expliquez 2 écarts et ce que vous en avez appris.</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Un planning parfait sans aucun écart ne paraît pas crédible.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08 · QUALITÉ LOGICIELLE &amp; MÉTHODE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Q38</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Avez-vous utilisé une IA (ChatGPT, Claude, Copilot) pour écrire ce code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L'honnêteté intellectuelle et la maîtrise réelle du code.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Répondez la vérité</a:t>
            </a:r>
            <a:pPr indent="0" marL="0">
              <a:buNone/>
            </a:pPr>
            <a:r>
              <a:rPr lang="en-US" sz="1300" dirty="0">
                <a:solidFill>
                  <a:srgbClr val="1B2430"/>
                </a:solidFill>
                <a:latin typeface="Calibri" pitchFamily="34" charset="0"/>
                <a:ea typeface="Calibri" pitchFamily="34" charset="-122"/>
                <a:cs typeface="Calibri" pitchFamily="34" charset="-120"/>
              </a:rPr>
              <a:t>, avec précision : pour quoi (génération, relecture, documentation), dans quelle proportion, et comment vous avez validé.</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Montrez la maîtrise</a:t>
            </a:r>
            <a:pPr indent="0" marL="0">
              <a:buNone/>
            </a:pPr>
            <a:r>
              <a:rPr lang="en-US" sz="1300" dirty="0">
                <a:solidFill>
                  <a:srgbClr val="1B2430"/>
                </a:solidFill>
                <a:latin typeface="Calibri" pitchFamily="34" charset="0"/>
                <a:ea typeface="Calibri" pitchFamily="34" charset="-122"/>
                <a:cs typeface="Calibri" pitchFamily="34" charset="-120"/>
              </a:rPr>
              <a:t> : « Je peux expliquer n'importe quelle ligne, ouvrez le fichier de votre choix. »</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Formulation</a:t>
            </a:r>
            <a:pPr indent="0" marL="0">
              <a:buNone/>
            </a:pPr>
            <a:r>
              <a:rPr lang="en-US" sz="1300" dirty="0">
                <a:solidFill>
                  <a:srgbClr val="1B2430"/>
                </a:solidFill>
                <a:latin typeface="Calibri" pitchFamily="34" charset="0"/>
                <a:ea typeface="Calibri" pitchFamily="34" charset="-122"/>
                <a:cs typeface="Calibri" pitchFamily="34" charset="-120"/>
              </a:rPr>
              <a:t> : « L'IA a été un outil d'accélération ; l'architecture, les choix de sécurité et la validation sont les miens. »</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NIER si c'est faux : les commentaires très détaillés et le style trahissent souvent l'usage d'IA. Un mensonge découvert peut être éliminatoire.</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09 · PERFORMANCE &amp; EXPLOITATION</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Q39</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Combien d'utilisateurs simultanés et de documents votre système supporte-t-il ? Mesuré comment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Des chiffres mesurés, pas estimés.</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Un test de performance d'import concurrent existe (WebImportConcurrencyPerformanceTest). Sortez-en les chiffres.</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Ajoutez un test de charge k6 ou JMeter : temps de réponse de la recherche (p95) et débit d'upload, sur une machine décrite (CPU/RAM).</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Présentez un graphique : latence en fonction du nombre d'utilisateurs.</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Il supporte beaucoup d'utilisateurs. » Sans mesure, cette phrase vous coûte des points.</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09 · PERFORMANCE &amp; EXPLOITATION</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Q40</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Combien de temps pour archiver un PDF de 50 pages ? Quel est le goulot d'étranglement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Chaîne : conversion PDF/A → OCR → empreinte → signature → chiffrement → MinIO → horodatage → indexation.</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Le goulot est l'OCR, d'environ 1 à 3 s par page selon le CPU (à mesurer). Traitement asynchrone (@Async) pour ne pas bloquer l'utilisateur.</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Scalabilité : paralléliser l'OCR par page ou utiliser des workers dédiés.</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Ne pas connaître l'ordre des étapes. Faites un schéma que vous savez redessiner au tableau.</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Q41</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Réversibilité : un client qui vous quitte récupère-t-il TOUT, et dans un format exploitable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Export des métadonnées (CSV/Excel) et des fichiers, dans des formats ouverts (PDF/A) et un stockage S3 standard.</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À ajouter : export des preuves (empreintes, jetons .tsr, signatures) pour qu'elles restent vérifiables sans MadeArchive.</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Oublier les preuves : sans elles, les archives exportées perdent leur valeur probante.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10 · MODÈLE ÉCONOMIQUE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Q42</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Qui confierait 30 ans d'archives à un étudiant ? Que deviennent-elles si vous arrêtez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crédibilité et la pérennité, la question « sans pitié » par excellence.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Réversibilité totale</a:t>
            </a:r>
            <a:pPr indent="0" marL="0">
              <a:buNone/>
            </a:pPr>
            <a:r>
              <a:rPr lang="en-US" sz="1300" dirty="0">
                <a:solidFill>
                  <a:srgbClr val="1B2430"/>
                </a:solidFill>
                <a:latin typeface="Calibri" pitchFamily="34" charset="0"/>
                <a:ea typeface="Calibri" pitchFamily="34" charset="-122"/>
                <a:cs typeface="Calibri" pitchFamily="34" charset="-120"/>
              </a:rPr>
              <a:t> : formats ouverts (PDF/A), stockage S3 standard, export des preuves. Le client n'est jamais prisonnier.</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Séquestre du code source</a:t>
            </a:r>
            <a:pPr indent="0" marL="0">
              <a:buNone/>
            </a:pPr>
            <a:r>
              <a:rPr lang="en-US" sz="1300" dirty="0">
                <a:solidFill>
                  <a:srgbClr val="1B2430"/>
                </a:solidFill>
                <a:latin typeface="Calibri" pitchFamily="34" charset="0"/>
                <a:ea typeface="Calibri" pitchFamily="34" charset="-122"/>
                <a:cs typeface="Calibri" pitchFamily="34" charset="-120"/>
              </a:rPr>
              <a:t> chez un tiers, déclenché en cas de cessation d'activité.</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Hébergement chez un tiers</a:t>
            </a:r>
            <a:pPr indent="0" marL="0">
              <a:buNone/>
            </a:pPr>
            <a:r>
              <a:rPr lang="en-US" sz="1300" dirty="0">
                <a:solidFill>
                  <a:srgbClr val="1B2430"/>
                </a:solidFill>
                <a:latin typeface="Calibri" pitchFamily="34" charset="0"/>
                <a:ea typeface="Calibri" pitchFamily="34" charset="-122"/>
                <a:cs typeface="Calibri" pitchFamily="34" charset="-120"/>
              </a:rPr>
              <a:t> (datacenter du client ou hébergeur certifié), pas sur votre machine.</a:t>
            </a:r>
            <a:endParaRPr lang="en-US" sz="1300" dirty="0"/>
          </a:p>
          <a:p>
            <a:pPr marL="152400" indent="-152400">
              <a:spcAft>
                <a:spcPts val="400"/>
              </a:spcAft>
              <a:buSzPct val="100000"/>
              <a:buChar char="•"/>
            </a:pPr>
            <a:r>
              <a:rPr lang="en-US" sz="1300" b="1" dirty="0">
                <a:solidFill>
                  <a:srgbClr val="1B2430"/>
                </a:solidFill>
                <a:latin typeface="Calibri" pitchFamily="34" charset="0"/>
                <a:ea typeface="Calibri" pitchFamily="34" charset="-122"/>
                <a:cs typeface="Calibri" pitchFamily="34" charset="-120"/>
              </a:rPr>
              <a:t>Objectif réaliste</a:t>
            </a:r>
            <a:pPr indent="0" marL="0">
              <a:buNone/>
            </a:pPr>
            <a:r>
              <a:rPr lang="en-US" sz="1300" dirty="0">
                <a:solidFill>
                  <a:srgbClr val="1B2430"/>
                </a:solidFill>
                <a:latin typeface="Calibri" pitchFamily="34" charset="0"/>
                <a:ea typeface="Calibri" pitchFamily="34" charset="-122"/>
                <a:cs typeface="Calibri" pitchFamily="34" charset="-120"/>
              </a:rPr>
              <a:t> : 1 à 3 clients pilotes la première année, puis structuration (société, support, partenaire intégrateur).</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Répondre sur l'émotion (« je suis motivé »). Répondez par des mécanismes contractuels et techniques.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10 · MODÈLE ÉCONOMIQUE</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Q43</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Quel est votre modèle économique ? Combien coûte MadeArchive à un client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vision au-delà du diplôme.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3A4658"/>
          </a:solidFill>
          <a:ln w="6350">
            <a:solidFill>
              <a:srgbClr val="3A4658"/>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SaaS : abonnement par utilisateur et par volume stocké. On-premise : licence annuelle + maintenance + installation.</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Donnez une fourchette calibrée sur les concurrents locaux et le coût réel d'hébergement (stockage, GPU, TSA payante).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 C'est gratuit / open source » sans modèle de revenus.</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11 · QUESTIONS DÉSTABILISANTES</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Q44</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Quel est le point le plus faible de votre projet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lucidité. Le jury connaît déjà la réponse et vérifie si vous la connaissez.</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Choisissez UN point réel avec un plan : « La gestion des clés. Une clé AES unique en variable d'environnement et un keystore logiciel. La cible est un chiffrement d'enveloppe avec KMS/HSM, et voici comment j'y migrerais sans rechiffrer le stock. »</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Ensuite, n'en ajoutez pas trois autres de vous-même.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Répondre par un faux défaut (« je suis perfectionniste ») ou un défaut sans solution.</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11 · QUESTIONS DÉSTABILISANTES</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Q45</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Ouvrez DocumentEncryptionService et expliquez-nous la ligne 53.</a:t>
            </a:r>
            <a:endParaRPr lang="en-US" sz="14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Vérifier que vous avez écrit ou compris le code.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Ligne 53 : cipher.init(ENCRYPT_MODE, clé, new GCMParameterSpec(128, iv)) initialise AES-GCM avec un tag de 128 bits et l'IV aléatoire généré juste avant.</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Connaissez PAR CŒUR 5 fichiers : DocumentEncryptionService, HorodatageService, FixityCheckService, LoginAttemptService, SecurityConfig / JwtAuthFilter.</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Entraînez-vous à expliquer le flux d'une requête HTTP, du navigateur jusqu'à MinIO.</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Hésiter longuement sur votre propre code. C'est le signal le plus négatif possible.</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28600"/>
          </a:xfrm>
          <a:prstGeom prst="rect">
            <a:avLst/>
          </a:prstGeom>
          <a:noFill/>
          <a:ln/>
        </p:spPr>
        <p:txBody>
          <a:bodyPr wrap="square" lIns="0" tIns="0" rIns="0" bIns="0" rtlCol="0" anchor="t"/>
          <a:lstStyle/>
          <a:p>
            <a:pPr indent="0" marL="0">
              <a:buNone/>
            </a:pPr>
            <a:r>
              <a:rPr lang="en-US" sz="900" b="1" spc="200" kern="0" dirty="0">
                <a:solidFill>
                  <a:srgbClr val="A4302A"/>
                </a:solidFill>
                <a:latin typeface="Calibri" pitchFamily="34" charset="0"/>
                <a:ea typeface="Calibri" pitchFamily="34" charset="-122"/>
                <a:cs typeface="Calibri" pitchFamily="34" charset="-120"/>
              </a:rPr>
              <a:t>11 · QUESTIONS DÉSTABILISANTES</a:t>
            </a:r>
            <a:endParaRPr lang="en-US" sz="900" dirty="0"/>
          </a:p>
        </p:txBody>
      </p:sp>
      <p:sp>
        <p:nvSpPr>
          <p:cNvPr id="3" name="Shape 1"/>
          <p:cNvSpPr/>
          <p:nvPr/>
        </p:nvSpPr>
        <p:spPr>
          <a:xfrm>
            <a:off x="411480" y="640080"/>
            <a:ext cx="4069080" cy="4206240"/>
          </a:xfrm>
          <a:prstGeom prst="roundRect">
            <a:avLst>
              <a:gd name="adj" fmla="val 2247"/>
            </a:avLst>
          </a:prstGeom>
          <a:solidFill>
            <a:srgbClr val="F1F3F5"/>
          </a:solidFill>
          <a:ln w="12700">
            <a:solidFill>
              <a:srgbClr val="F1F3F5"/>
            </a:solidFill>
            <a:prstDash val="solid"/>
          </a:ln>
        </p:spPr>
      </p:sp>
      <p:sp>
        <p:nvSpPr>
          <p:cNvPr id="4" name="Shape 2"/>
          <p:cNvSpPr/>
          <p:nvPr/>
        </p:nvSpPr>
        <p:spPr>
          <a:xfrm>
            <a:off x="594360" y="804672"/>
            <a:ext cx="457200" cy="457200"/>
          </a:xfrm>
          <a:prstGeom prst="ellipse">
            <a:avLst/>
          </a:prstGeom>
          <a:solidFill>
            <a:srgbClr val="1B2430"/>
          </a:solidFill>
          <a:ln w="19050">
            <a:solidFill>
              <a:srgbClr val="C8A04A"/>
            </a:solidFill>
            <a:prstDash val="solid"/>
          </a:ln>
        </p:spPr>
      </p:sp>
      <p:sp>
        <p:nvSpPr>
          <p:cNvPr id="5" name="Text 3"/>
          <p:cNvSpPr txBox="1"/>
          <p:nvPr/>
        </p:nvSpPr>
        <p:spPr>
          <a:xfrm>
            <a:off x="59436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Q46</a:t>
            </a:r>
            <a:endParaRPr lang="en-US" sz="1100" dirty="0"/>
          </a:p>
        </p:txBody>
      </p:sp>
      <p:sp>
        <p:nvSpPr>
          <p:cNvPr id="6" name="Text 4"/>
          <p:cNvSpPr txBox="1"/>
          <p:nvPr/>
        </p:nvSpPr>
        <p:spPr>
          <a:xfrm>
            <a:off x="315468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7" name="Shape 5"/>
          <p:cNvSpPr/>
          <p:nvPr/>
        </p:nvSpPr>
        <p:spPr>
          <a:xfrm>
            <a:off x="3721608" y="978408"/>
            <a:ext cx="118872" cy="118872"/>
          </a:xfrm>
          <a:prstGeom prst="ellipse">
            <a:avLst/>
          </a:prstGeom>
          <a:solidFill>
            <a:srgbClr val="A4302A"/>
          </a:solidFill>
          <a:ln w="6350">
            <a:solidFill>
              <a:srgbClr val="A4302A"/>
            </a:solidFill>
            <a:prstDash val="solid"/>
          </a:ln>
        </p:spPr>
      </p:sp>
      <p:sp>
        <p:nvSpPr>
          <p:cNvPr id="8" name="Shape 6"/>
          <p:cNvSpPr/>
          <p:nvPr/>
        </p:nvSpPr>
        <p:spPr>
          <a:xfrm>
            <a:off x="3904488" y="978408"/>
            <a:ext cx="118872" cy="118872"/>
          </a:xfrm>
          <a:prstGeom prst="ellipse">
            <a:avLst/>
          </a:prstGeom>
          <a:solidFill>
            <a:srgbClr val="A4302A"/>
          </a:solidFill>
          <a:ln w="6350">
            <a:solidFill>
              <a:srgbClr val="A4302A"/>
            </a:solidFill>
            <a:prstDash val="solid"/>
          </a:ln>
        </p:spPr>
      </p:sp>
      <p:sp>
        <p:nvSpPr>
          <p:cNvPr id="9" name="Shape 7"/>
          <p:cNvSpPr/>
          <p:nvPr/>
        </p:nvSpPr>
        <p:spPr>
          <a:xfrm>
            <a:off x="4087368" y="978408"/>
            <a:ext cx="118872" cy="118872"/>
          </a:xfrm>
          <a:prstGeom prst="ellipse">
            <a:avLst/>
          </a:prstGeom>
          <a:solidFill>
            <a:srgbClr val="D5DAE0"/>
          </a:solidFill>
          <a:ln w="6350">
            <a:solidFill>
              <a:srgbClr val="D5DAE0"/>
            </a:solidFill>
            <a:prstDash val="solid"/>
          </a:ln>
        </p:spPr>
      </p:sp>
      <p:sp>
        <p:nvSpPr>
          <p:cNvPr id="10" name="Text 8"/>
          <p:cNvSpPr txBox="1"/>
          <p:nvPr/>
        </p:nvSpPr>
        <p:spPr>
          <a:xfrm>
            <a:off x="59436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Si vous deviez tout recommencer, que changeriez-vous ?</a:t>
            </a:r>
            <a:endParaRPr lang="en-US" sz="1350" dirty="0"/>
          </a:p>
        </p:txBody>
      </p:sp>
      <p:sp>
        <p:nvSpPr>
          <p:cNvPr id="11" name="Text 9"/>
          <p:cNvSpPr txBox="1"/>
          <p:nvPr/>
        </p:nvSpPr>
        <p:spPr>
          <a:xfrm>
            <a:off x="59436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Des tests dès le début sur la chaîne de preuve, le chiffrement d'enveloppe dès la conception, Flyway dès le premier jour.</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La signature PAdES plutôt qu'une signature détachée maison, et des services découpés plus tôt.</a:t>
            </a:r>
            <a:endParaRPr lang="en-US" sz="1100" dirty="0"/>
          </a:p>
        </p:txBody>
      </p:sp>
      <p:sp>
        <p:nvSpPr>
          <p:cNvPr id="12" name="Text 10"/>
          <p:cNvSpPr txBox="1"/>
          <p:nvPr/>
        </p:nvSpPr>
        <p:spPr>
          <a:xfrm>
            <a:off x="59436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Répondre « rien ». C'est un aveu de manque de recul.</a:t>
            </a:r>
            <a:endParaRPr lang="en-US" sz="1000" dirty="0"/>
          </a:p>
        </p:txBody>
      </p:sp>
      <p:sp>
        <p:nvSpPr>
          <p:cNvPr id="13" name="Shape 11"/>
          <p:cNvSpPr/>
          <p:nvPr/>
        </p:nvSpPr>
        <p:spPr>
          <a:xfrm>
            <a:off x="4663440" y="640080"/>
            <a:ext cx="4069080" cy="4206240"/>
          </a:xfrm>
          <a:prstGeom prst="roundRect">
            <a:avLst>
              <a:gd name="adj" fmla="val 2247"/>
            </a:avLst>
          </a:prstGeom>
          <a:solidFill>
            <a:srgbClr val="F1F3F5"/>
          </a:solidFill>
          <a:ln w="12700">
            <a:solidFill>
              <a:srgbClr val="F1F3F5"/>
            </a:solidFill>
            <a:prstDash val="solid"/>
          </a:ln>
        </p:spPr>
      </p:sp>
      <p:sp>
        <p:nvSpPr>
          <p:cNvPr id="14" name="Shape 12"/>
          <p:cNvSpPr/>
          <p:nvPr/>
        </p:nvSpPr>
        <p:spPr>
          <a:xfrm>
            <a:off x="4846320" y="804672"/>
            <a:ext cx="457200" cy="457200"/>
          </a:xfrm>
          <a:prstGeom prst="ellipse">
            <a:avLst/>
          </a:prstGeom>
          <a:solidFill>
            <a:srgbClr val="1B2430"/>
          </a:solidFill>
          <a:ln w="19050">
            <a:solidFill>
              <a:srgbClr val="C8A04A"/>
            </a:solidFill>
            <a:prstDash val="solid"/>
          </a:ln>
        </p:spPr>
      </p:sp>
      <p:sp>
        <p:nvSpPr>
          <p:cNvPr id="15" name="Text 13"/>
          <p:cNvSpPr txBox="1"/>
          <p:nvPr/>
        </p:nvSpPr>
        <p:spPr>
          <a:xfrm>
            <a:off x="4846320" y="80467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Q47</a:t>
            </a:r>
            <a:endParaRPr lang="en-US" sz="1100" dirty="0"/>
          </a:p>
        </p:txBody>
      </p:sp>
      <p:sp>
        <p:nvSpPr>
          <p:cNvPr id="16" name="Text 14"/>
          <p:cNvSpPr txBox="1"/>
          <p:nvPr/>
        </p:nvSpPr>
        <p:spPr>
          <a:xfrm>
            <a:off x="7406640" y="941832"/>
            <a:ext cx="640080" cy="182880"/>
          </a:xfrm>
          <a:prstGeom prst="rect">
            <a:avLst/>
          </a:prstGeom>
          <a:noFill/>
          <a:ln/>
        </p:spPr>
        <p:txBody>
          <a:bodyPr wrap="square" lIns="0" tIns="0" rIns="0" bIns="0" rtlCol="0" anchor="ctr"/>
          <a:lstStyle/>
          <a:p>
            <a:pPr indent="0" marL="0">
              <a:buNone/>
            </a:pPr>
            <a:r>
              <a:rPr lang="en-US" sz="900" dirty="0">
                <a:solidFill>
                  <a:srgbClr val="5B6573"/>
                </a:solidFill>
                <a:latin typeface="Calibri" pitchFamily="34" charset="0"/>
                <a:ea typeface="Calibri" pitchFamily="34" charset="-122"/>
                <a:cs typeface="Calibri" pitchFamily="34" charset="-120"/>
              </a:rPr>
              <a:t>Danger</a:t>
            </a:r>
            <a:endParaRPr lang="en-US" sz="900" dirty="0"/>
          </a:p>
        </p:txBody>
      </p:sp>
      <p:sp>
        <p:nvSpPr>
          <p:cNvPr id="17" name="Shape 15"/>
          <p:cNvSpPr/>
          <p:nvPr/>
        </p:nvSpPr>
        <p:spPr>
          <a:xfrm>
            <a:off x="7973568" y="978408"/>
            <a:ext cx="118872" cy="118872"/>
          </a:xfrm>
          <a:prstGeom prst="ellipse">
            <a:avLst/>
          </a:prstGeom>
          <a:solidFill>
            <a:srgbClr val="A4302A"/>
          </a:solidFill>
          <a:ln w="6350">
            <a:solidFill>
              <a:srgbClr val="A4302A"/>
            </a:solidFill>
            <a:prstDash val="solid"/>
          </a:ln>
        </p:spPr>
      </p:sp>
      <p:sp>
        <p:nvSpPr>
          <p:cNvPr id="18" name="Shape 16"/>
          <p:cNvSpPr/>
          <p:nvPr/>
        </p:nvSpPr>
        <p:spPr>
          <a:xfrm>
            <a:off x="8156448" y="978408"/>
            <a:ext cx="118872" cy="118872"/>
          </a:xfrm>
          <a:prstGeom prst="ellipse">
            <a:avLst/>
          </a:prstGeom>
          <a:solidFill>
            <a:srgbClr val="A4302A"/>
          </a:solidFill>
          <a:ln w="6350">
            <a:solidFill>
              <a:srgbClr val="A4302A"/>
            </a:solidFill>
            <a:prstDash val="solid"/>
          </a:ln>
        </p:spPr>
      </p:sp>
      <p:sp>
        <p:nvSpPr>
          <p:cNvPr id="19" name="Shape 17"/>
          <p:cNvSpPr/>
          <p:nvPr/>
        </p:nvSpPr>
        <p:spPr>
          <a:xfrm>
            <a:off x="8339328" y="978408"/>
            <a:ext cx="118872" cy="118872"/>
          </a:xfrm>
          <a:prstGeom prst="ellipse">
            <a:avLst/>
          </a:prstGeom>
          <a:solidFill>
            <a:srgbClr val="D5DAE0"/>
          </a:solidFill>
          <a:ln w="6350">
            <a:solidFill>
              <a:srgbClr val="D5DAE0"/>
            </a:solidFill>
            <a:prstDash val="solid"/>
          </a:ln>
        </p:spPr>
      </p:sp>
      <p:sp>
        <p:nvSpPr>
          <p:cNvPr id="20" name="Text 18"/>
          <p:cNvSpPr txBox="1"/>
          <p:nvPr/>
        </p:nvSpPr>
        <p:spPr>
          <a:xfrm>
            <a:off x="4846320" y="1371600"/>
            <a:ext cx="3703320" cy="777240"/>
          </a:xfrm>
          <a:prstGeom prst="rect">
            <a:avLst/>
          </a:prstGeom>
          <a:noFill/>
          <a:ln/>
        </p:spPr>
        <p:txBody>
          <a:bodyPr wrap="square" lIns="0" tIns="0" rIns="0" bIns="0"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Votre démo plante devant nous. Que faites-vous ?</a:t>
            </a:r>
            <a:endParaRPr lang="en-US" sz="1350" dirty="0"/>
          </a:p>
        </p:txBody>
      </p:sp>
      <p:sp>
        <p:nvSpPr>
          <p:cNvPr id="21" name="Text 19"/>
          <p:cNvSpPr txBox="1"/>
          <p:nvPr/>
        </p:nvSpPr>
        <p:spPr>
          <a:xfrm>
            <a:off x="4846320" y="2212848"/>
            <a:ext cx="3703320" cy="1828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Préparez une vidéo de secours enregistrée, des données pré-chargées et la démo en local (sans dépendre du réseau : Ollama local, TSA en cache).</a:t>
            </a:r>
            <a:endParaRPr lang="en-US" sz="1100" dirty="0"/>
          </a:p>
          <a:p>
            <a:pPr marL="152400" indent="-1524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Ne déboguez JAMAIS devant le jury : « Je bascule sur l'enregistrement et j'analyserai l'incident après. »</a:t>
            </a:r>
            <a:endParaRPr lang="en-US" sz="1100" dirty="0"/>
          </a:p>
        </p:txBody>
      </p:sp>
      <p:sp>
        <p:nvSpPr>
          <p:cNvPr id="22" name="Text 20"/>
          <p:cNvSpPr txBox="1"/>
          <p:nvPr/>
        </p:nvSpPr>
        <p:spPr>
          <a:xfrm>
            <a:off x="4846320" y="4114800"/>
            <a:ext cx="3703320" cy="640080"/>
          </a:xfrm>
          <a:prstGeom prst="rect">
            <a:avLst/>
          </a:prstGeom>
          <a:noFill/>
          <a:ln/>
        </p:spPr>
        <p:txBody>
          <a:bodyPr wrap="square" lIns="0" tIns="0" rIns="0" bIns="0" rtlCol="0" anchor="t"/>
          <a:lstStyle/>
          <a:p>
            <a:pPr indent="0" marL="0">
              <a:buNone/>
            </a:pPr>
            <a:r>
              <a:rPr lang="en-US" sz="1000" b="1" dirty="0">
                <a:solidFill>
                  <a:srgbClr val="A4302A"/>
                </a:solidFill>
                <a:latin typeface="Calibri" pitchFamily="34" charset="0"/>
                <a:ea typeface="Calibri" pitchFamily="34" charset="-122"/>
                <a:cs typeface="Calibri" pitchFamily="34" charset="-120"/>
              </a:rPr>
              <a:t>Piège : </a:t>
            </a:r>
            <a:pPr indent="0" marL="0">
              <a:buNone/>
            </a:pPr>
            <a:r>
              <a:rPr lang="en-US" sz="1000" i="1" dirty="0">
                <a:solidFill>
                  <a:srgbClr val="5B6573"/>
                </a:solidFill>
                <a:latin typeface="Calibri" pitchFamily="34" charset="0"/>
                <a:ea typeface="Calibri" pitchFamily="34" charset="-122"/>
                <a:cs typeface="Calibri" pitchFamily="34" charset="-120"/>
              </a:rPr>
              <a:t>Passer 5 minutes à relancer des conteneurs.</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1B2430"/>
          </a:solidFill>
          <a:ln w="12700">
            <a:solidFill>
              <a:srgbClr val="1B2430"/>
            </a:solidFill>
            <a:prstDash val="solid"/>
          </a:ln>
        </p:spPr>
      </p:sp>
      <p:sp>
        <p:nvSpPr>
          <p:cNvPr id="3" name="Text 1"/>
          <p:cNvSpPr txBox="1"/>
          <p:nvPr/>
        </p:nvSpPr>
        <p:spPr>
          <a:xfrm>
            <a:off x="365760" y="320040"/>
            <a:ext cx="2743200" cy="228600"/>
          </a:xfrm>
          <a:prstGeom prst="rect">
            <a:avLst/>
          </a:prstGeom>
          <a:noFill/>
          <a:ln/>
        </p:spPr>
        <p:txBody>
          <a:bodyPr wrap="square" lIns="0" tIns="0" rIns="0" bIns="0" rtlCol="0" anchor="t"/>
          <a:lstStyle/>
          <a:p>
            <a:pPr indent="0" marL="0">
              <a:buNone/>
            </a:pPr>
            <a:r>
              <a:rPr lang="en-US" sz="900" b="1" spc="200" kern="0" dirty="0">
                <a:solidFill>
                  <a:srgbClr val="C8A04A"/>
                </a:solidFill>
                <a:latin typeface="Calibri" pitchFamily="34" charset="0"/>
                <a:ea typeface="Calibri" pitchFamily="34" charset="-122"/>
                <a:cs typeface="Calibri" pitchFamily="34" charset="-120"/>
              </a:rPr>
              <a:t>11 · QUESTIONS DÉSTABILISANTES</a:t>
            </a:r>
            <a:endParaRPr lang="en-US" sz="900" dirty="0"/>
          </a:p>
        </p:txBody>
      </p:sp>
      <p:sp>
        <p:nvSpPr>
          <p:cNvPr id="4" name="Shape 2"/>
          <p:cNvSpPr/>
          <p:nvPr/>
        </p:nvSpPr>
        <p:spPr>
          <a:xfrm>
            <a:off x="365760" y="685800"/>
            <a:ext cx="566928" cy="566928"/>
          </a:xfrm>
          <a:prstGeom prst="ellipse">
            <a:avLst/>
          </a:prstGeom>
          <a:solidFill>
            <a:srgbClr val="A4302A"/>
          </a:solidFill>
          <a:ln w="19050">
            <a:solidFill>
              <a:srgbClr val="C8A04A"/>
            </a:solidFill>
            <a:prstDash val="solid"/>
          </a:ln>
        </p:spPr>
      </p:sp>
      <p:sp>
        <p:nvSpPr>
          <p:cNvPr id="5" name="Text 3"/>
          <p:cNvSpPr txBox="1"/>
          <p:nvPr/>
        </p:nvSpPr>
        <p:spPr>
          <a:xfrm>
            <a:off x="365760" y="68580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Q48</a:t>
            </a:r>
            <a:endParaRPr lang="en-US" sz="1300" dirty="0"/>
          </a:p>
        </p:txBody>
      </p:sp>
      <p:sp>
        <p:nvSpPr>
          <p:cNvPr id="6" name="Text 4"/>
          <p:cNvSpPr txBox="1"/>
          <p:nvPr/>
        </p:nvSpPr>
        <p:spPr>
          <a:xfrm>
            <a:off x="365760" y="1417320"/>
            <a:ext cx="2743200" cy="1920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En quoi est-ce un travail de niveau MASTER et pas un projet de fin de licence ?</a:t>
            </a:r>
            <a:endParaRPr lang="en-US" sz="1700" dirty="0"/>
          </a:p>
        </p:txBody>
      </p:sp>
      <p:sp>
        <p:nvSpPr>
          <p:cNvPr id="7" name="Text 5"/>
          <p:cNvSpPr txBox="1"/>
          <p:nvPr/>
        </p:nvSpPr>
        <p:spPr>
          <a:xfrm>
            <a:off x="365760" y="3474720"/>
            <a:ext cx="2743200" cy="201168"/>
          </a:xfrm>
          <a:prstGeom prst="rect">
            <a:avLst/>
          </a:prstGeom>
          <a:noFill/>
          <a:ln/>
        </p:spPr>
        <p:txBody>
          <a:bodyPr wrap="square" lIns="0" tIns="0" rIns="0" bIns="0" rtlCol="0" anchor="t"/>
          <a:lstStyle/>
          <a:p>
            <a:pPr indent="0" marL="0">
              <a:buNone/>
            </a:pPr>
            <a:r>
              <a:rPr lang="en-US" sz="900" b="1" spc="100" kern="0" dirty="0">
                <a:solidFill>
                  <a:srgbClr val="C8A04A"/>
                </a:solidFill>
                <a:latin typeface="Calibri" pitchFamily="34" charset="0"/>
                <a:ea typeface="Calibri" pitchFamily="34" charset="-122"/>
                <a:cs typeface="Calibri" pitchFamily="34" charset="-120"/>
              </a:rPr>
              <a:t>CE QUE LE JURY TESTE</a:t>
            </a:r>
            <a:endParaRPr lang="en-US" sz="900" dirty="0"/>
          </a:p>
        </p:txBody>
      </p:sp>
      <p:sp>
        <p:nvSpPr>
          <p:cNvPr id="8" name="Text 6"/>
          <p:cNvSpPr txBox="1"/>
          <p:nvPr/>
        </p:nvSpPr>
        <p:spPr>
          <a:xfrm>
            <a:off x="365760" y="3703320"/>
            <a:ext cx="2743200" cy="777240"/>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La dimension scientifique et réflexive.</a:t>
            </a:r>
            <a:endParaRPr lang="en-US" sz="1100" dirty="0"/>
          </a:p>
        </p:txBody>
      </p:sp>
      <p:sp>
        <p:nvSpPr>
          <p:cNvPr id="9" name="Text 7"/>
          <p:cNvSpPr txBox="1"/>
          <p:nvPr/>
        </p:nvSpPr>
        <p:spPr>
          <a:xfrm>
            <a:off x="365760" y="4663440"/>
            <a:ext cx="640080" cy="182880"/>
          </a:xfrm>
          <a:prstGeom prst="rect">
            <a:avLst/>
          </a:prstGeom>
          <a:noFill/>
          <a:ln/>
        </p:spPr>
        <p:txBody>
          <a:bodyPr wrap="square" lIns="0" tIns="0" rIns="0" bIns="0" rtlCol="0" anchor="ctr"/>
          <a:lstStyle/>
          <a:p>
            <a:pPr indent="0" marL="0">
              <a:buNone/>
            </a:pPr>
            <a:r>
              <a:rPr lang="en-US" sz="900" dirty="0">
                <a:solidFill>
                  <a:srgbClr val="C9D1DB"/>
                </a:solidFill>
                <a:latin typeface="Calibri" pitchFamily="34" charset="0"/>
                <a:ea typeface="Calibri" pitchFamily="34" charset="-122"/>
                <a:cs typeface="Calibri" pitchFamily="34" charset="-120"/>
              </a:rPr>
              <a:t>Danger</a:t>
            </a:r>
            <a:endParaRPr lang="en-US" sz="900" dirty="0"/>
          </a:p>
        </p:txBody>
      </p:sp>
      <p:sp>
        <p:nvSpPr>
          <p:cNvPr id="10" name="Shape 8"/>
          <p:cNvSpPr/>
          <p:nvPr/>
        </p:nvSpPr>
        <p:spPr>
          <a:xfrm>
            <a:off x="932688" y="4700016"/>
            <a:ext cx="118872" cy="118872"/>
          </a:xfrm>
          <a:prstGeom prst="ellipse">
            <a:avLst/>
          </a:prstGeom>
          <a:solidFill>
            <a:srgbClr val="A4302A"/>
          </a:solidFill>
          <a:ln w="6350">
            <a:solidFill>
              <a:srgbClr val="A4302A"/>
            </a:solidFill>
            <a:prstDash val="solid"/>
          </a:ln>
        </p:spPr>
      </p:sp>
      <p:sp>
        <p:nvSpPr>
          <p:cNvPr id="11" name="Shape 9"/>
          <p:cNvSpPr/>
          <p:nvPr/>
        </p:nvSpPr>
        <p:spPr>
          <a:xfrm>
            <a:off x="1115568" y="4700016"/>
            <a:ext cx="118872" cy="118872"/>
          </a:xfrm>
          <a:prstGeom prst="ellipse">
            <a:avLst/>
          </a:prstGeom>
          <a:solidFill>
            <a:srgbClr val="A4302A"/>
          </a:solidFill>
          <a:ln w="6350">
            <a:solidFill>
              <a:srgbClr val="A4302A"/>
            </a:solidFill>
            <a:prstDash val="solid"/>
          </a:ln>
        </p:spPr>
      </p:sp>
      <p:sp>
        <p:nvSpPr>
          <p:cNvPr id="12" name="Shape 10"/>
          <p:cNvSpPr/>
          <p:nvPr/>
        </p:nvSpPr>
        <p:spPr>
          <a:xfrm>
            <a:off x="1298448" y="4700016"/>
            <a:ext cx="118872" cy="118872"/>
          </a:xfrm>
          <a:prstGeom prst="ellipse">
            <a:avLst/>
          </a:prstGeom>
          <a:solidFill>
            <a:srgbClr val="A4302A"/>
          </a:solidFill>
          <a:ln w="6350">
            <a:solidFill>
              <a:srgbClr val="A4302A"/>
            </a:solidFill>
            <a:prstDash val="solid"/>
          </a:ln>
        </p:spPr>
      </p:sp>
      <p:sp>
        <p:nvSpPr>
          <p:cNvPr id="13" name="Text 11"/>
          <p:cNvSpPr txBox="1"/>
          <p:nvPr/>
        </p:nvSpPr>
        <p:spPr>
          <a:xfrm>
            <a:off x="3794760" y="365760"/>
            <a:ext cx="493776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RÉPONSE SUGGÉRÉE</a:t>
            </a:r>
            <a:endParaRPr lang="en-US" sz="1000" dirty="0"/>
          </a:p>
        </p:txBody>
      </p:sp>
      <p:sp>
        <p:nvSpPr>
          <p:cNvPr id="14" name="Text 12"/>
          <p:cNvSpPr txBox="1"/>
          <p:nvPr/>
        </p:nvSpPr>
        <p:spPr>
          <a:xfrm>
            <a:off x="3794760" y="685800"/>
            <a:ext cx="4937760" cy="2926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Une problématique de recherche (preuve à long terme, IA frugale pour l'extraction), un état de l'art référencé, des choix argumentés et comparés.</a:t>
            </a:r>
            <a:endParaRPr lang="en-US" sz="1300" dirty="0"/>
          </a:p>
          <a:p>
            <a:pPr marL="152400" indent="-152400">
              <a:spcAft>
                <a:spcPts val="400"/>
              </a:spcAft>
              <a:buSzPct val="100000"/>
              <a:buChar char="•"/>
            </a:pPr>
            <a:r>
              <a:rPr lang="en-US" sz="1300" dirty="0">
                <a:solidFill>
                  <a:srgbClr val="1B2430"/>
                </a:solidFill>
                <a:latin typeface="Calibri" pitchFamily="34" charset="0"/>
                <a:ea typeface="Calibri" pitchFamily="34" charset="-122"/>
                <a:cs typeface="Calibri" pitchFamily="34" charset="-120"/>
              </a:rPr>
              <a:t>Une ÉVALUATION chiffrée (précision/rappel, performance) et une analyse critique des limites, avec un modèle de menace.</a:t>
            </a:r>
            <a:endParaRPr lang="en-US" sz="1300" dirty="0"/>
          </a:p>
        </p:txBody>
      </p:sp>
      <p:sp>
        <p:nvSpPr>
          <p:cNvPr id="15" name="Shape 13"/>
          <p:cNvSpPr/>
          <p:nvPr/>
        </p:nvSpPr>
        <p:spPr>
          <a:xfrm>
            <a:off x="3794760" y="3749040"/>
            <a:ext cx="4937760" cy="1051560"/>
          </a:xfrm>
          <a:prstGeom prst="roundRect">
            <a:avLst>
              <a:gd name="adj" fmla="val 6957"/>
            </a:avLst>
          </a:prstGeom>
          <a:solidFill>
            <a:srgbClr val="F1F3F5"/>
          </a:solidFill>
          <a:ln w="12700">
            <a:solidFill>
              <a:srgbClr val="F1F3F5"/>
            </a:solidFill>
            <a:prstDash val="solid"/>
          </a:ln>
        </p:spPr>
      </p:sp>
      <p:sp>
        <p:nvSpPr>
          <p:cNvPr id="16" name="Text 14"/>
          <p:cNvSpPr txBox="1"/>
          <p:nvPr/>
        </p:nvSpPr>
        <p:spPr>
          <a:xfrm>
            <a:off x="3977640" y="3840480"/>
            <a:ext cx="4572000" cy="201168"/>
          </a:xfrm>
          <a:prstGeom prst="rect">
            <a:avLst/>
          </a:prstGeom>
          <a:noFill/>
          <a:ln/>
        </p:spPr>
        <p:txBody>
          <a:bodyPr wrap="square" lIns="0" tIns="0" rIns="0" bIns="0" rtlCol="0" anchor="t"/>
          <a:lstStyle/>
          <a:p>
            <a:pPr indent="0" marL="0">
              <a:buNone/>
            </a:pPr>
            <a:r>
              <a:rPr lang="en-US" sz="900" b="1" spc="100" kern="0" dirty="0">
                <a:solidFill>
                  <a:srgbClr val="A4302A"/>
                </a:solidFill>
                <a:latin typeface="Calibri" pitchFamily="34" charset="0"/>
                <a:ea typeface="Calibri" pitchFamily="34" charset="-122"/>
                <a:cs typeface="Calibri" pitchFamily="34" charset="-120"/>
              </a:rPr>
              <a:t>PIÈGE / RELANCE PROBABLE</a:t>
            </a:r>
            <a:endParaRPr lang="en-US" sz="900" dirty="0"/>
          </a:p>
        </p:txBody>
      </p:sp>
      <p:sp>
        <p:nvSpPr>
          <p:cNvPr id="17" name="Text 15"/>
          <p:cNvSpPr txBox="1"/>
          <p:nvPr/>
        </p:nvSpPr>
        <p:spPr>
          <a:xfrm>
            <a:off x="3977640" y="4069080"/>
            <a:ext cx="4572000" cy="68580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Répondre par la quantité de code ou le nombre de technologies.</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À ne jamais dire / à dire à la place</a:t>
            </a:r>
            <a:endParaRPr lang="en-US" sz="2800" dirty="0"/>
          </a:p>
        </p:txBody>
      </p:sp>
      <p:sp>
        <p:nvSpPr>
          <p:cNvPr id="3" name="Text 1"/>
          <p:cNvSpPr txBox="1"/>
          <p:nvPr/>
        </p:nvSpPr>
        <p:spPr>
          <a:xfrm>
            <a:off x="457200" y="1005840"/>
            <a:ext cx="3931920" cy="228600"/>
          </a:xfrm>
          <a:prstGeom prst="rect">
            <a:avLst/>
          </a:prstGeom>
          <a:noFill/>
          <a:ln/>
        </p:spPr>
        <p:txBody>
          <a:bodyPr wrap="square" lIns="0" tIns="0" rIns="0" bIns="0" rtlCol="0" anchor="t"/>
          <a:lstStyle/>
          <a:p>
            <a:pPr indent="0" marL="0">
              <a:buNone/>
            </a:pPr>
            <a:r>
              <a:rPr lang="en-US" sz="1000" b="1" spc="200" kern="0" dirty="0">
                <a:solidFill>
                  <a:srgbClr val="A4302A"/>
                </a:solidFill>
                <a:latin typeface="Calibri" pitchFamily="34" charset="0"/>
                <a:ea typeface="Calibri" pitchFamily="34" charset="-122"/>
                <a:cs typeface="Calibri" pitchFamily="34" charset="-120"/>
              </a:rPr>
              <a:t>À BANNIR</a:t>
            </a:r>
            <a:endParaRPr lang="en-US" sz="1000" dirty="0"/>
          </a:p>
        </p:txBody>
      </p:sp>
      <p:sp>
        <p:nvSpPr>
          <p:cNvPr id="4" name="Text 2"/>
          <p:cNvSpPr txBox="1"/>
          <p:nvPr/>
        </p:nvSpPr>
        <p:spPr>
          <a:xfrm>
            <a:off x="4754880" y="1005840"/>
            <a:ext cx="3931920" cy="228600"/>
          </a:xfrm>
          <a:prstGeom prst="rect">
            <a:avLst/>
          </a:prstGeom>
          <a:noFill/>
          <a:ln/>
        </p:spPr>
        <p:txBody>
          <a:bodyPr wrap="square" lIns="0" tIns="0" rIns="0" bIns="0" rtlCol="0" anchor="t"/>
          <a:lstStyle/>
          <a:p>
            <a:pPr indent="0" marL="0">
              <a:buNone/>
            </a:pPr>
            <a:r>
              <a:rPr lang="en-US" sz="1000" b="1" spc="200" kern="0" dirty="0">
                <a:solidFill>
                  <a:srgbClr val="2E6B4F"/>
                </a:solidFill>
                <a:latin typeface="Calibri" pitchFamily="34" charset="0"/>
                <a:ea typeface="Calibri" pitchFamily="34" charset="-122"/>
                <a:cs typeface="Calibri" pitchFamily="34" charset="-120"/>
              </a:rPr>
              <a:t>À DIRE</a:t>
            </a:r>
            <a:endParaRPr lang="en-US" sz="1000" dirty="0"/>
          </a:p>
        </p:txBody>
      </p:sp>
      <p:sp>
        <p:nvSpPr>
          <p:cNvPr id="5" name="Shape 3"/>
          <p:cNvSpPr/>
          <p:nvPr/>
        </p:nvSpPr>
        <p:spPr>
          <a:xfrm>
            <a:off x="457200" y="1325880"/>
            <a:ext cx="3931920" cy="475488"/>
          </a:xfrm>
          <a:prstGeom prst="roundRect">
            <a:avLst>
              <a:gd name="adj" fmla="val 11538"/>
            </a:avLst>
          </a:prstGeom>
          <a:solidFill>
            <a:srgbClr val="F8E9E7"/>
          </a:solidFill>
          <a:ln w="12700">
            <a:solidFill>
              <a:srgbClr val="F8E9E7"/>
            </a:solidFill>
            <a:prstDash val="solid"/>
          </a:ln>
        </p:spPr>
      </p:sp>
      <p:sp>
        <p:nvSpPr>
          <p:cNvPr id="6" name="Shape 4"/>
          <p:cNvSpPr/>
          <p:nvPr/>
        </p:nvSpPr>
        <p:spPr>
          <a:xfrm>
            <a:off x="4754880" y="1325880"/>
            <a:ext cx="3931920" cy="475488"/>
          </a:xfrm>
          <a:prstGeom prst="roundRect">
            <a:avLst>
              <a:gd name="adj" fmla="val 11538"/>
            </a:avLst>
          </a:prstGeom>
          <a:solidFill>
            <a:srgbClr val="E6F1EB"/>
          </a:solidFill>
          <a:ln w="12700">
            <a:solidFill>
              <a:srgbClr val="E6F1EB"/>
            </a:solidFill>
            <a:prstDash val="solid"/>
          </a:ln>
        </p:spPr>
      </p:sp>
      <p:sp>
        <p:nvSpPr>
          <p:cNvPr id="7" name="Text 5"/>
          <p:cNvSpPr txBox="1"/>
          <p:nvPr/>
        </p:nvSpPr>
        <p:spPr>
          <a:xfrm>
            <a:off x="594360" y="1325880"/>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L'application est sécurisée. »</a:t>
            </a:r>
            <a:endParaRPr lang="en-US" sz="1200" dirty="0"/>
          </a:p>
        </p:txBody>
      </p:sp>
      <p:sp>
        <p:nvSpPr>
          <p:cNvPr id="8" name="Text 6"/>
          <p:cNvSpPr txBox="1"/>
          <p:nvPr/>
        </p:nvSpPr>
        <p:spPr>
          <a:xfrm>
            <a:off x="4892040" y="1325880"/>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Voici les mesures en place et les limites connues. »</a:t>
            </a:r>
            <a:endParaRPr lang="en-US" sz="1200" dirty="0"/>
          </a:p>
        </p:txBody>
      </p:sp>
      <p:sp>
        <p:nvSpPr>
          <p:cNvPr id="9" name="Shape 7"/>
          <p:cNvSpPr/>
          <p:nvPr/>
        </p:nvSpPr>
        <p:spPr>
          <a:xfrm>
            <a:off x="457200" y="1911096"/>
            <a:ext cx="3931920" cy="475488"/>
          </a:xfrm>
          <a:prstGeom prst="roundRect">
            <a:avLst>
              <a:gd name="adj" fmla="val 11538"/>
            </a:avLst>
          </a:prstGeom>
          <a:solidFill>
            <a:srgbClr val="F8E9E7"/>
          </a:solidFill>
          <a:ln w="12700">
            <a:solidFill>
              <a:srgbClr val="F8E9E7"/>
            </a:solidFill>
            <a:prstDash val="solid"/>
          </a:ln>
        </p:spPr>
      </p:sp>
      <p:sp>
        <p:nvSpPr>
          <p:cNvPr id="10" name="Shape 8"/>
          <p:cNvSpPr/>
          <p:nvPr/>
        </p:nvSpPr>
        <p:spPr>
          <a:xfrm>
            <a:off x="4754880" y="1911096"/>
            <a:ext cx="3931920" cy="475488"/>
          </a:xfrm>
          <a:prstGeom prst="roundRect">
            <a:avLst>
              <a:gd name="adj" fmla="val 11538"/>
            </a:avLst>
          </a:prstGeom>
          <a:solidFill>
            <a:srgbClr val="E6F1EB"/>
          </a:solidFill>
          <a:ln w="12700">
            <a:solidFill>
              <a:srgbClr val="E6F1EB"/>
            </a:solidFill>
            <a:prstDash val="solid"/>
          </a:ln>
        </p:spPr>
      </p:sp>
      <p:sp>
        <p:nvSpPr>
          <p:cNvPr id="11" name="Text 9"/>
          <p:cNvSpPr txBox="1"/>
          <p:nvPr/>
        </p:nvSpPr>
        <p:spPr>
          <a:xfrm>
            <a:off x="594360" y="1911096"/>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C'est conforme NF Z42-013. »</a:t>
            </a:r>
            <a:endParaRPr lang="en-US" sz="1200" dirty="0"/>
          </a:p>
        </p:txBody>
      </p:sp>
      <p:sp>
        <p:nvSpPr>
          <p:cNvPr id="12" name="Text 10"/>
          <p:cNvSpPr txBox="1"/>
          <p:nvPr/>
        </p:nvSpPr>
        <p:spPr>
          <a:xfrm>
            <a:off x="4892040" y="1911096"/>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C'est conçu selon ses exigences techniques, sans être certifié. »</a:t>
            </a:r>
            <a:endParaRPr lang="en-US" sz="1200" dirty="0"/>
          </a:p>
        </p:txBody>
      </p:sp>
      <p:sp>
        <p:nvSpPr>
          <p:cNvPr id="13" name="Shape 11"/>
          <p:cNvSpPr/>
          <p:nvPr/>
        </p:nvSpPr>
        <p:spPr>
          <a:xfrm>
            <a:off x="457200" y="2496312"/>
            <a:ext cx="3931920" cy="475488"/>
          </a:xfrm>
          <a:prstGeom prst="roundRect">
            <a:avLst>
              <a:gd name="adj" fmla="val 11538"/>
            </a:avLst>
          </a:prstGeom>
          <a:solidFill>
            <a:srgbClr val="F8E9E7"/>
          </a:solidFill>
          <a:ln w="12700">
            <a:solidFill>
              <a:srgbClr val="F8E9E7"/>
            </a:solidFill>
            <a:prstDash val="solid"/>
          </a:ln>
        </p:spPr>
      </p:sp>
      <p:sp>
        <p:nvSpPr>
          <p:cNvPr id="14" name="Shape 12"/>
          <p:cNvSpPr/>
          <p:nvPr/>
        </p:nvSpPr>
        <p:spPr>
          <a:xfrm>
            <a:off x="4754880" y="2496312"/>
            <a:ext cx="3931920" cy="475488"/>
          </a:xfrm>
          <a:prstGeom prst="roundRect">
            <a:avLst>
              <a:gd name="adj" fmla="val 11538"/>
            </a:avLst>
          </a:prstGeom>
          <a:solidFill>
            <a:srgbClr val="E6F1EB"/>
          </a:solidFill>
          <a:ln w="12700">
            <a:solidFill>
              <a:srgbClr val="E6F1EB"/>
            </a:solidFill>
            <a:prstDash val="solid"/>
          </a:ln>
        </p:spPr>
      </p:sp>
      <p:sp>
        <p:nvSpPr>
          <p:cNvPr id="15" name="Text 13"/>
          <p:cNvSpPr txBox="1"/>
          <p:nvPr/>
        </p:nvSpPr>
        <p:spPr>
          <a:xfrm>
            <a:off x="594360" y="2496312"/>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Nous avons un HSM. »</a:t>
            </a:r>
            <a:endParaRPr lang="en-US" sz="1200" dirty="0"/>
          </a:p>
        </p:txBody>
      </p:sp>
      <p:sp>
        <p:nvSpPr>
          <p:cNvPr id="16" name="Text 14"/>
          <p:cNvSpPr txBox="1"/>
          <p:nvPr/>
        </p:nvSpPr>
        <p:spPr>
          <a:xfrm>
            <a:off x="4892040" y="2496312"/>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Un keystore logiciel, prêt pour un HSM via PKCS#11. »</a:t>
            </a:r>
            <a:endParaRPr lang="en-US" sz="1200" dirty="0"/>
          </a:p>
        </p:txBody>
      </p:sp>
      <p:sp>
        <p:nvSpPr>
          <p:cNvPr id="17" name="Shape 15"/>
          <p:cNvSpPr/>
          <p:nvPr/>
        </p:nvSpPr>
        <p:spPr>
          <a:xfrm>
            <a:off x="457200" y="3081528"/>
            <a:ext cx="3931920" cy="475488"/>
          </a:xfrm>
          <a:prstGeom prst="roundRect">
            <a:avLst>
              <a:gd name="adj" fmla="val 11538"/>
            </a:avLst>
          </a:prstGeom>
          <a:solidFill>
            <a:srgbClr val="F8E9E7"/>
          </a:solidFill>
          <a:ln w="12700">
            <a:solidFill>
              <a:srgbClr val="F8E9E7"/>
            </a:solidFill>
            <a:prstDash val="solid"/>
          </a:ln>
        </p:spPr>
      </p:sp>
      <p:sp>
        <p:nvSpPr>
          <p:cNvPr id="18" name="Shape 16"/>
          <p:cNvSpPr/>
          <p:nvPr/>
        </p:nvSpPr>
        <p:spPr>
          <a:xfrm>
            <a:off x="4754880" y="3081528"/>
            <a:ext cx="3931920" cy="475488"/>
          </a:xfrm>
          <a:prstGeom prst="roundRect">
            <a:avLst>
              <a:gd name="adj" fmla="val 11538"/>
            </a:avLst>
          </a:prstGeom>
          <a:solidFill>
            <a:srgbClr val="E6F1EB"/>
          </a:solidFill>
          <a:ln w="12700">
            <a:solidFill>
              <a:srgbClr val="E6F1EB"/>
            </a:solidFill>
            <a:prstDash val="solid"/>
          </a:ln>
        </p:spPr>
      </p:sp>
      <p:sp>
        <p:nvSpPr>
          <p:cNvPr id="19" name="Text 17"/>
          <p:cNvSpPr txBox="1"/>
          <p:nvPr/>
        </p:nvSpPr>
        <p:spPr>
          <a:xfrm>
            <a:off x="594360" y="3081528"/>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L'IA marche bien. »</a:t>
            </a:r>
            <a:endParaRPr lang="en-US" sz="1200" dirty="0"/>
          </a:p>
        </p:txBody>
      </p:sp>
      <p:sp>
        <p:nvSpPr>
          <p:cNvPr id="20" name="Text 18"/>
          <p:cNvSpPr txBox="1"/>
          <p:nvPr/>
        </p:nvSpPr>
        <p:spPr>
          <a:xfrm>
            <a:off x="4892040" y="3081528"/>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F1 de X % sur N documents annotés. »</a:t>
            </a:r>
            <a:endParaRPr lang="en-US" sz="1200" dirty="0"/>
          </a:p>
        </p:txBody>
      </p:sp>
      <p:sp>
        <p:nvSpPr>
          <p:cNvPr id="21" name="Shape 19"/>
          <p:cNvSpPr/>
          <p:nvPr/>
        </p:nvSpPr>
        <p:spPr>
          <a:xfrm>
            <a:off x="457200" y="3666744"/>
            <a:ext cx="3931920" cy="475488"/>
          </a:xfrm>
          <a:prstGeom prst="roundRect">
            <a:avLst>
              <a:gd name="adj" fmla="val 11538"/>
            </a:avLst>
          </a:prstGeom>
          <a:solidFill>
            <a:srgbClr val="F8E9E7"/>
          </a:solidFill>
          <a:ln w="12700">
            <a:solidFill>
              <a:srgbClr val="F8E9E7"/>
            </a:solidFill>
            <a:prstDash val="solid"/>
          </a:ln>
        </p:spPr>
      </p:sp>
      <p:sp>
        <p:nvSpPr>
          <p:cNvPr id="22" name="Shape 20"/>
          <p:cNvSpPr/>
          <p:nvPr/>
        </p:nvSpPr>
        <p:spPr>
          <a:xfrm>
            <a:off x="4754880" y="3666744"/>
            <a:ext cx="3931920" cy="475488"/>
          </a:xfrm>
          <a:prstGeom prst="roundRect">
            <a:avLst>
              <a:gd name="adj" fmla="val 11538"/>
            </a:avLst>
          </a:prstGeom>
          <a:solidFill>
            <a:srgbClr val="E6F1EB"/>
          </a:solidFill>
          <a:ln w="12700">
            <a:solidFill>
              <a:srgbClr val="E6F1EB"/>
            </a:solidFill>
            <a:prstDash val="solid"/>
          </a:ln>
        </p:spPr>
      </p:sp>
      <p:sp>
        <p:nvSpPr>
          <p:cNvPr id="23" name="Text 21"/>
          <p:cNvSpPr txBox="1"/>
          <p:nvPr/>
        </p:nvSpPr>
        <p:spPr>
          <a:xfrm>
            <a:off x="594360" y="3666744"/>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Ça supporte beaucoup d'utilisateurs. »</a:t>
            </a:r>
            <a:endParaRPr lang="en-US" sz="1200" dirty="0"/>
          </a:p>
        </p:txBody>
      </p:sp>
      <p:sp>
        <p:nvSpPr>
          <p:cNvPr id="24" name="Text 22"/>
          <p:cNvSpPr txBox="1"/>
          <p:nvPr/>
        </p:nvSpPr>
        <p:spPr>
          <a:xfrm>
            <a:off x="4892040" y="3666744"/>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p95 de X ms à N utilisateurs sur telle machine. »</a:t>
            </a:r>
            <a:endParaRPr lang="en-US" sz="1200" dirty="0"/>
          </a:p>
        </p:txBody>
      </p:sp>
      <p:sp>
        <p:nvSpPr>
          <p:cNvPr id="25" name="Shape 23"/>
          <p:cNvSpPr/>
          <p:nvPr/>
        </p:nvSpPr>
        <p:spPr>
          <a:xfrm>
            <a:off x="457200" y="4251960"/>
            <a:ext cx="3931920" cy="475488"/>
          </a:xfrm>
          <a:prstGeom prst="roundRect">
            <a:avLst>
              <a:gd name="adj" fmla="val 11538"/>
            </a:avLst>
          </a:prstGeom>
          <a:solidFill>
            <a:srgbClr val="F8E9E7"/>
          </a:solidFill>
          <a:ln w="12700">
            <a:solidFill>
              <a:srgbClr val="F8E9E7"/>
            </a:solidFill>
            <a:prstDash val="solid"/>
          </a:ln>
        </p:spPr>
      </p:sp>
      <p:sp>
        <p:nvSpPr>
          <p:cNvPr id="26" name="Shape 24"/>
          <p:cNvSpPr/>
          <p:nvPr/>
        </p:nvSpPr>
        <p:spPr>
          <a:xfrm>
            <a:off x="4754880" y="4251960"/>
            <a:ext cx="3931920" cy="475488"/>
          </a:xfrm>
          <a:prstGeom prst="roundRect">
            <a:avLst>
              <a:gd name="adj" fmla="val 11538"/>
            </a:avLst>
          </a:prstGeom>
          <a:solidFill>
            <a:srgbClr val="E6F1EB"/>
          </a:solidFill>
          <a:ln w="12700">
            <a:solidFill>
              <a:srgbClr val="E6F1EB"/>
            </a:solidFill>
            <a:prstDash val="solid"/>
          </a:ln>
        </p:spPr>
      </p:sp>
      <p:sp>
        <p:nvSpPr>
          <p:cNvPr id="27" name="Text 25"/>
          <p:cNvSpPr txBox="1"/>
          <p:nvPr/>
        </p:nvSpPr>
        <p:spPr>
          <a:xfrm>
            <a:off x="594360" y="4251960"/>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Je n'ai pas eu le temps. »</a:t>
            </a:r>
            <a:endParaRPr lang="en-US" sz="1200" dirty="0"/>
          </a:p>
        </p:txBody>
      </p:sp>
      <p:sp>
        <p:nvSpPr>
          <p:cNvPr id="28" name="Text 26"/>
          <p:cNvSpPr txBox="1"/>
          <p:nvPr/>
        </p:nvSpPr>
        <p:spPr>
          <a:xfrm>
            <a:off x="4892040" y="4251960"/>
            <a:ext cx="3657600" cy="475488"/>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 J'ai priorisé X parce que… ; Y est la prochaine étape. »</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À faire AVANT la soutenance</a:t>
            </a:r>
            <a:endParaRPr lang="en-US" sz="2800" dirty="0"/>
          </a:p>
        </p:txBody>
      </p:sp>
      <p:sp>
        <p:nvSpPr>
          <p:cNvPr id="3" name="Text 1"/>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200" i="1" dirty="0">
                <a:solidFill>
                  <a:srgbClr val="5B6573"/>
                </a:solidFill>
                <a:latin typeface="Calibri" pitchFamily="34" charset="0"/>
                <a:ea typeface="Calibri" pitchFamily="34" charset="-122"/>
                <a:cs typeface="Calibri" pitchFamily="34" charset="-120"/>
              </a:rPr>
              <a:t>Chaque case cochée retire une question piège au jury.</a:t>
            </a:r>
            <a:endParaRPr lang="en-US" sz="1200" dirty="0"/>
          </a:p>
        </p:txBody>
      </p:sp>
      <p:sp>
        <p:nvSpPr>
          <p:cNvPr id="4" name="Shape 2"/>
          <p:cNvSpPr/>
          <p:nvPr/>
        </p:nvSpPr>
        <p:spPr>
          <a:xfrm>
            <a:off x="457200" y="1399032"/>
            <a:ext cx="256032" cy="256032"/>
          </a:xfrm>
          <a:prstGeom prst="roundRect">
            <a:avLst>
              <a:gd name="adj" fmla="val 14286"/>
            </a:avLst>
          </a:prstGeom>
          <a:solidFill>
            <a:srgbClr val="FFFFFF"/>
          </a:solidFill>
          <a:ln w="15875">
            <a:solidFill>
              <a:srgbClr val="1B2430"/>
            </a:solidFill>
            <a:prstDash val="solid"/>
          </a:ln>
        </p:spPr>
      </p:sp>
      <p:sp>
        <p:nvSpPr>
          <p:cNvPr id="5" name="Text 3"/>
          <p:cNvSpPr txBox="1"/>
          <p:nvPr/>
        </p:nvSpPr>
        <p:spPr>
          <a:xfrm>
            <a:off x="868680" y="1325880"/>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Brancher ou retirer BlockchainService</a:t>
            </a:r>
            <a:endParaRPr lang="en-US" sz="1250" dirty="0"/>
          </a:p>
        </p:txBody>
      </p:sp>
      <p:sp>
        <p:nvSpPr>
          <p:cNvPr id="6" name="Text 4"/>
          <p:cNvSpPr txBox="1"/>
          <p:nvPr/>
        </p:nvSpPr>
        <p:spPr>
          <a:xfrm>
            <a:off x="3886200" y="1325880"/>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Q28</a:t>
            </a:r>
            <a:endParaRPr lang="en-US" sz="1000" dirty="0"/>
          </a:p>
        </p:txBody>
      </p:sp>
      <p:sp>
        <p:nvSpPr>
          <p:cNvPr id="7" name="Shape 5"/>
          <p:cNvSpPr/>
          <p:nvPr/>
        </p:nvSpPr>
        <p:spPr>
          <a:xfrm>
            <a:off x="4663440" y="1399032"/>
            <a:ext cx="256032" cy="256032"/>
          </a:xfrm>
          <a:prstGeom prst="roundRect">
            <a:avLst>
              <a:gd name="adj" fmla="val 14286"/>
            </a:avLst>
          </a:prstGeom>
          <a:solidFill>
            <a:srgbClr val="FFFFFF"/>
          </a:solidFill>
          <a:ln w="15875">
            <a:solidFill>
              <a:srgbClr val="1B2430"/>
            </a:solidFill>
            <a:prstDash val="solid"/>
          </a:ln>
        </p:spPr>
      </p:sp>
      <p:sp>
        <p:nvSpPr>
          <p:cNvPr id="8" name="Text 6"/>
          <p:cNvSpPr txBox="1"/>
          <p:nvPr/>
        </p:nvSpPr>
        <p:spPr>
          <a:xfrm>
            <a:off x="5074920" y="1325880"/>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Renommer « HSM » ou l'écrire « simulé »</a:t>
            </a:r>
            <a:endParaRPr lang="en-US" sz="1250" dirty="0"/>
          </a:p>
        </p:txBody>
      </p:sp>
      <p:sp>
        <p:nvSpPr>
          <p:cNvPr id="9" name="Text 7"/>
          <p:cNvSpPr txBox="1"/>
          <p:nvPr/>
        </p:nvSpPr>
        <p:spPr>
          <a:xfrm>
            <a:off x="8092440" y="1325880"/>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Q17</a:t>
            </a:r>
            <a:endParaRPr lang="en-US" sz="1000" dirty="0"/>
          </a:p>
        </p:txBody>
      </p:sp>
      <p:sp>
        <p:nvSpPr>
          <p:cNvPr id="10" name="Shape 8"/>
          <p:cNvSpPr/>
          <p:nvPr/>
        </p:nvSpPr>
        <p:spPr>
          <a:xfrm>
            <a:off x="457200" y="1975104"/>
            <a:ext cx="256032" cy="256032"/>
          </a:xfrm>
          <a:prstGeom prst="roundRect">
            <a:avLst>
              <a:gd name="adj" fmla="val 14286"/>
            </a:avLst>
          </a:prstGeom>
          <a:solidFill>
            <a:srgbClr val="FFFFFF"/>
          </a:solidFill>
          <a:ln w="15875">
            <a:solidFill>
              <a:srgbClr val="1B2430"/>
            </a:solidFill>
            <a:prstDash val="solid"/>
          </a:ln>
        </p:spPr>
      </p:sp>
      <p:sp>
        <p:nvSpPr>
          <p:cNvPr id="11" name="Text 9"/>
          <p:cNvSpPr txBox="1"/>
          <p:nvPr/>
        </p:nvSpPr>
        <p:spPr>
          <a:xfrm>
            <a:off x="868680" y="1901952"/>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Ajouter flyway-core + ddl-auto=validate</a:t>
            </a:r>
            <a:endParaRPr lang="en-US" sz="1250" dirty="0"/>
          </a:p>
        </p:txBody>
      </p:sp>
      <p:sp>
        <p:nvSpPr>
          <p:cNvPr id="12" name="Text 10"/>
          <p:cNvSpPr txBox="1"/>
          <p:nvPr/>
        </p:nvSpPr>
        <p:spPr>
          <a:xfrm>
            <a:off x="3886200" y="1901952"/>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Q14</a:t>
            </a:r>
            <a:endParaRPr lang="en-US" sz="1000" dirty="0"/>
          </a:p>
        </p:txBody>
      </p:sp>
      <p:sp>
        <p:nvSpPr>
          <p:cNvPr id="13" name="Shape 11"/>
          <p:cNvSpPr/>
          <p:nvPr/>
        </p:nvSpPr>
        <p:spPr>
          <a:xfrm>
            <a:off x="4663440" y="1975104"/>
            <a:ext cx="256032" cy="256032"/>
          </a:xfrm>
          <a:prstGeom prst="roundRect">
            <a:avLst>
              <a:gd name="adj" fmla="val 14286"/>
            </a:avLst>
          </a:prstGeom>
          <a:solidFill>
            <a:srgbClr val="FFFFFF"/>
          </a:solidFill>
          <a:ln w="15875">
            <a:solidFill>
              <a:srgbClr val="1B2430"/>
            </a:solidFill>
            <a:prstDash val="solid"/>
          </a:ln>
        </p:spPr>
      </p:sp>
      <p:sp>
        <p:nvSpPr>
          <p:cNvPr id="14" name="Text 12"/>
          <p:cNvSpPr txBox="1"/>
          <p:nvPr/>
        </p:nvSpPr>
        <p:spPr>
          <a:xfrm>
            <a:off x="5074920" y="1901952"/>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CSP dans nginx.conf</a:t>
            </a:r>
            <a:endParaRPr lang="en-US" sz="1250" dirty="0"/>
          </a:p>
        </p:txBody>
      </p:sp>
      <p:sp>
        <p:nvSpPr>
          <p:cNvPr id="15" name="Text 13"/>
          <p:cNvSpPr txBox="1"/>
          <p:nvPr/>
        </p:nvSpPr>
        <p:spPr>
          <a:xfrm>
            <a:off x="8092440" y="1901952"/>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Q19</a:t>
            </a:r>
            <a:endParaRPr lang="en-US" sz="1000" dirty="0"/>
          </a:p>
        </p:txBody>
      </p:sp>
      <p:sp>
        <p:nvSpPr>
          <p:cNvPr id="16" name="Shape 14"/>
          <p:cNvSpPr/>
          <p:nvPr/>
        </p:nvSpPr>
        <p:spPr>
          <a:xfrm>
            <a:off x="457200" y="2551176"/>
            <a:ext cx="256032" cy="256032"/>
          </a:xfrm>
          <a:prstGeom prst="roundRect">
            <a:avLst>
              <a:gd name="adj" fmla="val 14286"/>
            </a:avLst>
          </a:prstGeom>
          <a:solidFill>
            <a:srgbClr val="FFFFFF"/>
          </a:solidFill>
          <a:ln w="15875">
            <a:solidFill>
              <a:srgbClr val="1B2430"/>
            </a:solidFill>
            <a:prstDash val="solid"/>
          </a:ln>
        </p:spPr>
      </p:sp>
      <p:sp>
        <p:nvSpPr>
          <p:cNvPr id="17" name="Text 15"/>
          <p:cNvSpPr txBox="1"/>
          <p:nvPr/>
        </p:nvSpPr>
        <p:spPr>
          <a:xfrm>
            <a:off x="868680" y="2478024"/>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Filtrer les droits DANS Meilisearch</a:t>
            </a:r>
            <a:endParaRPr lang="en-US" sz="1250" dirty="0"/>
          </a:p>
        </p:txBody>
      </p:sp>
      <p:sp>
        <p:nvSpPr>
          <p:cNvPr id="18" name="Text 16"/>
          <p:cNvSpPr txBox="1"/>
          <p:nvPr/>
        </p:nvSpPr>
        <p:spPr>
          <a:xfrm>
            <a:off x="3886200" y="2478024"/>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Q12</a:t>
            </a:r>
            <a:endParaRPr lang="en-US" sz="1000" dirty="0"/>
          </a:p>
        </p:txBody>
      </p:sp>
      <p:sp>
        <p:nvSpPr>
          <p:cNvPr id="19" name="Shape 17"/>
          <p:cNvSpPr/>
          <p:nvPr/>
        </p:nvSpPr>
        <p:spPr>
          <a:xfrm>
            <a:off x="4663440" y="2551176"/>
            <a:ext cx="256032" cy="256032"/>
          </a:xfrm>
          <a:prstGeom prst="roundRect">
            <a:avLst>
              <a:gd name="adj" fmla="val 14286"/>
            </a:avLst>
          </a:prstGeom>
          <a:solidFill>
            <a:srgbClr val="FFFFFF"/>
          </a:solidFill>
          <a:ln w="15875">
            <a:solidFill>
              <a:srgbClr val="1B2430"/>
            </a:solidFill>
            <a:prstDash val="solid"/>
          </a:ln>
        </p:spPr>
      </p:sp>
      <p:sp>
        <p:nvSpPr>
          <p:cNvPr id="20" name="Text 18"/>
          <p:cNvSpPr txBox="1"/>
          <p:nvPr/>
        </p:nvSpPr>
        <p:spPr>
          <a:xfrm>
            <a:off x="5074920" y="2478024"/>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Rapport JaCoCo : connaître le %</a:t>
            </a:r>
            <a:endParaRPr lang="en-US" sz="1250" dirty="0"/>
          </a:p>
        </p:txBody>
      </p:sp>
      <p:sp>
        <p:nvSpPr>
          <p:cNvPr id="21" name="Text 19"/>
          <p:cNvSpPr txBox="1"/>
          <p:nvPr/>
        </p:nvSpPr>
        <p:spPr>
          <a:xfrm>
            <a:off x="8092440" y="2478024"/>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Q35</a:t>
            </a:r>
            <a:endParaRPr lang="en-US" sz="1000" dirty="0"/>
          </a:p>
        </p:txBody>
      </p:sp>
      <p:sp>
        <p:nvSpPr>
          <p:cNvPr id="22" name="Shape 20"/>
          <p:cNvSpPr/>
          <p:nvPr/>
        </p:nvSpPr>
        <p:spPr>
          <a:xfrm>
            <a:off x="457200" y="3127248"/>
            <a:ext cx="256032" cy="256032"/>
          </a:xfrm>
          <a:prstGeom prst="roundRect">
            <a:avLst>
              <a:gd name="adj" fmla="val 14286"/>
            </a:avLst>
          </a:prstGeom>
          <a:solidFill>
            <a:srgbClr val="FFFFFF"/>
          </a:solidFill>
          <a:ln w="15875">
            <a:solidFill>
              <a:srgbClr val="1B2430"/>
            </a:solidFill>
            <a:prstDash val="solid"/>
          </a:ln>
        </p:spPr>
      </p:sp>
      <p:sp>
        <p:nvSpPr>
          <p:cNvPr id="23" name="Text 21"/>
          <p:cNvSpPr txBox="1"/>
          <p:nvPr/>
        </p:nvSpPr>
        <p:spPr>
          <a:xfrm>
            <a:off x="868680" y="3054096"/>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Jeu annoté de 50 documents : précision / rappel</a:t>
            </a:r>
            <a:endParaRPr lang="en-US" sz="1250" dirty="0"/>
          </a:p>
        </p:txBody>
      </p:sp>
      <p:sp>
        <p:nvSpPr>
          <p:cNvPr id="24" name="Text 22"/>
          <p:cNvSpPr txBox="1"/>
          <p:nvPr/>
        </p:nvSpPr>
        <p:spPr>
          <a:xfrm>
            <a:off x="3886200" y="3054096"/>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Q30</a:t>
            </a:r>
            <a:endParaRPr lang="en-US" sz="1000" dirty="0"/>
          </a:p>
        </p:txBody>
      </p:sp>
      <p:sp>
        <p:nvSpPr>
          <p:cNvPr id="25" name="Shape 23"/>
          <p:cNvSpPr/>
          <p:nvPr/>
        </p:nvSpPr>
        <p:spPr>
          <a:xfrm>
            <a:off x="4663440" y="3127248"/>
            <a:ext cx="256032" cy="256032"/>
          </a:xfrm>
          <a:prstGeom prst="roundRect">
            <a:avLst>
              <a:gd name="adj" fmla="val 14286"/>
            </a:avLst>
          </a:prstGeom>
          <a:solidFill>
            <a:srgbClr val="FFFFFF"/>
          </a:solidFill>
          <a:ln w="15875">
            <a:solidFill>
              <a:srgbClr val="1B2430"/>
            </a:solidFill>
            <a:prstDash val="solid"/>
          </a:ln>
        </p:spPr>
      </p:sp>
      <p:sp>
        <p:nvSpPr>
          <p:cNvPr id="26" name="Text 24"/>
          <p:cNvSpPr txBox="1"/>
          <p:nvPr/>
        </p:nvSpPr>
        <p:spPr>
          <a:xfrm>
            <a:off x="5074920" y="3054096"/>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Test de charge k6 : p95 + débit</a:t>
            </a:r>
            <a:endParaRPr lang="en-US" sz="1250" dirty="0"/>
          </a:p>
        </p:txBody>
      </p:sp>
      <p:sp>
        <p:nvSpPr>
          <p:cNvPr id="27" name="Text 25"/>
          <p:cNvSpPr txBox="1"/>
          <p:nvPr/>
        </p:nvSpPr>
        <p:spPr>
          <a:xfrm>
            <a:off x="8092440" y="3054096"/>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Q39</a:t>
            </a:r>
            <a:endParaRPr lang="en-US" sz="1000" dirty="0"/>
          </a:p>
        </p:txBody>
      </p:sp>
      <p:sp>
        <p:nvSpPr>
          <p:cNvPr id="28" name="Shape 26"/>
          <p:cNvSpPr/>
          <p:nvPr/>
        </p:nvSpPr>
        <p:spPr>
          <a:xfrm>
            <a:off x="457200" y="3703320"/>
            <a:ext cx="256032" cy="256032"/>
          </a:xfrm>
          <a:prstGeom prst="roundRect">
            <a:avLst>
              <a:gd name="adj" fmla="val 14286"/>
            </a:avLst>
          </a:prstGeom>
          <a:solidFill>
            <a:srgbClr val="FFFFFF"/>
          </a:solidFill>
          <a:ln w="15875">
            <a:solidFill>
              <a:srgbClr val="1B2430"/>
            </a:solidFill>
            <a:prstDash val="solid"/>
          </a:ln>
        </p:spPr>
      </p:sp>
      <p:sp>
        <p:nvSpPr>
          <p:cNvPr id="29" name="Text 27"/>
          <p:cNvSpPr txBox="1"/>
          <p:nvPr/>
        </p:nvSpPr>
        <p:spPr>
          <a:xfrm>
            <a:off x="868680" y="3630168"/>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Scan OWASP ZAP + Dependency-Check</a:t>
            </a:r>
            <a:endParaRPr lang="en-US" sz="1250" dirty="0"/>
          </a:p>
        </p:txBody>
      </p:sp>
      <p:sp>
        <p:nvSpPr>
          <p:cNvPr id="30" name="Text 28"/>
          <p:cNvSpPr txBox="1"/>
          <p:nvPr/>
        </p:nvSpPr>
        <p:spPr>
          <a:xfrm>
            <a:off x="3886200" y="3630168"/>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Q23</a:t>
            </a:r>
            <a:endParaRPr lang="en-US" sz="1000" dirty="0"/>
          </a:p>
        </p:txBody>
      </p:sp>
      <p:sp>
        <p:nvSpPr>
          <p:cNvPr id="31" name="Shape 29"/>
          <p:cNvSpPr/>
          <p:nvPr/>
        </p:nvSpPr>
        <p:spPr>
          <a:xfrm>
            <a:off x="4663440" y="3703320"/>
            <a:ext cx="256032" cy="256032"/>
          </a:xfrm>
          <a:prstGeom prst="roundRect">
            <a:avLst>
              <a:gd name="adj" fmla="val 14286"/>
            </a:avLst>
          </a:prstGeom>
          <a:solidFill>
            <a:srgbClr val="FFFFFF"/>
          </a:solidFill>
          <a:ln w="15875">
            <a:solidFill>
              <a:srgbClr val="1B2430"/>
            </a:solidFill>
            <a:prstDash val="solid"/>
          </a:ln>
        </p:spPr>
      </p:sp>
      <p:sp>
        <p:nvSpPr>
          <p:cNvPr id="32" name="Text 30"/>
          <p:cNvSpPr txBox="1"/>
          <p:nvPr/>
        </p:nvSpPr>
        <p:spPr>
          <a:xfrm>
            <a:off x="5074920" y="3630168"/>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Tester UNE restauration de sauvegarde</a:t>
            </a:r>
            <a:endParaRPr lang="en-US" sz="1250" dirty="0"/>
          </a:p>
        </p:txBody>
      </p:sp>
      <p:sp>
        <p:nvSpPr>
          <p:cNvPr id="33" name="Text 31"/>
          <p:cNvSpPr txBox="1"/>
          <p:nvPr/>
        </p:nvSpPr>
        <p:spPr>
          <a:xfrm>
            <a:off x="8092440" y="3630168"/>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Q13</a:t>
            </a:r>
            <a:endParaRPr lang="en-US" sz="1000" dirty="0"/>
          </a:p>
        </p:txBody>
      </p:sp>
      <p:sp>
        <p:nvSpPr>
          <p:cNvPr id="34" name="Shape 32"/>
          <p:cNvSpPr/>
          <p:nvPr/>
        </p:nvSpPr>
        <p:spPr>
          <a:xfrm>
            <a:off x="457200" y="4279392"/>
            <a:ext cx="256032" cy="256032"/>
          </a:xfrm>
          <a:prstGeom prst="roundRect">
            <a:avLst>
              <a:gd name="adj" fmla="val 14286"/>
            </a:avLst>
          </a:prstGeom>
          <a:solidFill>
            <a:srgbClr val="FFFFFF"/>
          </a:solidFill>
          <a:ln w="15875">
            <a:solidFill>
              <a:srgbClr val="1B2430"/>
            </a:solidFill>
            <a:prstDash val="solid"/>
          </a:ln>
        </p:spPr>
      </p:sp>
      <p:sp>
        <p:nvSpPr>
          <p:cNvPr id="35" name="Text 33"/>
          <p:cNvSpPr txBox="1"/>
          <p:nvPr/>
        </p:nvSpPr>
        <p:spPr>
          <a:xfrm>
            <a:off x="868680" y="4206240"/>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Valider les PDF/A avec veraPDF</a:t>
            </a:r>
            <a:endParaRPr lang="en-US" sz="1250" dirty="0"/>
          </a:p>
        </p:txBody>
      </p:sp>
      <p:sp>
        <p:nvSpPr>
          <p:cNvPr id="36" name="Text 34"/>
          <p:cNvSpPr txBox="1"/>
          <p:nvPr/>
        </p:nvSpPr>
        <p:spPr>
          <a:xfrm>
            <a:off x="3886200" y="4206240"/>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Q7</a:t>
            </a:r>
            <a:endParaRPr lang="en-US" sz="1000" dirty="0"/>
          </a:p>
        </p:txBody>
      </p:sp>
      <p:sp>
        <p:nvSpPr>
          <p:cNvPr id="37" name="Shape 35"/>
          <p:cNvSpPr/>
          <p:nvPr/>
        </p:nvSpPr>
        <p:spPr>
          <a:xfrm>
            <a:off x="4663440" y="4279392"/>
            <a:ext cx="256032" cy="256032"/>
          </a:xfrm>
          <a:prstGeom prst="roundRect">
            <a:avLst>
              <a:gd name="adj" fmla="val 14286"/>
            </a:avLst>
          </a:prstGeom>
          <a:solidFill>
            <a:srgbClr val="FFFFFF"/>
          </a:solidFill>
          <a:ln w="15875">
            <a:solidFill>
              <a:srgbClr val="1B2430"/>
            </a:solidFill>
            <a:prstDash val="solid"/>
          </a:ln>
        </p:spPr>
      </p:sp>
      <p:sp>
        <p:nvSpPr>
          <p:cNvPr id="38" name="Text 36"/>
          <p:cNvSpPr txBox="1"/>
          <p:nvPr/>
        </p:nvSpPr>
        <p:spPr>
          <a:xfrm>
            <a:off x="5074920" y="4206240"/>
            <a:ext cx="30175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Vidéo de secours de la démo</a:t>
            </a:r>
            <a:endParaRPr lang="en-US" sz="1250" dirty="0"/>
          </a:p>
        </p:txBody>
      </p:sp>
      <p:sp>
        <p:nvSpPr>
          <p:cNvPr id="39" name="Text 37"/>
          <p:cNvSpPr txBox="1"/>
          <p:nvPr/>
        </p:nvSpPr>
        <p:spPr>
          <a:xfrm>
            <a:off x="8092440" y="4206240"/>
            <a:ext cx="548640" cy="411480"/>
          </a:xfrm>
          <a:prstGeom prst="rect">
            <a:avLst/>
          </a:prstGeom>
          <a:noFill/>
          <a:ln/>
        </p:spPr>
        <p:txBody>
          <a:bodyPr wrap="square" lIns="0" tIns="0" rIns="0" bIns="0" rtlCol="0" anchor="ctr"/>
          <a:lstStyle/>
          <a:p>
            <a:pPr algn="r" indent="0" marL="0">
              <a:buNone/>
            </a:pPr>
            <a:r>
              <a:rPr lang="en-US" sz="1000" b="1" dirty="0">
                <a:solidFill>
                  <a:srgbClr val="A4302A"/>
                </a:solidFill>
                <a:latin typeface="Calibri" pitchFamily="34" charset="0"/>
                <a:ea typeface="Calibri" pitchFamily="34" charset="-122"/>
                <a:cs typeface="Calibri" pitchFamily="34" charset="-120"/>
              </a:rPr>
              <a:t>Q47</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640080" y="1554480"/>
            <a:ext cx="786384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Le jury ne note pas l'absence de failles.</a:t>
            </a:r>
            <a:endParaRPr lang="en-US" sz="3000" dirty="0"/>
          </a:p>
        </p:txBody>
      </p:sp>
      <p:sp>
        <p:nvSpPr>
          <p:cNvPr id="3" name="Text 1"/>
          <p:cNvSpPr txBox="1"/>
          <p:nvPr/>
        </p:nvSpPr>
        <p:spPr>
          <a:xfrm>
            <a:off x="640080" y="2286000"/>
            <a:ext cx="7498080" cy="731520"/>
          </a:xfrm>
          <a:prstGeom prst="rect">
            <a:avLst/>
          </a:prstGeom>
          <a:noFill/>
          <a:ln/>
        </p:spPr>
        <p:txBody>
          <a:bodyPr wrap="square" lIns="0" tIns="0" rIns="0" bIns="0" rtlCol="0" anchor="t"/>
          <a:lstStyle/>
          <a:p>
            <a:pPr indent="0" marL="0">
              <a:buNone/>
            </a:pPr>
            <a:r>
              <a:rPr lang="en-US" sz="1800" i="1" dirty="0">
                <a:solidFill>
                  <a:srgbClr val="C8A04A"/>
                </a:solidFill>
                <a:latin typeface="Calibri" pitchFamily="34" charset="0"/>
                <a:ea typeface="Calibri" pitchFamily="34" charset="-122"/>
                <a:cs typeface="Calibri" pitchFamily="34" charset="-120"/>
              </a:rPr>
              <a:t>Il note la lucidité avec laquelle vous les connaissez, et la précision de votre plan pour les corriger.</a:t>
            </a:r>
            <a:endParaRPr lang="en-US" sz="1800" dirty="0"/>
          </a:p>
        </p:txBody>
      </p:sp>
      <p:sp>
        <p:nvSpPr>
          <p:cNvPr id="4" name="Shape 2"/>
          <p:cNvSpPr/>
          <p:nvPr/>
        </p:nvSpPr>
        <p:spPr>
          <a:xfrm>
            <a:off x="640080" y="3657600"/>
            <a:ext cx="640080" cy="640080"/>
          </a:xfrm>
          <a:prstGeom prst="ellipse">
            <a:avLst/>
          </a:prstGeom>
          <a:solidFill>
            <a:srgbClr val="A4302A"/>
          </a:solidFill>
          <a:ln w="19050">
            <a:solidFill>
              <a:srgbClr val="C8A04A"/>
            </a:solidFill>
            <a:prstDash val="solid"/>
          </a:ln>
        </p:spPr>
      </p:sp>
      <p:sp>
        <p:nvSpPr>
          <p:cNvPr id="5" name="Text 3"/>
          <p:cNvSpPr txBox="1"/>
          <p:nvPr/>
        </p:nvSpPr>
        <p:spPr>
          <a:xfrm>
            <a:off x="640080" y="3657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6" name="Text 4"/>
          <p:cNvSpPr txBox="1"/>
          <p:nvPr/>
        </p:nvSpPr>
        <p:spPr>
          <a:xfrm>
            <a:off x="1463040" y="3749040"/>
            <a:ext cx="6858000" cy="457200"/>
          </a:xfrm>
          <a:prstGeom prst="rect">
            <a:avLst/>
          </a:prstGeom>
          <a:noFill/>
          <a:ln/>
        </p:spPr>
        <p:txBody>
          <a:bodyPr wrap="square" lIns="0" tIns="0" rIns="0" bIns="0" rtlCol="0" anchor="ctr"/>
          <a:lstStyle/>
          <a:p>
            <a:pPr indent="0" marL="0">
              <a:buNone/>
            </a:pPr>
            <a:r>
              <a:rPr lang="en-US" sz="1400" dirty="0">
                <a:solidFill>
                  <a:srgbClr val="C9D1DB"/>
                </a:solidFill>
                <a:latin typeface="Calibri" pitchFamily="34" charset="0"/>
                <a:ea typeface="Calibri" pitchFamily="34" charset="-122"/>
                <a:cs typeface="Calibri" pitchFamily="34" charset="-120"/>
              </a:rPr>
              <a:t>Entraînez-vous à voix haute, chronométré, avec quelqu'un qui joue le jury.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MadeArchive — Préparation aux questions du jury</dc:title>
  <dc:subject>PptxGenJS Presentation</dc:subject>
  <dc:creator>PptxGenJS</dc:creator>
  <cp:lastModifiedBy>PptxGenJS</cp:lastModifiedBy>
  <cp:revision>1</cp:revision>
  <dcterms:created xsi:type="dcterms:W3CDTF">2026-09-25T16:44:27Z</dcterms:created>
  <dcterms:modified xsi:type="dcterms:W3CDTF">2026-09-25T16:44:27Z</dcterms:modified>
</cp:coreProperties>
</file>