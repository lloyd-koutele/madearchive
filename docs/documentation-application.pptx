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38835" y="738835"/>
            <a:ext cx="625450" cy="625450"/>
          </a:xfrm>
          <a:prstGeom prst="rect">
            <a:avLst/>
          </a:prstGeom>
        </p:spPr>
      </p:pic>
      <p:sp>
        <p:nvSpPr>
          <p:cNvPr id="4" name="Text 1"/>
          <p:cNvSpPr txBox="1"/>
          <p:nvPr/>
        </p:nvSpPr>
        <p:spPr>
          <a:xfrm>
            <a:off x="548640" y="2468880"/>
            <a:ext cx="100584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MadeArchive</a:t>
            </a:r>
            <a:endParaRPr lang="en-US" sz="5400" dirty="0"/>
          </a:p>
        </p:txBody>
      </p:sp>
      <p:sp>
        <p:nvSpPr>
          <p:cNvPr id="5" name="Text 2"/>
          <p:cNvSpPr txBox="1"/>
          <p:nvPr/>
        </p:nvSpPr>
        <p:spPr>
          <a:xfrm>
            <a:off x="566928" y="3520440"/>
            <a:ext cx="9144000" cy="548640"/>
          </a:xfrm>
          <a:prstGeom prst="rect">
            <a:avLst/>
          </a:prstGeom>
          <a:noFill/>
          <a:ln/>
        </p:spPr>
        <p:txBody>
          <a:bodyPr wrap="square" lIns="0" tIns="0" rIns="0" bIns="0" rtlCol="0" anchor="ctr"/>
          <a:lstStyle/>
          <a:p>
            <a:pPr indent="0" marL="0">
              <a:buNone/>
            </a:pPr>
            <a:r>
              <a:rPr lang="en-US" sz="2200" dirty="0">
                <a:solidFill>
                  <a:srgbClr val="D9AE6C"/>
                </a:solidFill>
                <a:latin typeface="Calibri" pitchFamily="34" charset="0"/>
                <a:ea typeface="Calibri" pitchFamily="34" charset="-122"/>
                <a:cs typeface="Calibri" pitchFamily="34" charset="-120"/>
              </a:rPr>
              <a:t>Documentation technique</a:t>
            </a:r>
            <a:endParaRPr lang="en-US" sz="2200" dirty="0"/>
          </a:p>
        </p:txBody>
      </p:sp>
      <p:sp>
        <p:nvSpPr>
          <p:cNvPr id="6" name="Text 3"/>
          <p:cNvSpPr txBox="1"/>
          <p:nvPr/>
        </p:nvSpPr>
        <p:spPr>
          <a:xfrm>
            <a:off x="566928" y="4114800"/>
            <a:ext cx="7863840" cy="731520"/>
          </a:xfrm>
          <a:prstGeom prst="rect">
            <a:avLst/>
          </a:prstGeom>
          <a:noFill/>
          <a:ln/>
        </p:spPr>
        <p:txBody>
          <a:bodyPr wrap="square" lIns="0" tIns="0" rIns="0" bIns="0" rtlCol="0" anchor="ctr"/>
          <a:lstStyle/>
          <a:p>
            <a:pPr indent="0" marL="0">
              <a:buNone/>
            </a:pPr>
            <a:r>
              <a:rPr lang="en-US" sz="1300" dirty="0">
                <a:solidFill>
                  <a:srgbClr val="D9C8B4"/>
                </a:solidFill>
                <a:latin typeface="Calibri" pitchFamily="34" charset="0"/>
                <a:ea typeface="Calibri" pitchFamily="34" charset="-122"/>
                <a:cs typeface="Calibri" pitchFamily="34" charset="-120"/>
              </a:rPr>
              <a:t>Fonctionnalités, justification de chaque choix, et limites connues — reflète l'état réel de l'implémentation, pas une intention.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txBox="1"/>
          <p:nvPr/>
        </p:nvSpPr>
        <p:spPr>
          <a:xfrm>
            <a:off x="1234440" y="475488"/>
            <a:ext cx="7315200" cy="640080"/>
          </a:xfrm>
          <a:prstGeom prst="rect">
            <a:avLst/>
          </a:prstGeom>
          <a:noFill/>
          <a:ln/>
        </p:spPr>
        <p:txBody>
          <a:bodyPr wrap="square" lIns="0" tIns="0" rIns="0" bIns="0" rtlCol="0" anchor="ctr"/>
          <a:lstStyle/>
          <a:p>
            <a:pPr indent="0" marL="0">
              <a:buNone/>
            </a:pPr>
            <a:r>
              <a:rPr lang="en-US" sz="3000" b="1" dirty="0">
                <a:solidFill>
                  <a:srgbClr val="2C1A0E"/>
                </a:solidFill>
                <a:latin typeface="Cambria" pitchFamily="34" charset="0"/>
                <a:ea typeface="Cambria" pitchFamily="34" charset="-122"/>
                <a:cs typeface="Cambria" pitchFamily="34" charset="-120"/>
              </a:rPr>
              <a:t>Vue d'ensemble</a:t>
            </a:r>
            <a:endParaRPr lang="en-US" sz="3000" dirty="0"/>
          </a:p>
        </p:txBody>
      </p:sp>
      <p:sp>
        <p:nvSpPr>
          <p:cNvPr id="5" name="Text 2"/>
          <p:cNvSpPr txBox="1"/>
          <p:nvPr/>
        </p:nvSpPr>
        <p:spPr>
          <a:xfrm>
            <a:off x="1280160" y="1417320"/>
            <a:ext cx="8778240" cy="2926080"/>
          </a:xfrm>
          <a:prstGeom prst="rect">
            <a:avLst/>
          </a:prstGeom>
          <a:noFill/>
          <a:ln/>
        </p:spPr>
        <p:txBody>
          <a:bodyPr wrap="square" lIns="0" tIns="0" rIns="0" bIns="0" rtlCol="0" anchor="ctr"/>
          <a:lstStyle/>
          <a:p>
            <a:pPr indent="0" marL="0">
              <a:lnSpc>
                <a:spcPct val="115000"/>
              </a:lnSpc>
              <a:spcAft>
                <a:spcPts val="1000"/>
              </a:spcAft>
              <a:buNone/>
            </a:pPr>
            <a:r>
              <a:rPr lang="en-US" sz="1600" b="1" dirty="0">
                <a:solidFill>
                  <a:srgbClr val="2C1A0E"/>
                </a:solidFill>
                <a:latin typeface="Calibri" pitchFamily="34" charset="0"/>
                <a:ea typeface="Calibri" pitchFamily="34" charset="-122"/>
                <a:cs typeface="Calibri" pitchFamily="34" charset="-120"/>
              </a:rPr>
              <a:t>Une plateforme d'archivage institutionnel à valeur probante.</a:t>
            </a:r>
            <a:endParaRPr lang="en-US" sz="1600" dirty="0"/>
          </a:p>
          <a:p>
            <a:pPr indent="0" marL="0">
              <a:lnSpc>
                <a:spcPct val="115000"/>
              </a:lnSpc>
              <a:spcAft>
                <a:spcPts val="1000"/>
              </a:spcAft>
              <a:buNone/>
            </a:pPr>
            <a:r>
              <a:rPr lang="en-US" sz="1600" dirty="0">
                <a:solidFill>
                  <a:srgbClr val="2C1A0E"/>
                </a:solidFill>
                <a:latin typeface="Calibri" pitchFamily="34" charset="0"/>
                <a:ea typeface="Calibri" pitchFamily="34" charset="-122"/>
                <a:cs typeface="Calibri" pitchFamily="34" charset="-120"/>
              </a:rPr>
              <a:t>Chaque document numérisé (facture, contrat, correspondance…) suit le même principe : prouver, des années plus tard, qu'il n'a pas été altéré depuis son archivage.</a:t>
            </a:r>
            <a:endParaRPr lang="en-US" sz="1600" dirty="0"/>
          </a:p>
          <a:p>
            <a:pPr indent="0" marL="0">
              <a:lnSpc>
                <a:spcPct val="115000"/>
              </a:lnSpc>
              <a:spcAft>
                <a:spcPts val="1000"/>
              </a:spcAft>
              <a:buNone/>
            </a:pPr>
            <a:r>
              <a:rPr lang="en-US" sz="1600" dirty="0">
                <a:solidFill>
                  <a:srgbClr val="2C1A0E"/>
                </a:solidFill>
                <a:latin typeface="Calibri" pitchFamily="34" charset="0"/>
                <a:ea typeface="Calibri" pitchFamily="34" charset="-122"/>
                <a:cs typeface="Calibri" pitchFamily="34" charset="-120"/>
              </a:rPr>
              <a:t>PostgreSQL reste la seule source de vérité — Meilisearch n'intervient que pour la recherche plein texte, MinIO ne stocke que le PDF/A final, chiffré.</a:t>
            </a:r>
            <a:endParaRPr lang="en-US" sz="1600" dirty="0"/>
          </a:p>
          <a:p>
            <a:pPr indent="0" marL="0">
              <a:lnSpc>
                <a:spcPct val="115000"/>
              </a:lnSpc>
              <a:buNone/>
            </a:pPr>
            <a:r>
              <a:rPr lang="en-US" sz="1600" dirty="0">
                <a:solidFill>
                  <a:srgbClr val="2C1A0E"/>
                </a:solidFill>
                <a:latin typeface="Calibri" pitchFamily="34" charset="0"/>
                <a:ea typeface="Calibri" pitchFamily="34" charset="-122"/>
                <a:cs typeface="Calibri" pitchFamily="34" charset="-120"/>
              </a:rPr>
              <a:t>L'organisation est hiérarchique : des Unités Organisationnelles (UO) emboîtées, chacune avec ses éditeurs, ses types de documents et ses règles d'accès public/privé.</a:t>
            </a:r>
            <a:endParaRPr lang="en-US" sz="1600" dirty="0"/>
          </a:p>
        </p:txBody>
      </p:sp>
      <p:sp>
        <p:nvSpPr>
          <p:cNvPr id="6" name="Shape 3"/>
          <p:cNvSpPr/>
          <p:nvPr/>
        </p:nvSpPr>
        <p:spPr>
          <a:xfrm>
            <a:off x="548640" y="4617720"/>
            <a:ext cx="10881360" cy="1417320"/>
          </a:xfrm>
          <a:prstGeom prst="roundRect">
            <a:avLst>
              <a:gd name="adj" fmla="val 7742"/>
            </a:avLst>
          </a:prstGeom>
          <a:solidFill>
            <a:srgbClr val="F3E9DA"/>
          </a:solidFill>
          <a:ln/>
        </p:spPr>
      </p:sp>
      <p:sp>
        <p:nvSpPr>
          <p:cNvPr id="7" name="Text 4"/>
          <p:cNvSpPr txBox="1"/>
          <p:nvPr/>
        </p:nvSpPr>
        <p:spPr>
          <a:xfrm>
            <a:off x="868680" y="4828032"/>
            <a:ext cx="3291840" cy="1005840"/>
          </a:xfrm>
          <a:prstGeom prst="rect">
            <a:avLst/>
          </a:prstGeom>
          <a:noFill/>
          <a:ln/>
        </p:spPr>
        <p:txBody>
          <a:bodyPr wrap="square" lIns="0" tIns="0" rIns="0" bIns="0" rtlCol="0" anchor="ctr"/>
          <a:lstStyle/>
          <a:p>
            <a:pPr indent="0" marL="0">
              <a:buNone/>
            </a:pPr>
            <a:r>
              <a:rPr lang="en-US" sz="1400" b="1" dirty="0">
                <a:solidFill>
                  <a:srgbClr val="2C1A0E"/>
                </a:solidFill>
                <a:latin typeface="Calibri" pitchFamily="34" charset="0"/>
                <a:ea typeface="Calibri" pitchFamily="34" charset="-122"/>
                <a:cs typeface="Calibri" pitchFamily="34" charset="-120"/>
              </a:rPr>
              <a:t>PostgreSQL</a:t>
            </a:r>
            <a:endParaRPr lang="en-US" sz="1400" dirty="0"/>
          </a:p>
          <a:p>
            <a:pPr indent="0" marL="0">
              <a:buNone/>
            </a:pPr>
            <a:r>
              <a:rPr lang="en-US" sz="1100" dirty="0">
                <a:solidFill>
                  <a:srgbClr val="7C6552"/>
                </a:solidFill>
                <a:latin typeface="Calibri" pitchFamily="34" charset="0"/>
                <a:ea typeface="Calibri" pitchFamily="34" charset="-122"/>
                <a:cs typeface="Calibri" pitchFamily="34" charset="-120"/>
              </a:rPr>
              <a:t>source de vérité</a:t>
            </a:r>
            <a:endParaRPr lang="en-US" sz="1400" dirty="0"/>
          </a:p>
        </p:txBody>
      </p:sp>
      <p:sp>
        <p:nvSpPr>
          <p:cNvPr id="8" name="Text 5"/>
          <p:cNvSpPr txBox="1"/>
          <p:nvPr/>
        </p:nvSpPr>
        <p:spPr>
          <a:xfrm>
            <a:off x="4343400" y="4828032"/>
            <a:ext cx="3291840" cy="1005840"/>
          </a:xfrm>
          <a:prstGeom prst="rect">
            <a:avLst/>
          </a:prstGeom>
          <a:noFill/>
          <a:ln/>
        </p:spPr>
        <p:txBody>
          <a:bodyPr wrap="square" lIns="0" tIns="0" rIns="0" bIns="0" rtlCol="0" anchor="ctr"/>
          <a:lstStyle/>
          <a:p>
            <a:pPr indent="0" marL="0">
              <a:buNone/>
            </a:pPr>
            <a:r>
              <a:rPr lang="en-US" sz="1400" b="1" dirty="0">
                <a:solidFill>
                  <a:srgbClr val="2C1A0E"/>
                </a:solidFill>
                <a:latin typeface="Calibri" pitchFamily="34" charset="0"/>
                <a:ea typeface="Calibri" pitchFamily="34" charset="-122"/>
                <a:cs typeface="Calibri" pitchFamily="34" charset="-120"/>
              </a:rPr>
              <a:t>Meilisearch</a:t>
            </a:r>
            <a:endParaRPr lang="en-US" sz="1400" dirty="0"/>
          </a:p>
          <a:p>
            <a:pPr indent="0" marL="0">
              <a:buNone/>
            </a:pPr>
            <a:r>
              <a:rPr lang="en-US" sz="1100" dirty="0">
                <a:solidFill>
                  <a:srgbClr val="7C6552"/>
                </a:solidFill>
                <a:latin typeface="Calibri" pitchFamily="34" charset="0"/>
                <a:ea typeface="Calibri" pitchFamily="34" charset="-122"/>
                <a:cs typeface="Calibri" pitchFamily="34" charset="-120"/>
              </a:rPr>
              <a:t>recherche plein texte uniquement</a:t>
            </a:r>
            <a:endParaRPr lang="en-US" sz="1400" dirty="0"/>
          </a:p>
        </p:txBody>
      </p:sp>
      <p:sp>
        <p:nvSpPr>
          <p:cNvPr id="9" name="Text 6"/>
          <p:cNvSpPr txBox="1"/>
          <p:nvPr/>
        </p:nvSpPr>
        <p:spPr>
          <a:xfrm>
            <a:off x="7818120" y="4828032"/>
            <a:ext cx="3291840" cy="1005840"/>
          </a:xfrm>
          <a:prstGeom prst="rect">
            <a:avLst/>
          </a:prstGeom>
          <a:noFill/>
          <a:ln/>
        </p:spPr>
        <p:txBody>
          <a:bodyPr wrap="square" lIns="0" tIns="0" rIns="0" bIns="0" rtlCol="0" anchor="ctr"/>
          <a:lstStyle/>
          <a:p>
            <a:pPr indent="0" marL="0">
              <a:buNone/>
            </a:pPr>
            <a:r>
              <a:rPr lang="en-US" sz="1400" b="1" dirty="0">
                <a:solidFill>
                  <a:srgbClr val="2C1A0E"/>
                </a:solidFill>
                <a:latin typeface="Calibri" pitchFamily="34" charset="0"/>
                <a:ea typeface="Calibri" pitchFamily="34" charset="-122"/>
                <a:cs typeface="Calibri" pitchFamily="34" charset="-120"/>
              </a:rPr>
              <a:t>MinIO</a:t>
            </a:r>
            <a:endParaRPr lang="en-US" sz="1400" dirty="0"/>
          </a:p>
          <a:p>
            <a:pPr indent="0" marL="0">
              <a:buNone/>
            </a:pPr>
            <a:r>
              <a:rPr lang="en-US" sz="1100" dirty="0">
                <a:solidFill>
                  <a:srgbClr val="7C6552"/>
                </a:solidFill>
                <a:latin typeface="Calibri" pitchFamily="34" charset="0"/>
                <a:ea typeface="Calibri" pitchFamily="34" charset="-122"/>
                <a:cs typeface="Calibri" pitchFamily="34" charset="-120"/>
              </a:rPr>
              <a:t>PDF/A final, chiffré, seul fichier conservé</a:t>
            </a:r>
            <a:endParaRPr lang="en-US" sz="140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txBox="1"/>
          <p:nvPr/>
        </p:nvSpPr>
        <p:spPr>
          <a:xfrm>
            <a:off x="1234440" y="475488"/>
            <a:ext cx="8229600" cy="640080"/>
          </a:xfrm>
          <a:prstGeom prst="rect">
            <a:avLst/>
          </a:prstGeom>
          <a:noFill/>
          <a:ln/>
        </p:spPr>
        <p:txBody>
          <a:bodyPr wrap="square" lIns="0" tIns="0" rIns="0" bIns="0" rtlCol="0" anchor="ctr"/>
          <a:lstStyle/>
          <a:p>
            <a:pPr indent="0" marL="0">
              <a:buNone/>
            </a:pPr>
            <a:r>
              <a:rPr lang="en-US" sz="3000" b="1" dirty="0">
                <a:solidFill>
                  <a:srgbClr val="2C1A0E"/>
                </a:solidFill>
                <a:latin typeface="Cambria" pitchFamily="34" charset="0"/>
                <a:ea typeface="Cambria" pitchFamily="34" charset="-122"/>
                <a:cs typeface="Cambria" pitchFamily="34" charset="-120"/>
              </a:rPr>
              <a:t>Rôles &amp; permissions</a:t>
            </a:r>
            <a:endParaRPr lang="en-US" sz="3000" dirty="0"/>
          </a:p>
        </p:txBody>
      </p:sp>
      <p:sp>
        <p:nvSpPr>
          <p:cNvPr id="5" name="Text 2"/>
          <p:cNvSpPr txBox="1"/>
          <p:nvPr/>
        </p:nvSpPr>
        <p:spPr>
          <a:xfrm>
            <a:off x="1280160" y="1170432"/>
            <a:ext cx="9692640" cy="502920"/>
          </a:xfrm>
          <a:prstGeom prst="rect">
            <a:avLst/>
          </a:prstGeom>
          <a:noFill/>
          <a:ln/>
        </p:spPr>
        <p:txBody>
          <a:bodyPr wrap="square" lIns="0" tIns="0" rIns="0" bIns="0" rtlCol="0" anchor="ctr"/>
          <a:lstStyle/>
          <a:p>
            <a:pPr indent="0" marL="0">
              <a:buNone/>
            </a:pPr>
            <a:r>
              <a:rPr lang="en-US" sz="1350" dirty="0">
                <a:solidFill>
                  <a:srgbClr val="7C6552"/>
                </a:solidFill>
                <a:latin typeface="Calibri" pitchFamily="34" charset="0"/>
                <a:ea typeface="Calibri" pitchFamily="34" charset="-122"/>
                <a:cs typeface="Calibri" pitchFamily="34" charset="-120"/>
              </a:rPr>
              <a:t>Quatre rôles, hérités en cascade — ADMIN ⊃ ADMIN_UO ⊃ EDITOR ⊃ USER. Un rôle supérieur hérite automatiquement de tous les droits des rôles inférieurs.</a:t>
            </a:r>
            <a:endParaRPr lang="en-US" sz="1350" dirty="0"/>
          </a:p>
        </p:txBody>
      </p:sp>
      <p:sp>
        <p:nvSpPr>
          <p:cNvPr id="6" name="Shape 3"/>
          <p:cNvSpPr/>
          <p:nvPr/>
        </p:nvSpPr>
        <p:spPr>
          <a:xfrm>
            <a:off x="548640" y="1874520"/>
            <a:ext cx="5394960" cy="1783080"/>
          </a:xfrm>
          <a:prstGeom prst="roundRect">
            <a:avLst>
              <a:gd name="adj" fmla="val 5128"/>
            </a:avLst>
          </a:prstGeom>
          <a:solidFill>
            <a:srgbClr val="F3E9DA"/>
          </a:solidFill>
          <a:ln/>
        </p:spPr>
      </p:sp>
      <p:sp>
        <p:nvSpPr>
          <p:cNvPr id="7" name="Text 4"/>
          <p:cNvSpPr txBox="1"/>
          <p:nvPr/>
        </p:nvSpPr>
        <p:spPr>
          <a:xfrm>
            <a:off x="868680" y="2075688"/>
            <a:ext cx="4754880" cy="365760"/>
          </a:xfrm>
          <a:prstGeom prst="rect">
            <a:avLst/>
          </a:prstGeom>
          <a:noFill/>
          <a:ln/>
        </p:spPr>
        <p:txBody>
          <a:bodyPr wrap="square" lIns="0" tIns="0" rIns="0" bIns="0" rtlCol="0" anchor="ctr"/>
          <a:lstStyle/>
          <a:p>
            <a:pPr indent="0" marL="0">
              <a:buNone/>
            </a:pPr>
            <a:r>
              <a:rPr lang="en-US" sz="1500" b="1" dirty="0">
                <a:solidFill>
                  <a:srgbClr val="B5813F"/>
                </a:solidFill>
                <a:latin typeface="Courier New" pitchFamily="34" charset="0"/>
                <a:ea typeface="Courier New" pitchFamily="34" charset="-122"/>
                <a:cs typeface="Courier New" pitchFamily="34" charset="-120"/>
              </a:rPr>
              <a:t>ADMIN</a:t>
            </a:r>
            <a:endParaRPr lang="en-US" sz="1500" dirty="0"/>
          </a:p>
        </p:txBody>
      </p:sp>
      <p:sp>
        <p:nvSpPr>
          <p:cNvPr id="8" name="Text 5"/>
          <p:cNvSpPr txBox="1"/>
          <p:nvPr/>
        </p:nvSpPr>
        <p:spPr>
          <a:xfrm>
            <a:off x="868680" y="2496312"/>
            <a:ext cx="4754880" cy="1051560"/>
          </a:xfrm>
          <a:prstGeom prst="rect">
            <a:avLst/>
          </a:prstGeom>
          <a:noFill/>
          <a:ln/>
        </p:spPr>
        <p:txBody>
          <a:bodyPr wrap="square" lIns="0" tIns="0" rIns="0" bIns="0" rtlCol="0" anchor="ctr"/>
          <a:lstStyle/>
          <a:p>
            <a:pPr indent="0" marL="0">
              <a:lnSpc>
                <a:spcPct val="112000"/>
              </a:lnSpc>
              <a:buNone/>
            </a:pPr>
            <a:r>
              <a:rPr lang="en-US" sz="1200" dirty="0">
                <a:solidFill>
                  <a:srgbClr val="2C1A0E"/>
                </a:solidFill>
                <a:latin typeface="Calibri" pitchFamily="34" charset="0"/>
                <a:ea typeface="Calibri" pitchFamily="34" charset="-122"/>
                <a:cs typeface="Calibri" pitchFamily="34" charset="-120"/>
              </a:rPr>
              <a:t>Autorité sur toute l'organisation, toutes UO confondues. Seul rôle à voir un document privé dont il n'est pas membre (export). Gère les UO racines.</a:t>
            </a:r>
            <a:endParaRPr lang="en-US" sz="1200" dirty="0"/>
          </a:p>
        </p:txBody>
      </p:sp>
      <p:sp>
        <p:nvSpPr>
          <p:cNvPr id="9" name="Shape 6"/>
          <p:cNvSpPr/>
          <p:nvPr/>
        </p:nvSpPr>
        <p:spPr>
          <a:xfrm>
            <a:off x="6035040" y="1874520"/>
            <a:ext cx="5394960" cy="1783080"/>
          </a:xfrm>
          <a:prstGeom prst="roundRect">
            <a:avLst>
              <a:gd name="adj" fmla="val 5128"/>
            </a:avLst>
          </a:prstGeom>
          <a:solidFill>
            <a:srgbClr val="F3E9DA"/>
          </a:solidFill>
          <a:ln/>
        </p:spPr>
      </p:sp>
      <p:sp>
        <p:nvSpPr>
          <p:cNvPr id="10" name="Text 7"/>
          <p:cNvSpPr txBox="1"/>
          <p:nvPr/>
        </p:nvSpPr>
        <p:spPr>
          <a:xfrm>
            <a:off x="6355080" y="2075688"/>
            <a:ext cx="4754880" cy="365760"/>
          </a:xfrm>
          <a:prstGeom prst="rect">
            <a:avLst/>
          </a:prstGeom>
          <a:noFill/>
          <a:ln/>
        </p:spPr>
        <p:txBody>
          <a:bodyPr wrap="square" lIns="0" tIns="0" rIns="0" bIns="0" rtlCol="0" anchor="ctr"/>
          <a:lstStyle/>
          <a:p>
            <a:pPr indent="0" marL="0">
              <a:buNone/>
            </a:pPr>
            <a:r>
              <a:rPr lang="en-US" sz="1500" b="1" dirty="0">
                <a:solidFill>
                  <a:srgbClr val="B5813F"/>
                </a:solidFill>
                <a:latin typeface="Courier New" pitchFamily="34" charset="0"/>
                <a:ea typeface="Courier New" pitchFamily="34" charset="-122"/>
                <a:cs typeface="Courier New" pitchFamily="34" charset="-120"/>
              </a:rPr>
              <a:t>ADMIN_UO</a:t>
            </a:r>
            <a:endParaRPr lang="en-US" sz="1500" dirty="0"/>
          </a:p>
        </p:txBody>
      </p:sp>
      <p:sp>
        <p:nvSpPr>
          <p:cNvPr id="11" name="Text 8"/>
          <p:cNvSpPr txBox="1"/>
          <p:nvPr/>
        </p:nvSpPr>
        <p:spPr>
          <a:xfrm>
            <a:off x="6355080" y="2496312"/>
            <a:ext cx="4754880" cy="1051560"/>
          </a:xfrm>
          <a:prstGeom prst="rect">
            <a:avLst/>
          </a:prstGeom>
          <a:noFill/>
          <a:ln/>
        </p:spPr>
        <p:txBody>
          <a:bodyPr wrap="square" lIns="0" tIns="0" rIns="0" bIns="0" rtlCol="0" anchor="ctr"/>
          <a:lstStyle/>
          <a:p>
            <a:pPr indent="0" marL="0">
              <a:lnSpc>
                <a:spcPct val="112000"/>
              </a:lnSpc>
              <a:buNone/>
            </a:pPr>
            <a:r>
              <a:rPr lang="en-US" sz="1200" dirty="0">
                <a:solidFill>
                  <a:srgbClr val="2C1A0E"/>
                </a:solidFill>
                <a:latin typeface="Calibri" pitchFamily="34" charset="0"/>
                <a:ea typeface="Calibri" pitchFamily="34" charset="-122"/>
                <a:cs typeface="Calibri" pitchFamily="34" charset="-120"/>
              </a:rPr>
              <a:t>Autorité restreinte à son UO et ses UO descendantes — membres, emplacements physiques, audit et corbeille sur son périmètre.</a:t>
            </a:r>
            <a:endParaRPr lang="en-US" sz="1200" dirty="0"/>
          </a:p>
        </p:txBody>
      </p:sp>
      <p:sp>
        <p:nvSpPr>
          <p:cNvPr id="12" name="Shape 9"/>
          <p:cNvSpPr/>
          <p:nvPr/>
        </p:nvSpPr>
        <p:spPr>
          <a:xfrm>
            <a:off x="548640" y="3794760"/>
            <a:ext cx="5394960" cy="1783080"/>
          </a:xfrm>
          <a:prstGeom prst="roundRect">
            <a:avLst>
              <a:gd name="adj" fmla="val 5128"/>
            </a:avLst>
          </a:prstGeom>
          <a:solidFill>
            <a:srgbClr val="F3E9DA"/>
          </a:solidFill>
          <a:ln/>
        </p:spPr>
      </p:sp>
      <p:sp>
        <p:nvSpPr>
          <p:cNvPr id="13" name="Text 10"/>
          <p:cNvSpPr txBox="1"/>
          <p:nvPr/>
        </p:nvSpPr>
        <p:spPr>
          <a:xfrm>
            <a:off x="868680" y="3995928"/>
            <a:ext cx="4754880" cy="365760"/>
          </a:xfrm>
          <a:prstGeom prst="rect">
            <a:avLst/>
          </a:prstGeom>
          <a:noFill/>
          <a:ln/>
        </p:spPr>
        <p:txBody>
          <a:bodyPr wrap="square" lIns="0" tIns="0" rIns="0" bIns="0" rtlCol="0" anchor="ctr"/>
          <a:lstStyle/>
          <a:p>
            <a:pPr indent="0" marL="0">
              <a:buNone/>
            </a:pPr>
            <a:r>
              <a:rPr lang="en-US" sz="1500" b="1" dirty="0">
                <a:solidFill>
                  <a:srgbClr val="B5813F"/>
                </a:solidFill>
                <a:latin typeface="Courier New" pitchFamily="34" charset="0"/>
                <a:ea typeface="Courier New" pitchFamily="34" charset="-122"/>
                <a:cs typeface="Courier New" pitchFamily="34" charset="-120"/>
              </a:rPr>
              <a:t>EDITOR</a:t>
            </a:r>
            <a:endParaRPr lang="en-US" sz="1500" dirty="0"/>
          </a:p>
        </p:txBody>
      </p:sp>
      <p:sp>
        <p:nvSpPr>
          <p:cNvPr id="14" name="Text 11"/>
          <p:cNvSpPr txBox="1"/>
          <p:nvPr/>
        </p:nvSpPr>
        <p:spPr>
          <a:xfrm>
            <a:off x="868680" y="4416552"/>
            <a:ext cx="4754880" cy="1051560"/>
          </a:xfrm>
          <a:prstGeom prst="rect">
            <a:avLst/>
          </a:prstGeom>
          <a:noFill/>
          <a:ln/>
        </p:spPr>
        <p:txBody>
          <a:bodyPr wrap="square" lIns="0" tIns="0" rIns="0" bIns="0" rtlCol="0" anchor="ctr"/>
          <a:lstStyle/>
          <a:p>
            <a:pPr indent="0" marL="0">
              <a:lnSpc>
                <a:spcPct val="112000"/>
              </a:lnSpc>
              <a:buNone/>
            </a:pPr>
            <a:r>
              <a:rPr lang="en-US" sz="1200" dirty="0">
                <a:solidFill>
                  <a:srgbClr val="2C1A0E"/>
                </a:solidFill>
                <a:latin typeface="Calibri" pitchFamily="34" charset="0"/>
                <a:ea typeface="Calibri" pitchFamily="34" charset="-122"/>
                <a:cs typeface="Calibri" pitchFamily="34" charset="-120"/>
              </a:rPr>
              <a:t>Seul rôle habilité à archiver — nécessite une clé PKI active. Gère ses documents, ses projets, et leur confidentialité.</a:t>
            </a:r>
            <a:endParaRPr lang="en-US" sz="1200" dirty="0"/>
          </a:p>
        </p:txBody>
      </p:sp>
      <p:sp>
        <p:nvSpPr>
          <p:cNvPr id="15" name="Shape 12"/>
          <p:cNvSpPr/>
          <p:nvPr/>
        </p:nvSpPr>
        <p:spPr>
          <a:xfrm>
            <a:off x="6035040" y="3794760"/>
            <a:ext cx="5394960" cy="1783080"/>
          </a:xfrm>
          <a:prstGeom prst="roundRect">
            <a:avLst>
              <a:gd name="adj" fmla="val 5128"/>
            </a:avLst>
          </a:prstGeom>
          <a:solidFill>
            <a:srgbClr val="F3E9DA"/>
          </a:solidFill>
          <a:ln/>
        </p:spPr>
      </p:sp>
      <p:sp>
        <p:nvSpPr>
          <p:cNvPr id="16" name="Text 13"/>
          <p:cNvSpPr txBox="1"/>
          <p:nvPr/>
        </p:nvSpPr>
        <p:spPr>
          <a:xfrm>
            <a:off x="6355080" y="3995928"/>
            <a:ext cx="4754880" cy="365760"/>
          </a:xfrm>
          <a:prstGeom prst="rect">
            <a:avLst/>
          </a:prstGeom>
          <a:noFill/>
          <a:ln/>
        </p:spPr>
        <p:txBody>
          <a:bodyPr wrap="square" lIns="0" tIns="0" rIns="0" bIns="0" rtlCol="0" anchor="ctr"/>
          <a:lstStyle/>
          <a:p>
            <a:pPr indent="0" marL="0">
              <a:buNone/>
            </a:pPr>
            <a:r>
              <a:rPr lang="en-US" sz="1500" b="1" dirty="0">
                <a:solidFill>
                  <a:srgbClr val="B5813F"/>
                </a:solidFill>
                <a:latin typeface="Courier New" pitchFamily="34" charset="0"/>
                <a:ea typeface="Courier New" pitchFamily="34" charset="-122"/>
                <a:cs typeface="Courier New" pitchFamily="34" charset="-120"/>
              </a:rPr>
              <a:t>USER</a:t>
            </a:r>
            <a:endParaRPr lang="en-US" sz="1500" dirty="0"/>
          </a:p>
        </p:txBody>
      </p:sp>
      <p:sp>
        <p:nvSpPr>
          <p:cNvPr id="17" name="Text 14"/>
          <p:cNvSpPr txBox="1"/>
          <p:nvPr/>
        </p:nvSpPr>
        <p:spPr>
          <a:xfrm>
            <a:off x="6355080" y="4416552"/>
            <a:ext cx="4754880" cy="1051560"/>
          </a:xfrm>
          <a:prstGeom prst="rect">
            <a:avLst/>
          </a:prstGeom>
          <a:noFill/>
          <a:ln/>
        </p:spPr>
        <p:txBody>
          <a:bodyPr wrap="square" lIns="0" tIns="0" rIns="0" bIns="0" rtlCol="0" anchor="ctr"/>
          <a:lstStyle/>
          <a:p>
            <a:pPr indent="0" marL="0">
              <a:lnSpc>
                <a:spcPct val="112000"/>
              </a:lnSpc>
              <a:buNone/>
            </a:pPr>
            <a:r>
              <a:rPr lang="en-US" sz="1200" dirty="0">
                <a:solidFill>
                  <a:srgbClr val="2C1A0E"/>
                </a:solidFill>
                <a:latin typeface="Calibri" pitchFamily="34" charset="0"/>
                <a:ea typeface="Calibri" pitchFamily="34" charset="-122"/>
                <a:cs typeface="Calibri" pitchFamily="34" charset="-120"/>
              </a:rPr>
              <a:t>Le plancher de la hiérarchie — consultation des documents publics de son UO, ou privés s'il est membre du groupe d'accès.</a:t>
            </a:r>
            <a:endParaRPr lang="en-US" sz="1200" dirty="0"/>
          </a:p>
        </p:txBody>
      </p:sp>
      <p:sp>
        <p:nvSpPr>
          <p:cNvPr id="18" name="Text 15"/>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9" name="Text 16"/>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txBox="1"/>
          <p:nvPr/>
        </p:nvSpPr>
        <p:spPr>
          <a:xfrm>
            <a:off x="1234440" y="475488"/>
            <a:ext cx="9144000" cy="640080"/>
          </a:xfrm>
          <a:prstGeom prst="rect">
            <a:avLst/>
          </a:prstGeom>
          <a:noFill/>
          <a:ln/>
        </p:spPr>
        <p:txBody>
          <a:bodyPr wrap="square" lIns="0" tIns="0" rIns="0" bIns="0" rtlCol="0" anchor="ctr"/>
          <a:lstStyle/>
          <a:p>
            <a:pPr indent="0" marL="0">
              <a:buNone/>
            </a:pPr>
            <a:r>
              <a:rPr lang="en-US" sz="3000" b="1" dirty="0">
                <a:solidFill>
                  <a:srgbClr val="2C1A0E"/>
                </a:solidFill>
                <a:latin typeface="Cambria" pitchFamily="34" charset="0"/>
                <a:ea typeface="Cambria" pitchFamily="34" charset="-122"/>
                <a:cs typeface="Cambria" pitchFamily="34" charset="-120"/>
              </a:rPr>
              <a:t>Cycle de vie d'un document</a:t>
            </a:r>
            <a:endParaRPr lang="en-US" sz="3000" dirty="0"/>
          </a:p>
        </p:txBody>
      </p:sp>
      <p:sp>
        <p:nvSpPr>
          <p:cNvPr id="5" name="Text 2"/>
          <p:cNvSpPr txBox="1"/>
          <p:nvPr/>
        </p:nvSpPr>
        <p:spPr>
          <a:xfrm>
            <a:off x="1280160" y="1170432"/>
            <a:ext cx="9692640" cy="411480"/>
          </a:xfrm>
          <a:prstGeom prst="rect">
            <a:avLst/>
          </a:prstGeom>
          <a:noFill/>
          <a:ln/>
        </p:spPr>
        <p:txBody>
          <a:bodyPr wrap="square" lIns="0" tIns="0" rIns="0" bIns="0" rtlCol="0" anchor="ctr"/>
          <a:lstStyle/>
          <a:p>
            <a:pPr indent="0" marL="0">
              <a:buNone/>
            </a:pPr>
            <a:r>
              <a:rPr lang="en-US" sz="1350" dirty="0">
                <a:solidFill>
                  <a:srgbClr val="7C6552"/>
                </a:solidFill>
                <a:latin typeface="Calibri" pitchFamily="34" charset="0"/>
                <a:ea typeface="Calibri" pitchFamily="34" charset="-122"/>
                <a:cs typeface="Calibri" pitchFamily="34" charset="-120"/>
              </a:rPr>
              <a:t>Six statuts possibles : PENDING → ACTIVE / ACTIVE_WARNING → CORRUPTED → CORBEILLE → DELETED.</a:t>
            </a:r>
            <a:endParaRPr lang="en-US" sz="1350" dirty="0"/>
          </a:p>
        </p:txBody>
      </p:sp>
      <p:sp>
        <p:nvSpPr>
          <p:cNvPr id="6" name="Shape 3"/>
          <p:cNvSpPr/>
          <p:nvPr/>
        </p:nvSpPr>
        <p:spPr>
          <a:xfrm>
            <a:off x="548640" y="2788920"/>
            <a:ext cx="1755648" cy="1554480"/>
          </a:xfrm>
          <a:prstGeom prst="roundRect">
            <a:avLst>
              <a:gd name="adj" fmla="val 4706"/>
            </a:avLst>
          </a:prstGeom>
          <a:solidFill>
            <a:srgbClr val="F3E9DA"/>
          </a:solidFill>
          <a:ln/>
        </p:spPr>
      </p:sp>
      <p:sp>
        <p:nvSpPr>
          <p:cNvPr id="7" name="Text 4"/>
          <p:cNvSpPr txBox="1"/>
          <p:nvPr/>
        </p:nvSpPr>
        <p:spPr>
          <a:xfrm>
            <a:off x="685800"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1</a:t>
            </a:r>
            <a:endParaRPr lang="en-US" sz="2000" dirty="0"/>
          </a:p>
        </p:txBody>
      </p:sp>
      <p:sp>
        <p:nvSpPr>
          <p:cNvPr id="8" name="Text 5"/>
          <p:cNvSpPr txBox="1"/>
          <p:nvPr/>
        </p:nvSpPr>
        <p:spPr>
          <a:xfrm>
            <a:off x="685800" y="3355848"/>
            <a:ext cx="1481328" cy="594360"/>
          </a:xfrm>
          <a:prstGeom prst="rect">
            <a:avLst/>
          </a:prstGeom>
          <a:noFill/>
          <a:ln/>
        </p:spPr>
        <p:txBody>
          <a:bodyPr wrap="square" lIns="0" tIns="0" rIns="0" bIns="0" rtlCol="0" anchor="ctr"/>
          <a:lstStyle/>
          <a:p>
            <a:pPr indent="0" marL="0">
              <a:lnSpc>
                <a:spcPct val="105000"/>
              </a:lnSpc>
              <a:buNone/>
            </a:pPr>
            <a:r>
              <a:rPr lang="en-US" sz="1250" b="1" dirty="0">
                <a:solidFill>
                  <a:srgbClr val="2C1A0E"/>
                </a:solidFill>
                <a:latin typeface="Calibri" pitchFamily="34" charset="0"/>
                <a:ea typeface="Calibri" pitchFamily="34" charset="-122"/>
                <a:cs typeface="Calibri" pitchFamily="34" charset="-120"/>
              </a:rPr>
              <a:t>Upload</a:t>
            </a:r>
            <a:endParaRPr lang="en-US" sz="1250" dirty="0"/>
          </a:p>
        </p:txBody>
      </p:sp>
      <p:sp>
        <p:nvSpPr>
          <p:cNvPr id="9" name="Text 6"/>
          <p:cNvSpPr txBox="1"/>
          <p:nvPr/>
        </p:nvSpPr>
        <p:spPr>
          <a:xfrm>
            <a:off x="685800" y="3886200"/>
            <a:ext cx="1481328" cy="384048"/>
          </a:xfrm>
          <a:prstGeom prst="rect">
            <a:avLst/>
          </a:prstGeom>
          <a:noFill/>
          <a:ln/>
        </p:spPr>
        <p:txBody>
          <a:bodyPr wrap="square" lIns="0" tIns="0" rIns="0" bIns="0" rtlCol="0" anchor="ctr"/>
          <a:lstStyle/>
          <a:p>
            <a:pPr indent="0" marL="0">
              <a:buNone/>
            </a:pPr>
            <a:r>
              <a:rPr lang="en-US" sz="950" dirty="0">
                <a:solidFill>
                  <a:srgbClr val="7C6552"/>
                </a:solidFill>
                <a:latin typeface="Calibri" pitchFamily="34" charset="0"/>
                <a:ea typeface="Calibri" pitchFamily="34" charset="-122"/>
                <a:cs typeface="Calibri" pitchFamily="34" charset="-120"/>
              </a:rPr>
              <a:t>docx, odt, jpg, pdf…</a:t>
            </a:r>
            <a:endParaRPr lang="en-US" sz="950" dirty="0"/>
          </a:p>
        </p:txBody>
      </p:sp>
      <p:sp>
        <p:nvSpPr>
          <p:cNvPr id="10" name="Text 7"/>
          <p:cNvSpPr txBox="1"/>
          <p:nvPr/>
        </p:nvSpPr>
        <p:spPr>
          <a:xfrm>
            <a:off x="2286000" y="3364992"/>
            <a:ext cx="397764" cy="365760"/>
          </a:xfrm>
          <a:prstGeom prst="rect">
            <a:avLst/>
          </a:prstGeom>
          <a:noFill/>
          <a:ln/>
        </p:spPr>
        <p:txBody>
          <a:bodyPr wrap="square" lIns="0" tIns="0" rIns="0" bIns="0" rtlCol="0" anchor="ctr"/>
          <a:lstStyle/>
          <a:p>
            <a:pPr algn="ctr" indent="0" marL="0">
              <a:buNone/>
            </a:pPr>
            <a:r>
              <a:rPr lang="en-US" sz="1600" dirty="0">
                <a:solidFill>
                  <a:srgbClr val="7C6552"/>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2427732" y="2788920"/>
            <a:ext cx="1755648" cy="1554480"/>
          </a:xfrm>
          <a:prstGeom prst="roundRect">
            <a:avLst>
              <a:gd name="adj" fmla="val 4706"/>
            </a:avLst>
          </a:prstGeom>
          <a:solidFill>
            <a:srgbClr val="F3E9DA"/>
          </a:solidFill>
          <a:ln/>
        </p:spPr>
      </p:sp>
      <p:sp>
        <p:nvSpPr>
          <p:cNvPr id="12" name="Text 9"/>
          <p:cNvSpPr txBox="1"/>
          <p:nvPr/>
        </p:nvSpPr>
        <p:spPr>
          <a:xfrm>
            <a:off x="2564892"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2</a:t>
            </a:r>
            <a:endParaRPr lang="en-US" sz="2000" dirty="0"/>
          </a:p>
        </p:txBody>
      </p:sp>
      <p:sp>
        <p:nvSpPr>
          <p:cNvPr id="13" name="Text 10"/>
          <p:cNvSpPr txBox="1"/>
          <p:nvPr/>
        </p:nvSpPr>
        <p:spPr>
          <a:xfrm>
            <a:off x="2564892" y="3355848"/>
            <a:ext cx="1481328" cy="594360"/>
          </a:xfrm>
          <a:prstGeom prst="rect">
            <a:avLst/>
          </a:prstGeom>
          <a:noFill/>
          <a:ln/>
        </p:spPr>
        <p:txBody>
          <a:bodyPr wrap="square" lIns="0" tIns="0" rIns="0" bIns="0" rtlCol="0" anchor="ctr"/>
          <a:lstStyle/>
          <a:p>
            <a:pPr indent="0" marL="0">
              <a:lnSpc>
                <a:spcPct val="105000"/>
              </a:lnSpc>
              <a:buNone/>
            </a:pPr>
            <a:r>
              <a:rPr lang="en-US" sz="1250" b="1" dirty="0">
                <a:solidFill>
                  <a:srgbClr val="2C1A0E"/>
                </a:solidFill>
                <a:latin typeface="Calibri" pitchFamily="34" charset="0"/>
                <a:ea typeface="Calibri" pitchFamily="34" charset="-122"/>
                <a:cs typeface="Calibri" pitchFamily="34" charset="-120"/>
              </a:rPr>
              <a:t>OCR + suggestions</a:t>
            </a:r>
            <a:endParaRPr lang="en-US" sz="1250" dirty="0"/>
          </a:p>
        </p:txBody>
      </p:sp>
      <p:sp>
        <p:nvSpPr>
          <p:cNvPr id="14" name="Text 11"/>
          <p:cNvSpPr txBox="1"/>
          <p:nvPr/>
        </p:nvSpPr>
        <p:spPr>
          <a:xfrm>
            <a:off x="2564892" y="3886200"/>
            <a:ext cx="1481328" cy="384048"/>
          </a:xfrm>
          <a:prstGeom prst="rect">
            <a:avLst/>
          </a:prstGeom>
          <a:noFill/>
          <a:ln/>
        </p:spPr>
        <p:txBody>
          <a:bodyPr wrap="square" lIns="0" tIns="0" rIns="0" bIns="0" rtlCol="0" anchor="ctr"/>
          <a:lstStyle/>
          <a:p>
            <a:pPr indent="0" marL="0">
              <a:buNone/>
            </a:pPr>
            <a:r>
              <a:rPr lang="en-US" sz="950" dirty="0">
                <a:solidFill>
                  <a:srgbClr val="7C6552"/>
                </a:solidFill>
                <a:latin typeface="Calibri" pitchFamily="34" charset="0"/>
                <a:ea typeface="Calibri" pitchFamily="34" charset="-122"/>
                <a:cs typeface="Calibri" pitchFamily="34" charset="-120"/>
              </a:rPr>
              <a:t>métadonnées pré-remplies</a:t>
            </a:r>
            <a:endParaRPr lang="en-US" sz="950" dirty="0"/>
          </a:p>
        </p:txBody>
      </p:sp>
      <p:sp>
        <p:nvSpPr>
          <p:cNvPr id="15" name="Text 12"/>
          <p:cNvSpPr txBox="1"/>
          <p:nvPr/>
        </p:nvSpPr>
        <p:spPr>
          <a:xfrm>
            <a:off x="4165092" y="3364992"/>
            <a:ext cx="397764" cy="365760"/>
          </a:xfrm>
          <a:prstGeom prst="rect">
            <a:avLst/>
          </a:prstGeom>
          <a:noFill/>
          <a:ln/>
        </p:spPr>
        <p:txBody>
          <a:bodyPr wrap="square" lIns="0" tIns="0" rIns="0" bIns="0" rtlCol="0" anchor="ctr"/>
          <a:lstStyle/>
          <a:p>
            <a:pPr algn="ctr" indent="0" marL="0">
              <a:buNone/>
            </a:pPr>
            <a:r>
              <a:rPr lang="en-US" sz="1600" dirty="0">
                <a:solidFill>
                  <a:srgbClr val="7C6552"/>
                </a:solidFill>
                <a:latin typeface="Calibri" pitchFamily="34" charset="0"/>
                <a:ea typeface="Calibri" pitchFamily="34" charset="-122"/>
                <a:cs typeface="Calibri" pitchFamily="34" charset="-120"/>
              </a:rPr>
              <a:t>→</a:t>
            </a:r>
            <a:endParaRPr lang="en-US" sz="1600" dirty="0"/>
          </a:p>
        </p:txBody>
      </p:sp>
      <p:sp>
        <p:nvSpPr>
          <p:cNvPr id="16" name="Shape 13"/>
          <p:cNvSpPr/>
          <p:nvPr/>
        </p:nvSpPr>
        <p:spPr>
          <a:xfrm>
            <a:off x="4306824" y="2788920"/>
            <a:ext cx="1755648" cy="1554480"/>
          </a:xfrm>
          <a:prstGeom prst="roundRect">
            <a:avLst>
              <a:gd name="adj" fmla="val 4706"/>
            </a:avLst>
          </a:prstGeom>
          <a:solidFill>
            <a:srgbClr val="F3E9DA"/>
          </a:solidFill>
          <a:ln/>
        </p:spPr>
      </p:sp>
      <p:sp>
        <p:nvSpPr>
          <p:cNvPr id="17" name="Text 14"/>
          <p:cNvSpPr txBox="1"/>
          <p:nvPr/>
        </p:nvSpPr>
        <p:spPr>
          <a:xfrm>
            <a:off x="4443984"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3</a:t>
            </a:r>
            <a:endParaRPr lang="en-US" sz="2000" dirty="0"/>
          </a:p>
        </p:txBody>
      </p:sp>
      <p:sp>
        <p:nvSpPr>
          <p:cNvPr id="18" name="Text 15"/>
          <p:cNvSpPr txBox="1"/>
          <p:nvPr/>
        </p:nvSpPr>
        <p:spPr>
          <a:xfrm>
            <a:off x="4443984" y="3355848"/>
            <a:ext cx="1481328" cy="594360"/>
          </a:xfrm>
          <a:prstGeom prst="rect">
            <a:avLst/>
          </a:prstGeom>
          <a:noFill/>
          <a:ln/>
        </p:spPr>
        <p:txBody>
          <a:bodyPr wrap="square" lIns="0" tIns="0" rIns="0" bIns="0" rtlCol="0" anchor="ctr"/>
          <a:lstStyle/>
          <a:p>
            <a:pPr indent="0" marL="0">
              <a:lnSpc>
                <a:spcPct val="105000"/>
              </a:lnSpc>
              <a:buNone/>
            </a:pPr>
            <a:r>
              <a:rPr lang="en-US" sz="1250" b="1" dirty="0">
                <a:solidFill>
                  <a:srgbClr val="2C1A0E"/>
                </a:solidFill>
                <a:latin typeface="Calibri" pitchFamily="34" charset="0"/>
                <a:ea typeface="Calibri" pitchFamily="34" charset="-122"/>
                <a:cs typeface="Calibri" pitchFamily="34" charset="-120"/>
              </a:rPr>
              <a:t>Conversion PDF/A-3b</a:t>
            </a:r>
            <a:endParaRPr lang="en-US" sz="1250" dirty="0"/>
          </a:p>
        </p:txBody>
      </p:sp>
      <p:sp>
        <p:nvSpPr>
          <p:cNvPr id="19" name="Text 16"/>
          <p:cNvSpPr txBox="1"/>
          <p:nvPr/>
        </p:nvSpPr>
        <p:spPr>
          <a:xfrm>
            <a:off x="4443984" y="3886200"/>
            <a:ext cx="1481328" cy="384048"/>
          </a:xfrm>
          <a:prstGeom prst="rect">
            <a:avLst/>
          </a:prstGeom>
          <a:noFill/>
          <a:ln/>
        </p:spPr>
        <p:txBody>
          <a:bodyPr wrap="square" lIns="0" tIns="0" rIns="0" bIns="0" rtlCol="0" anchor="ctr"/>
          <a:lstStyle/>
          <a:p>
            <a:pPr indent="0" marL="0">
              <a:buNone/>
            </a:pPr>
            <a:r>
              <a:rPr lang="en-US" sz="950" dirty="0">
                <a:solidFill>
                  <a:srgbClr val="7C6552"/>
                </a:solidFill>
                <a:latin typeface="Calibri" pitchFamily="34" charset="0"/>
                <a:ea typeface="Calibri" pitchFamily="34" charset="-122"/>
                <a:cs typeface="Calibri" pitchFamily="34" charset="-120"/>
              </a:rPr>
              <a:t>LibreOffice + PDFBox</a:t>
            </a:r>
            <a:endParaRPr lang="en-US" sz="950" dirty="0"/>
          </a:p>
        </p:txBody>
      </p:sp>
      <p:sp>
        <p:nvSpPr>
          <p:cNvPr id="20" name="Text 17"/>
          <p:cNvSpPr txBox="1"/>
          <p:nvPr/>
        </p:nvSpPr>
        <p:spPr>
          <a:xfrm>
            <a:off x="6044184" y="3364992"/>
            <a:ext cx="397764" cy="365760"/>
          </a:xfrm>
          <a:prstGeom prst="rect">
            <a:avLst/>
          </a:prstGeom>
          <a:noFill/>
          <a:ln/>
        </p:spPr>
        <p:txBody>
          <a:bodyPr wrap="square" lIns="0" tIns="0" rIns="0" bIns="0" rtlCol="0" anchor="ctr"/>
          <a:lstStyle/>
          <a:p>
            <a:pPr algn="ctr" indent="0" marL="0">
              <a:buNone/>
            </a:pPr>
            <a:r>
              <a:rPr lang="en-US" sz="1600" dirty="0">
                <a:solidFill>
                  <a:srgbClr val="7C6552"/>
                </a:solidFill>
                <a:latin typeface="Calibri" pitchFamily="34" charset="0"/>
                <a:ea typeface="Calibri" pitchFamily="34" charset="-122"/>
                <a:cs typeface="Calibri" pitchFamily="34" charset="-120"/>
              </a:rPr>
              <a:t>→</a:t>
            </a:r>
            <a:endParaRPr lang="en-US" sz="1600" dirty="0"/>
          </a:p>
        </p:txBody>
      </p:sp>
      <p:sp>
        <p:nvSpPr>
          <p:cNvPr id="21" name="Shape 18"/>
          <p:cNvSpPr/>
          <p:nvPr/>
        </p:nvSpPr>
        <p:spPr>
          <a:xfrm>
            <a:off x="6185916" y="2788920"/>
            <a:ext cx="1755648" cy="1554480"/>
          </a:xfrm>
          <a:prstGeom prst="roundRect">
            <a:avLst>
              <a:gd name="adj" fmla="val 4706"/>
            </a:avLst>
          </a:prstGeom>
          <a:solidFill>
            <a:srgbClr val="F3E9DA"/>
          </a:solidFill>
          <a:ln/>
        </p:spPr>
      </p:sp>
      <p:sp>
        <p:nvSpPr>
          <p:cNvPr id="22" name="Text 19"/>
          <p:cNvSpPr txBox="1"/>
          <p:nvPr/>
        </p:nvSpPr>
        <p:spPr>
          <a:xfrm>
            <a:off x="6323076"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4</a:t>
            </a:r>
            <a:endParaRPr lang="en-US" sz="2000" dirty="0"/>
          </a:p>
        </p:txBody>
      </p:sp>
      <p:sp>
        <p:nvSpPr>
          <p:cNvPr id="23" name="Text 20"/>
          <p:cNvSpPr txBox="1"/>
          <p:nvPr/>
        </p:nvSpPr>
        <p:spPr>
          <a:xfrm>
            <a:off x="6323076" y="3355848"/>
            <a:ext cx="1481328" cy="594360"/>
          </a:xfrm>
          <a:prstGeom prst="rect">
            <a:avLst/>
          </a:prstGeom>
          <a:noFill/>
          <a:ln/>
        </p:spPr>
        <p:txBody>
          <a:bodyPr wrap="square" lIns="0" tIns="0" rIns="0" bIns="0" rtlCol="0" anchor="ctr"/>
          <a:lstStyle/>
          <a:p>
            <a:pPr indent="0" marL="0">
              <a:lnSpc>
                <a:spcPct val="105000"/>
              </a:lnSpc>
              <a:buNone/>
            </a:pPr>
            <a:r>
              <a:rPr lang="en-US" sz="1250" b="1" dirty="0">
                <a:solidFill>
                  <a:srgbClr val="2C1A0E"/>
                </a:solidFill>
                <a:latin typeface="Calibri" pitchFamily="34" charset="0"/>
                <a:ea typeface="Calibri" pitchFamily="34" charset="-122"/>
                <a:cs typeface="Calibri" pitchFamily="34" charset="-120"/>
              </a:rPr>
              <a:t>Signature PKI</a:t>
            </a:r>
            <a:endParaRPr lang="en-US" sz="1250" dirty="0"/>
          </a:p>
        </p:txBody>
      </p:sp>
      <p:sp>
        <p:nvSpPr>
          <p:cNvPr id="24" name="Text 21"/>
          <p:cNvSpPr txBox="1"/>
          <p:nvPr/>
        </p:nvSpPr>
        <p:spPr>
          <a:xfrm>
            <a:off x="6323076" y="3886200"/>
            <a:ext cx="1481328" cy="384048"/>
          </a:xfrm>
          <a:prstGeom prst="rect">
            <a:avLst/>
          </a:prstGeom>
          <a:noFill/>
          <a:ln/>
        </p:spPr>
        <p:txBody>
          <a:bodyPr wrap="square" lIns="0" tIns="0" rIns="0" bIns="0" rtlCol="0" anchor="ctr"/>
          <a:lstStyle/>
          <a:p>
            <a:pPr indent="0" marL="0">
              <a:buNone/>
            </a:pPr>
            <a:r>
              <a:rPr lang="en-US" sz="950" dirty="0">
                <a:solidFill>
                  <a:srgbClr val="7C6552"/>
                </a:solidFill>
                <a:latin typeface="Calibri" pitchFamily="34" charset="0"/>
                <a:ea typeface="Calibri" pitchFamily="34" charset="-122"/>
                <a:cs typeface="Calibri" pitchFamily="34" charset="-120"/>
              </a:rPr>
              <a:t>clé HSM de l'éditeur</a:t>
            </a:r>
            <a:endParaRPr lang="en-US" sz="950" dirty="0"/>
          </a:p>
        </p:txBody>
      </p:sp>
      <p:sp>
        <p:nvSpPr>
          <p:cNvPr id="25" name="Text 22"/>
          <p:cNvSpPr txBox="1"/>
          <p:nvPr/>
        </p:nvSpPr>
        <p:spPr>
          <a:xfrm>
            <a:off x="7923276" y="3364992"/>
            <a:ext cx="397764" cy="365760"/>
          </a:xfrm>
          <a:prstGeom prst="rect">
            <a:avLst/>
          </a:prstGeom>
          <a:noFill/>
          <a:ln/>
        </p:spPr>
        <p:txBody>
          <a:bodyPr wrap="square" lIns="0" tIns="0" rIns="0" bIns="0" rtlCol="0" anchor="ctr"/>
          <a:lstStyle/>
          <a:p>
            <a:pPr algn="ctr" indent="0" marL="0">
              <a:buNone/>
            </a:pPr>
            <a:r>
              <a:rPr lang="en-US" sz="1600" dirty="0">
                <a:solidFill>
                  <a:srgbClr val="7C6552"/>
                </a:solidFill>
                <a:latin typeface="Calibri" pitchFamily="34" charset="0"/>
                <a:ea typeface="Calibri" pitchFamily="34" charset="-122"/>
                <a:cs typeface="Calibri" pitchFamily="34" charset="-120"/>
              </a:rPr>
              <a:t>→</a:t>
            </a:r>
            <a:endParaRPr lang="en-US" sz="1600" dirty="0"/>
          </a:p>
        </p:txBody>
      </p:sp>
      <p:sp>
        <p:nvSpPr>
          <p:cNvPr id="26" name="Shape 23"/>
          <p:cNvSpPr/>
          <p:nvPr/>
        </p:nvSpPr>
        <p:spPr>
          <a:xfrm>
            <a:off x="8065008" y="2788920"/>
            <a:ext cx="1755648" cy="1554480"/>
          </a:xfrm>
          <a:prstGeom prst="roundRect">
            <a:avLst>
              <a:gd name="adj" fmla="val 4706"/>
            </a:avLst>
          </a:prstGeom>
          <a:solidFill>
            <a:srgbClr val="F3E9DA"/>
          </a:solidFill>
          <a:ln/>
        </p:spPr>
      </p:sp>
      <p:sp>
        <p:nvSpPr>
          <p:cNvPr id="27" name="Text 24"/>
          <p:cNvSpPr txBox="1"/>
          <p:nvPr/>
        </p:nvSpPr>
        <p:spPr>
          <a:xfrm>
            <a:off x="8202168"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5</a:t>
            </a:r>
            <a:endParaRPr lang="en-US" sz="2000" dirty="0"/>
          </a:p>
        </p:txBody>
      </p:sp>
      <p:sp>
        <p:nvSpPr>
          <p:cNvPr id="28" name="Text 25"/>
          <p:cNvSpPr txBox="1"/>
          <p:nvPr/>
        </p:nvSpPr>
        <p:spPr>
          <a:xfrm>
            <a:off x="8202168" y="3355848"/>
            <a:ext cx="1481328" cy="594360"/>
          </a:xfrm>
          <a:prstGeom prst="rect">
            <a:avLst/>
          </a:prstGeom>
          <a:noFill/>
          <a:ln/>
        </p:spPr>
        <p:txBody>
          <a:bodyPr wrap="square" lIns="0" tIns="0" rIns="0" bIns="0" rtlCol="0" anchor="ctr"/>
          <a:lstStyle/>
          <a:p>
            <a:pPr indent="0" marL="0">
              <a:lnSpc>
                <a:spcPct val="105000"/>
              </a:lnSpc>
              <a:buNone/>
            </a:pPr>
            <a:r>
              <a:rPr lang="en-US" sz="1250" b="1" dirty="0">
                <a:solidFill>
                  <a:srgbClr val="2C1A0E"/>
                </a:solidFill>
                <a:latin typeface="Calibri" pitchFamily="34" charset="0"/>
                <a:ea typeface="Calibri" pitchFamily="34" charset="-122"/>
                <a:cs typeface="Calibri" pitchFamily="34" charset="-120"/>
              </a:rPr>
              <a:t>Chiffrement</a:t>
            </a:r>
            <a:endParaRPr lang="en-US" sz="1250" dirty="0"/>
          </a:p>
        </p:txBody>
      </p:sp>
      <p:sp>
        <p:nvSpPr>
          <p:cNvPr id="29" name="Text 26"/>
          <p:cNvSpPr txBox="1"/>
          <p:nvPr/>
        </p:nvSpPr>
        <p:spPr>
          <a:xfrm>
            <a:off x="8202168" y="3886200"/>
            <a:ext cx="1481328" cy="384048"/>
          </a:xfrm>
          <a:prstGeom prst="rect">
            <a:avLst/>
          </a:prstGeom>
          <a:noFill/>
          <a:ln/>
        </p:spPr>
        <p:txBody>
          <a:bodyPr wrap="square" lIns="0" tIns="0" rIns="0" bIns="0" rtlCol="0" anchor="ctr"/>
          <a:lstStyle/>
          <a:p>
            <a:pPr indent="0" marL="0">
              <a:buNone/>
            </a:pPr>
            <a:r>
              <a:rPr lang="en-US" sz="950" dirty="0">
                <a:solidFill>
                  <a:srgbClr val="7C6552"/>
                </a:solidFill>
                <a:latin typeface="Calibri" pitchFamily="34" charset="0"/>
                <a:ea typeface="Calibri" pitchFamily="34" charset="-122"/>
                <a:cs typeface="Calibri" pitchFamily="34" charset="-120"/>
              </a:rPr>
              <a:t>AES-256-GCM</a:t>
            </a:r>
            <a:endParaRPr lang="en-US" sz="950" dirty="0"/>
          </a:p>
        </p:txBody>
      </p:sp>
      <p:sp>
        <p:nvSpPr>
          <p:cNvPr id="30" name="Text 27"/>
          <p:cNvSpPr txBox="1"/>
          <p:nvPr/>
        </p:nvSpPr>
        <p:spPr>
          <a:xfrm>
            <a:off x="9802368" y="3364992"/>
            <a:ext cx="397764" cy="365760"/>
          </a:xfrm>
          <a:prstGeom prst="rect">
            <a:avLst/>
          </a:prstGeom>
          <a:noFill/>
          <a:ln/>
        </p:spPr>
        <p:txBody>
          <a:bodyPr wrap="square" lIns="0" tIns="0" rIns="0" bIns="0" rtlCol="0" anchor="ctr"/>
          <a:lstStyle/>
          <a:p>
            <a:pPr algn="ctr" indent="0" marL="0">
              <a:buNone/>
            </a:pPr>
            <a:r>
              <a:rPr lang="en-US" sz="1600" dirty="0">
                <a:solidFill>
                  <a:srgbClr val="7C6552"/>
                </a:solidFill>
                <a:latin typeface="Calibri" pitchFamily="34" charset="0"/>
                <a:ea typeface="Calibri" pitchFamily="34" charset="-122"/>
                <a:cs typeface="Calibri" pitchFamily="34" charset="-120"/>
              </a:rPr>
              <a:t>→</a:t>
            </a:r>
            <a:endParaRPr lang="en-US" sz="1600" dirty="0"/>
          </a:p>
        </p:txBody>
      </p:sp>
      <p:sp>
        <p:nvSpPr>
          <p:cNvPr id="31" name="Shape 28"/>
          <p:cNvSpPr/>
          <p:nvPr/>
        </p:nvSpPr>
        <p:spPr>
          <a:xfrm>
            <a:off x="9944100" y="2788920"/>
            <a:ext cx="1755648" cy="1554480"/>
          </a:xfrm>
          <a:prstGeom prst="roundRect">
            <a:avLst>
              <a:gd name="adj" fmla="val 4706"/>
            </a:avLst>
          </a:prstGeom>
          <a:solidFill>
            <a:srgbClr val="B5813F"/>
          </a:solidFill>
          <a:ln/>
        </p:spPr>
      </p:sp>
      <p:sp>
        <p:nvSpPr>
          <p:cNvPr id="32" name="Text 29"/>
          <p:cNvSpPr txBox="1"/>
          <p:nvPr/>
        </p:nvSpPr>
        <p:spPr>
          <a:xfrm>
            <a:off x="10081260" y="2898648"/>
            <a:ext cx="54864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3" name="Text 30"/>
          <p:cNvSpPr txBox="1"/>
          <p:nvPr/>
        </p:nvSpPr>
        <p:spPr>
          <a:xfrm>
            <a:off x="10081260" y="3355848"/>
            <a:ext cx="1481328" cy="594360"/>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Archivage MinIO</a:t>
            </a:r>
            <a:endParaRPr lang="en-US" sz="1250" dirty="0"/>
          </a:p>
        </p:txBody>
      </p:sp>
      <p:sp>
        <p:nvSpPr>
          <p:cNvPr id="34" name="Text 31"/>
          <p:cNvSpPr txBox="1"/>
          <p:nvPr/>
        </p:nvSpPr>
        <p:spPr>
          <a:xfrm>
            <a:off x="10081260" y="3886200"/>
            <a:ext cx="1481328" cy="384048"/>
          </a:xfrm>
          <a:prstGeom prst="rect">
            <a:avLst/>
          </a:prstGeom>
          <a:noFill/>
          <a:ln/>
        </p:spPr>
        <p:txBody>
          <a:bodyPr wrap="square" lIns="0" tIns="0" rIns="0" bIns="0" rtlCol="0" anchor="ctr"/>
          <a:lstStyle/>
          <a:p>
            <a:pPr indent="0" marL="0">
              <a:buNone/>
            </a:pPr>
            <a:r>
              <a:rPr lang="en-US" sz="950" dirty="0">
                <a:solidFill>
                  <a:srgbClr val="F3E9DA"/>
                </a:solidFill>
                <a:latin typeface="Calibri" pitchFamily="34" charset="0"/>
                <a:ea typeface="Calibri" pitchFamily="34" charset="-122"/>
                <a:cs typeface="Calibri" pitchFamily="34" charset="-120"/>
              </a:rPr>
              <a:t>statut ACTIVE</a:t>
            </a:r>
            <a:endParaRPr lang="en-US" sz="950" dirty="0"/>
          </a:p>
        </p:txBody>
      </p:sp>
      <p:sp>
        <p:nvSpPr>
          <p:cNvPr id="35" name="Text 3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36" name="Text 33"/>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2331720"/>
            <a:ext cx="914400" cy="91440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49808" y="2441448"/>
            <a:ext cx="694944" cy="694944"/>
          </a:xfrm>
          <a:prstGeom prst="rect">
            <a:avLst/>
          </a:prstGeom>
        </p:spPr>
      </p:pic>
      <p:sp>
        <p:nvSpPr>
          <p:cNvPr id="4" name="Text 1"/>
          <p:cNvSpPr txBox="1"/>
          <p:nvPr/>
        </p:nvSpPr>
        <p:spPr>
          <a:xfrm>
            <a:off x="1737360" y="2395728"/>
            <a:ext cx="8229600" cy="365760"/>
          </a:xfrm>
          <a:prstGeom prst="rect">
            <a:avLst/>
          </a:prstGeom>
          <a:noFill/>
          <a:ln/>
        </p:spPr>
        <p:txBody>
          <a:bodyPr wrap="square" lIns="0" tIns="0" rIns="0" bIns="0" rtlCol="0" anchor="ctr"/>
          <a:lstStyle/>
          <a:p>
            <a:pPr indent="0" marL="0">
              <a:buNone/>
            </a:pPr>
            <a:r>
              <a:rPr lang="en-US" sz="1200" spc="200" kern="0" dirty="0">
                <a:solidFill>
                  <a:srgbClr val="D9AE6C"/>
                </a:solidFill>
                <a:latin typeface="Calibri" pitchFamily="34" charset="0"/>
                <a:ea typeface="Calibri" pitchFamily="34" charset="-122"/>
                <a:cs typeface="Calibri" pitchFamily="34" charset="-120"/>
              </a:rPr>
              <a:t>PARTIE 1</a:t>
            </a:r>
            <a:endParaRPr lang="en-US" sz="1200" dirty="0"/>
          </a:p>
        </p:txBody>
      </p:sp>
      <p:sp>
        <p:nvSpPr>
          <p:cNvPr id="5" name="Text 2"/>
          <p:cNvSpPr txBox="1"/>
          <p:nvPr/>
        </p:nvSpPr>
        <p:spPr>
          <a:xfrm>
            <a:off x="1719072" y="274320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Identité &amp; organisation</a:t>
            </a:r>
            <a:endParaRPr lang="en-US" sz="38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7"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AUTHENTIFICATION &amp; SESSIONS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JWT + invalidation serveur immédiate</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tous rôles</a:t>
            </a:r>
            <a:endParaRPr lang="en-US" sz="1050" dirty="0"/>
          </a:p>
        </p:txBody>
      </p:sp>
      <p:sp>
        <p:nvSpPr>
          <p:cNvPr id="7" name="Text 4"/>
          <p:cNvSpPr txBox="1"/>
          <p:nvPr/>
        </p:nvSpPr>
        <p:spPr>
          <a:xfrm>
            <a:off x="548640" y="2564892"/>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Connexion par JWT (access + refresh token).</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Une session peut être invalidée immédiatement côté serveur — changement de rôle, de mot de passe, transfert d'UO, ou suppression de compte.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L'utilisateur voit un message avant d'être déconnecté, jamais une coupure silencieuse.</a:t>
            </a:r>
            <a:endParaRPr lang="en-US" sz="1450" dirty="0"/>
          </a:p>
        </p:txBody>
      </p:sp>
      <p:sp>
        <p:nvSpPr>
          <p:cNvPr id="8" name="Shape 5"/>
          <p:cNvSpPr/>
          <p:nvPr/>
        </p:nvSpPr>
        <p:spPr>
          <a:xfrm>
            <a:off x="548640" y="4201668"/>
            <a:ext cx="10881360" cy="1143000"/>
          </a:xfrm>
          <a:prstGeom prst="roundRect">
            <a:avLst>
              <a:gd name="adj" fmla="val 6400"/>
            </a:avLst>
          </a:prstGeom>
          <a:solidFill>
            <a:srgbClr val="F3E9DA"/>
          </a:solidFill>
          <a:ln/>
        </p:spPr>
      </p:sp>
      <p:sp>
        <p:nvSpPr>
          <p:cNvPr id="9" name="Text 6"/>
          <p:cNvSpPr txBox="1"/>
          <p:nvPr/>
        </p:nvSpPr>
        <p:spPr>
          <a:xfrm>
            <a:off x="868680" y="433882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58571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 JWT reste valide jusqu'à expiration par nature — sans ce mécanisme, un utilisateur transféré, rétrogradé ou supprimé garderait un accès complet avec ses anciens droits pendant des heures.</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UNITÉS ORGANISATIONNELLES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Hiérarchie d'UO &amp; transfert d'utilisateurs</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ADMIN, ADMIN_UO</a:t>
            </a:r>
            <a:endParaRPr lang="en-US" sz="1050" dirty="0"/>
          </a:p>
        </p:txBody>
      </p:sp>
      <p:sp>
        <p:nvSpPr>
          <p:cNvPr id="7" name="Text 4"/>
          <p:cNvSpPr txBox="1"/>
          <p:nvPr/>
        </p:nvSpPr>
        <p:spPr>
          <a:xfrm>
            <a:off x="548640" y="2564892"/>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Les UO s'emboîtent en arbre (une UO racine, des UO filles).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utilisateur appartient à une seule UO active à la fois.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 transférer désactive son ancienne appartenance et déconnecte sa session en cours.</a:t>
            </a:r>
            <a:endParaRPr lang="en-US" sz="1450" dirty="0"/>
          </a:p>
        </p:txBody>
      </p:sp>
      <p:sp>
        <p:nvSpPr>
          <p:cNvPr id="8" name="Shape 5"/>
          <p:cNvSpPr/>
          <p:nvPr/>
        </p:nvSpPr>
        <p:spPr>
          <a:xfrm>
            <a:off x="548640" y="4201668"/>
            <a:ext cx="10881360" cy="1143000"/>
          </a:xfrm>
          <a:prstGeom prst="roundRect">
            <a:avLst>
              <a:gd name="adj" fmla="val 6400"/>
            </a:avLst>
          </a:prstGeom>
          <a:solidFill>
            <a:srgbClr val="F3E9DA"/>
          </a:solidFill>
          <a:ln/>
        </p:spPr>
      </p:sp>
      <p:sp>
        <p:nvSpPr>
          <p:cNvPr id="9" name="Text 6"/>
          <p:cNvSpPr txBox="1"/>
          <p:nvPr/>
        </p:nvSpPr>
        <p:spPr>
          <a:xfrm>
            <a:off x="868680" y="433882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58571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Une institution réelle a des départements/filiales avec des périmètres de documents distincts — la visibilité publique reste bornée à l'UO du propriétaire et ses descendantes, jamais à l'organisation entière par défaut.</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UTILISATEURS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Suppression à deux temps</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ADMIN, ADMIN_UO</a:t>
            </a:r>
            <a:endParaRPr lang="en-US" sz="1050" dirty="0"/>
          </a:p>
        </p:txBody>
      </p:sp>
      <p:sp>
        <p:nvSpPr>
          <p:cNvPr id="7" name="Text 4"/>
          <p:cNvSpPr txBox="1"/>
          <p:nvPr/>
        </p:nvSpPr>
        <p:spPr>
          <a:xfrm>
            <a:off x="548640" y="2564892"/>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La suppression désactive immédiatement le compte (mot de passe invalidé, clé PKI révoquée si éditeur).</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Délai de grâce de 2 jours avant la purge définitive — annulable entre-temps.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Exception : un compte jamais connecté est supprimé immédiatement (rien à protéger).</a:t>
            </a:r>
            <a:endParaRPr lang="en-US" sz="1450" dirty="0"/>
          </a:p>
        </p:txBody>
      </p:sp>
      <p:sp>
        <p:nvSpPr>
          <p:cNvPr id="8" name="Shape 5"/>
          <p:cNvSpPr/>
          <p:nvPr/>
        </p:nvSpPr>
        <p:spPr>
          <a:xfrm>
            <a:off x="548640" y="4201668"/>
            <a:ext cx="10881360" cy="1143000"/>
          </a:xfrm>
          <a:prstGeom prst="roundRect">
            <a:avLst>
              <a:gd name="adj" fmla="val 6400"/>
            </a:avLst>
          </a:prstGeom>
          <a:solidFill>
            <a:srgbClr val="F3E9DA"/>
          </a:solidFill>
          <a:ln/>
        </p:spPr>
      </p:sp>
      <p:sp>
        <p:nvSpPr>
          <p:cNvPr id="9" name="Text 6"/>
          <p:cNvSpPr txBox="1"/>
          <p:nvPr/>
        </p:nvSpPr>
        <p:spPr>
          <a:xfrm>
            <a:off x="868680" y="433882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58571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Une suppression instantanée et irréversible expose à l'erreur humaine ou à un admin malveillant détruisant des comptes sans recours. Le délai de grâce laisse le temps d'annuler.</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UTILISATEURS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Protection du dernier administrateur</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toute action de gestion</a:t>
            </a:r>
            <a:endParaRPr lang="en-US" sz="1050" dirty="0"/>
          </a:p>
        </p:txBody>
      </p:sp>
      <p:sp>
        <p:nvSpPr>
          <p:cNvPr id="7" name="Text 4"/>
          <p:cNvSpPr txBox="1"/>
          <p:nvPr/>
        </p:nvSpPr>
        <p:spPr>
          <a:xfrm>
            <a:off x="548640" y="297637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Impossible de désactiver, rétrograder ou supprimer le dernier compte ADMIN — ou le dernier ADMIN_UO d'une UO.</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ADMIN_UO ne peut jamais agir sur un compte ADMIN ou ADMIN_UO.</a:t>
            </a:r>
            <a:endParaRPr lang="en-US" sz="1450" dirty="0"/>
          </a:p>
        </p:txBody>
      </p:sp>
      <p:sp>
        <p:nvSpPr>
          <p:cNvPr id="8" name="Shape 5"/>
          <p:cNvSpPr/>
          <p:nvPr/>
        </p:nvSpPr>
        <p:spPr>
          <a:xfrm>
            <a:off x="548640" y="4064508"/>
            <a:ext cx="10881360" cy="868680"/>
          </a:xfrm>
          <a:prstGeom prst="roundRect">
            <a:avLst>
              <a:gd name="adj" fmla="val 8421"/>
            </a:avLst>
          </a:prstGeom>
          <a:solidFill>
            <a:srgbClr val="F3E9DA"/>
          </a:solidFill>
          <a:ln/>
        </p:spPr>
      </p:sp>
      <p:sp>
        <p:nvSpPr>
          <p:cNvPr id="9" name="Text 6"/>
          <p:cNvSpPr txBox="1"/>
          <p:nvPr/>
        </p:nvSpPr>
        <p:spPr>
          <a:xfrm>
            <a:off x="868680" y="420166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448556"/>
            <a:ext cx="10241280" cy="41148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Sans cette garde, une erreur de manipulation peut rendre l'organisation entière — ou une UO — sans administrateur, donc ingérable.</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2331720"/>
            <a:ext cx="914400" cy="91440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49808" y="2441448"/>
            <a:ext cx="694944" cy="694944"/>
          </a:xfrm>
          <a:prstGeom prst="rect">
            <a:avLst/>
          </a:prstGeom>
        </p:spPr>
      </p:pic>
      <p:sp>
        <p:nvSpPr>
          <p:cNvPr id="4" name="Text 1"/>
          <p:cNvSpPr txBox="1"/>
          <p:nvPr/>
        </p:nvSpPr>
        <p:spPr>
          <a:xfrm>
            <a:off x="1737360" y="2395728"/>
            <a:ext cx="8229600" cy="365760"/>
          </a:xfrm>
          <a:prstGeom prst="rect">
            <a:avLst/>
          </a:prstGeom>
          <a:noFill/>
          <a:ln/>
        </p:spPr>
        <p:txBody>
          <a:bodyPr wrap="square" lIns="0" tIns="0" rIns="0" bIns="0" rtlCol="0" anchor="ctr"/>
          <a:lstStyle/>
          <a:p>
            <a:pPr indent="0" marL="0">
              <a:buNone/>
            </a:pPr>
            <a:r>
              <a:rPr lang="en-US" sz="1200" spc="200" kern="0" dirty="0">
                <a:solidFill>
                  <a:srgbClr val="D9AE6C"/>
                </a:solidFill>
                <a:latin typeface="Calibri" pitchFamily="34" charset="0"/>
                <a:ea typeface="Calibri" pitchFamily="34" charset="-122"/>
                <a:cs typeface="Calibri" pitchFamily="34" charset="-120"/>
              </a:rPr>
              <a:t>PARTIE 2</a:t>
            </a:r>
            <a:endParaRPr lang="en-US" sz="1200" dirty="0"/>
          </a:p>
        </p:txBody>
      </p:sp>
      <p:sp>
        <p:nvSpPr>
          <p:cNvPr id="5" name="Text 2"/>
          <p:cNvSpPr txBox="1"/>
          <p:nvPr/>
        </p:nvSpPr>
        <p:spPr>
          <a:xfrm>
            <a:off x="1719072" y="274320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Archivage</a:t>
            </a:r>
            <a:endParaRPr lang="en-US" sz="38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7"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PIPELINE D'ARCHIVAGE</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Upload en deux phases</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EDITOR</a:t>
            </a:r>
            <a:endParaRPr lang="en-US" sz="1050" dirty="0"/>
          </a:p>
        </p:txBody>
      </p:sp>
      <p:sp>
        <p:nvSpPr>
          <p:cNvPr id="7" name="Text 4"/>
          <p:cNvSpPr txBox="1"/>
          <p:nvPr/>
        </p:nvSpPr>
        <p:spPr>
          <a:xfrm>
            <a:off x="548640" y="283921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Phase 1 (aperçu) : conversion, OCR, métadonnées suggérées — rien n'est encore écrit en base.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Phase 2 (finalisation) : l'éditeur valide/corrige, et seulement alors le document est signé, chiffré et stocké.</a:t>
            </a:r>
            <a:endParaRPr lang="en-US" sz="1450" dirty="0"/>
          </a:p>
        </p:txBody>
      </p:sp>
      <p:sp>
        <p:nvSpPr>
          <p:cNvPr id="8" name="Shape 5"/>
          <p:cNvSpPr/>
          <p:nvPr/>
        </p:nvSpPr>
        <p:spPr>
          <a:xfrm>
            <a:off x="548640" y="3927348"/>
            <a:ext cx="10881360" cy="1143000"/>
          </a:xfrm>
          <a:prstGeom prst="roundRect">
            <a:avLst>
              <a:gd name="adj" fmla="val 6400"/>
            </a:avLst>
          </a:prstGeom>
          <a:solidFill>
            <a:srgbClr val="F3E9DA"/>
          </a:solidFill>
          <a:ln/>
        </p:spPr>
      </p:sp>
      <p:sp>
        <p:nvSpPr>
          <p:cNvPr id="9" name="Text 6"/>
          <p:cNvSpPr txBox="1"/>
          <p:nvPr/>
        </p:nvSpPr>
        <p:spPr>
          <a:xfrm>
            <a:off x="868680" y="406450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31139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Séparer aperçu et finalisation évite d'archiver un document avec des métadonnées fausses ou incomplètes — l'éditeur voit et corrige avant que l'archivage devienne définitif.</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PIPELINE D'ARCHIVAGE</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Conversion universelle vers PDF/A-3b</a:t>
            </a:r>
            <a:endParaRPr lang="en-US" sz="2400" dirty="0"/>
          </a:p>
        </p:txBody>
      </p:sp>
      <p:sp>
        <p:nvSpPr>
          <p:cNvPr id="6" name="Text 3"/>
          <p:cNvSpPr txBox="1"/>
          <p:nvPr/>
        </p:nvSpPr>
        <p:spPr>
          <a:xfrm>
            <a:off x="548640" y="283921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Word, Excel, PowerPoint, OpenDocument, images, texte — tout passe par un conteneur LibreOffice dédié (Gotenberg).</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 PDF obtenu est ensuite marqué PDF/A-3b (norme d'archivage à long terme) via PDFBox.</a:t>
            </a:r>
            <a:endParaRPr lang="en-US" sz="1450" dirty="0"/>
          </a:p>
        </p:txBody>
      </p:sp>
      <p:sp>
        <p:nvSpPr>
          <p:cNvPr id="7" name="Shape 4"/>
          <p:cNvSpPr/>
          <p:nvPr/>
        </p:nvSpPr>
        <p:spPr>
          <a:xfrm>
            <a:off x="548640" y="3927348"/>
            <a:ext cx="10881360" cy="1143000"/>
          </a:xfrm>
          <a:prstGeom prst="roundRect">
            <a:avLst>
              <a:gd name="adj" fmla="val 6400"/>
            </a:avLst>
          </a:prstGeom>
          <a:solidFill>
            <a:srgbClr val="F3E9DA"/>
          </a:solidFill>
          <a:ln/>
        </p:spPr>
      </p:sp>
      <p:sp>
        <p:nvSpPr>
          <p:cNvPr id="8" name="Text 5"/>
          <p:cNvSpPr txBox="1"/>
          <p:nvPr/>
        </p:nvSpPr>
        <p:spPr>
          <a:xfrm>
            <a:off x="868680" y="406450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431139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 format bureautique dépend d'un logiciel pour rester lisible dans 20 ans. Le PDF/A est un format normalisé pensé pour l'archivage pérenne, indépendant de toute application propriétaire.</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EXTRACTION ASSISTÉE PAR IA</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Génération automatique de règles d'extraction</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Ollama / Qwen</a:t>
            </a:r>
            <a:endParaRPr lang="en-US" sz="1050" dirty="0"/>
          </a:p>
        </p:txBody>
      </p:sp>
      <p:sp>
        <p:nvSpPr>
          <p:cNvPr id="7" name="Text 4"/>
          <p:cNvSpPr txBox="1"/>
          <p:nvPr/>
        </p:nvSpPr>
        <p:spPr>
          <a:xfrm>
            <a:off x="548640" y="2702052"/>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Au premier document d'un type, un LLM local (Qwen via Ollama) génère des règles regex à partir du texte OCR.</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Combinées à une extraction positionnelle (le libellé du champ retrouvé directement sur le document).</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Les documents suivants du même type profitent des règles apprises, sans nouvel appel au modèle.</a:t>
            </a:r>
            <a:endParaRPr lang="en-US" sz="1450" dirty="0"/>
          </a:p>
        </p:txBody>
      </p:sp>
      <p:sp>
        <p:nvSpPr>
          <p:cNvPr id="8" name="Shape 5"/>
          <p:cNvSpPr/>
          <p:nvPr/>
        </p:nvSpPr>
        <p:spPr>
          <a:xfrm>
            <a:off x="548640" y="4338828"/>
            <a:ext cx="10881360" cy="868680"/>
          </a:xfrm>
          <a:prstGeom prst="roundRect">
            <a:avLst>
              <a:gd name="adj" fmla="val 8421"/>
            </a:avLst>
          </a:prstGeom>
          <a:solidFill>
            <a:srgbClr val="F3E9DA"/>
          </a:solidFill>
          <a:ln/>
        </p:spPr>
      </p:sp>
      <p:sp>
        <p:nvSpPr>
          <p:cNvPr id="9" name="Text 6"/>
          <p:cNvSpPr txBox="1"/>
          <p:nvPr/>
        </p:nvSpPr>
        <p:spPr>
          <a:xfrm>
            <a:off x="868680" y="447598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722876"/>
            <a:ext cx="10241280" cy="41148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Sans ça, chaque champ de chaque document serait ressaisi manuellement — le modèle apprend une fois par type, le gain se répète ensuite gratuitement.</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IMPORT EN LOT</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Archivage d'un même type par lot</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EDITOR</a:t>
            </a:r>
            <a:endParaRPr lang="en-US" sz="1050" dirty="0"/>
          </a:p>
        </p:txBody>
      </p:sp>
      <p:sp>
        <p:nvSpPr>
          <p:cNvPr id="7" name="Text 4"/>
          <p:cNvSpPr txBox="1"/>
          <p:nvPr/>
        </p:nvSpPr>
        <p:spPr>
          <a:xfrm>
            <a:off x="548640" y="2702052"/>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Jusqu'à 10 000 fichiers en une seule sélection (dossier entier), tous du même type.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Chaque fichier est traité indépendamment — une erreur n'interrompt pas le lot.</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Aperçu avant archivage : retirer un fichier du lot sans le supprimer du disque.</a:t>
            </a:r>
            <a:endParaRPr lang="en-US" sz="1450" dirty="0"/>
          </a:p>
        </p:txBody>
      </p:sp>
      <p:sp>
        <p:nvSpPr>
          <p:cNvPr id="8" name="Shape 5"/>
          <p:cNvSpPr/>
          <p:nvPr/>
        </p:nvSpPr>
        <p:spPr>
          <a:xfrm>
            <a:off x="548640" y="4338828"/>
            <a:ext cx="10881360" cy="868680"/>
          </a:xfrm>
          <a:prstGeom prst="roundRect">
            <a:avLst>
              <a:gd name="adj" fmla="val 8421"/>
            </a:avLst>
          </a:prstGeom>
          <a:solidFill>
            <a:srgbClr val="F3E9DA"/>
          </a:solidFill>
          <a:ln/>
        </p:spPr>
      </p:sp>
      <p:sp>
        <p:nvSpPr>
          <p:cNvPr id="9" name="Text 6"/>
          <p:cNvSpPr txBox="1"/>
          <p:nvPr/>
        </p:nvSpPr>
        <p:spPr>
          <a:xfrm>
            <a:off x="868680" y="447598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722876"/>
            <a:ext cx="10241280" cy="41148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 archivage rétroactif porte souvent sur des milliers de documents déjà numérisés — les traiter un par un serait impraticable.</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IMPORT EN LOT</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Import depuis un lien web</a:t>
            </a:r>
            <a:endParaRPr lang="en-US" sz="2400" dirty="0"/>
          </a:p>
        </p:txBody>
      </p:sp>
      <p:sp>
        <p:nvSpPr>
          <p:cNvPr id="6" name="Text 3"/>
          <p:cNvSpPr txBox="1"/>
          <p:nvPr/>
        </p:nvSpPr>
        <p:spPr>
          <a:xfrm>
            <a:off x="548640" y="3520440"/>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Télécharge les fichiers depuis une page web (liens directs, ou navigation assistée par un navigateur headless).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Applique ensuite exactement le même traitement OCR que l'import local.</a:t>
            </a:r>
            <a:endParaRPr lang="en-US" sz="1450" dirty="0"/>
          </a:p>
        </p:txBody>
      </p:sp>
      <p:sp>
        <p:nvSpPr>
          <p:cNvPr id="7" name="Text 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5"/>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DÉTECTION DE DOUBLONS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Hash SHA-256 du fichier original, scopé par UO</a:t>
            </a:r>
            <a:endParaRPr lang="en-US" sz="2400" dirty="0"/>
          </a:p>
        </p:txBody>
      </p:sp>
      <p:sp>
        <p:nvSpPr>
          <p:cNvPr id="6" name="Text 3"/>
          <p:cNvSpPr txBox="1"/>
          <p:nvPr/>
        </p:nvSpPr>
        <p:spPr>
          <a:xfrm>
            <a:off x="548640" y="1975104"/>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SHA-256 calculé sur les octets bruts de l'original, avant toute conversion.</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Contrainte unique en base (original_sha256 + uo_id) — une même UO ne peut archiver deux fois le même fichier.</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Deux UO différentes peuvent archiver le même fichier sans conflit.</a:t>
            </a:r>
            <a:endParaRPr lang="en-US" sz="1450" dirty="0"/>
          </a:p>
        </p:txBody>
      </p:sp>
      <p:sp>
        <p:nvSpPr>
          <p:cNvPr id="7" name="Shape 4"/>
          <p:cNvSpPr/>
          <p:nvPr/>
        </p:nvSpPr>
        <p:spPr>
          <a:xfrm>
            <a:off x="548640" y="3611880"/>
            <a:ext cx="10881360" cy="868680"/>
          </a:xfrm>
          <a:prstGeom prst="roundRect">
            <a:avLst>
              <a:gd name="adj" fmla="val 8421"/>
            </a:avLst>
          </a:prstGeom>
          <a:solidFill>
            <a:srgbClr val="F3E9DA"/>
          </a:solidFill>
          <a:ln/>
        </p:spPr>
      </p:sp>
      <p:sp>
        <p:nvSpPr>
          <p:cNvPr id="8" name="Text 5"/>
          <p:cNvSpPr txBox="1"/>
          <p:nvPr/>
        </p:nvSpPr>
        <p:spPr>
          <a:xfrm>
            <a:off x="868680" y="3749040"/>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3995928"/>
            <a:ext cx="10241280" cy="41148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Le fichier original n'est jamais conservé en stockage (seul le PDF/A l'est) — son hash est la seule trace permettant de reconnaître qu'il a déjà été vu.</a:t>
            </a:r>
            <a:endParaRPr lang="en-US" sz="1250" dirty="0"/>
          </a:p>
        </p:txBody>
      </p:sp>
      <p:sp>
        <p:nvSpPr>
          <p:cNvPr id="10" name="Shape 7"/>
          <p:cNvSpPr/>
          <p:nvPr/>
        </p:nvSpPr>
        <p:spPr>
          <a:xfrm>
            <a:off x="548640" y="4700016"/>
            <a:ext cx="10881360" cy="1234440"/>
          </a:xfrm>
          <a:prstGeom prst="roundRect">
            <a:avLst>
              <a:gd name="adj" fmla="val 5926"/>
            </a:avLst>
          </a:prstGeom>
          <a:solidFill>
            <a:srgbClr val="FBE6D6"/>
          </a:solidFill>
          <a:ln/>
        </p:spPr>
      </p:sp>
      <p:sp>
        <p:nvSpPr>
          <p:cNvPr id="11" name="Text 8"/>
          <p:cNvSpPr txBox="1"/>
          <p:nvPr/>
        </p:nvSpPr>
        <p:spPr>
          <a:xfrm>
            <a:off x="868680" y="4837176"/>
            <a:ext cx="2743200" cy="274320"/>
          </a:xfrm>
          <a:prstGeom prst="rect">
            <a:avLst/>
          </a:prstGeom>
          <a:noFill/>
          <a:ln/>
        </p:spPr>
        <p:txBody>
          <a:bodyPr wrap="square" lIns="0" tIns="0" rIns="0" bIns="0" rtlCol="0" anchor="ctr"/>
          <a:lstStyle/>
          <a:p>
            <a:pPr indent="0" marL="0">
              <a:buNone/>
            </a:pPr>
            <a:r>
              <a:rPr lang="en-US" sz="1000" b="1" spc="100" kern="0" dirty="0">
                <a:solidFill>
                  <a:srgbClr val="A34E12"/>
                </a:solidFill>
                <a:latin typeface="Calibri" pitchFamily="34" charset="0"/>
                <a:ea typeface="Calibri" pitchFamily="34" charset="-122"/>
                <a:cs typeface="Calibri" pitchFamily="34" charset="-120"/>
              </a:rPr>
              <a:t>LIMITE CONNUE</a:t>
            </a:r>
            <a:endParaRPr lang="en-US" sz="1000" dirty="0"/>
          </a:p>
        </p:txBody>
      </p:sp>
      <p:sp>
        <p:nvSpPr>
          <p:cNvPr id="12" name="Text 9"/>
          <p:cNvSpPr txBox="1"/>
          <p:nvPr/>
        </p:nvSpPr>
        <p:spPr>
          <a:xfrm>
            <a:off x="868680" y="5084064"/>
            <a:ext cx="10241280" cy="77724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 hash exact ne détecte que des octets identiques. Le même contenu réuploadé après conversion de format externe (ex. le .docx déjà archivé, réexporté en .pdf, puis réuploadé) produit un hash différent et n'est pas détecté — vérifié en conditions réelles. Corriger ça demanderait une comparaison de contenu, pas un hash ; mis de côté pour l'instant.</a:t>
            </a:r>
            <a:endParaRPr lang="en-US" sz="1250" dirty="0"/>
          </a:p>
        </p:txBody>
      </p:sp>
      <p:sp>
        <p:nvSpPr>
          <p:cNvPr id="13" name="Text 10"/>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4" name="Text 11"/>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2331720"/>
            <a:ext cx="914400" cy="91440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49808" y="2441448"/>
            <a:ext cx="694944" cy="694944"/>
          </a:xfrm>
          <a:prstGeom prst="rect">
            <a:avLst/>
          </a:prstGeom>
        </p:spPr>
      </p:pic>
      <p:sp>
        <p:nvSpPr>
          <p:cNvPr id="4" name="Text 1"/>
          <p:cNvSpPr txBox="1"/>
          <p:nvPr/>
        </p:nvSpPr>
        <p:spPr>
          <a:xfrm>
            <a:off x="1737360" y="2395728"/>
            <a:ext cx="8229600" cy="365760"/>
          </a:xfrm>
          <a:prstGeom prst="rect">
            <a:avLst/>
          </a:prstGeom>
          <a:noFill/>
          <a:ln/>
        </p:spPr>
        <p:txBody>
          <a:bodyPr wrap="square" lIns="0" tIns="0" rIns="0" bIns="0" rtlCol="0" anchor="ctr"/>
          <a:lstStyle/>
          <a:p>
            <a:pPr indent="0" marL="0">
              <a:buNone/>
            </a:pPr>
            <a:r>
              <a:rPr lang="en-US" sz="1200" spc="200" kern="0" dirty="0">
                <a:solidFill>
                  <a:srgbClr val="D9AE6C"/>
                </a:solidFill>
                <a:latin typeface="Calibri" pitchFamily="34" charset="0"/>
                <a:ea typeface="Calibri" pitchFamily="34" charset="-122"/>
                <a:cs typeface="Calibri" pitchFamily="34" charset="-120"/>
              </a:rPr>
              <a:t>PARTIE 3</a:t>
            </a:r>
            <a:endParaRPr lang="en-US" sz="1200" dirty="0"/>
          </a:p>
        </p:txBody>
      </p:sp>
      <p:sp>
        <p:nvSpPr>
          <p:cNvPr id="5" name="Text 2"/>
          <p:cNvSpPr txBox="1"/>
          <p:nvPr/>
        </p:nvSpPr>
        <p:spPr>
          <a:xfrm>
            <a:off x="1719072" y="274320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Preuve &amp; vérification</a:t>
            </a:r>
            <a:endParaRPr lang="en-US" sz="38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7"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PREUVE D'INTÉGRITÉ</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Second hash SHA-256, sur le PDF/A archivé</a:t>
            </a:r>
            <a:endParaRPr lang="en-US" sz="2400" dirty="0"/>
          </a:p>
        </p:txBody>
      </p:sp>
      <p:sp>
        <p:nvSpPr>
          <p:cNvPr id="6" name="Text 3"/>
          <p:cNvSpPr txBox="1"/>
          <p:nvPr/>
        </p:nvSpPr>
        <p:spPr>
          <a:xfrm>
            <a:off x="548640" y="3520440"/>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Calculé sur le PDF/A final, en clair, avant chiffrement.</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C'est celui qui compte une fois l'original jeté — recalculé pour vérifier qu'aucun bit n'a changé.</a:t>
            </a:r>
            <a:endParaRPr lang="en-US" sz="1450" dirty="0"/>
          </a:p>
        </p:txBody>
      </p:sp>
      <p:sp>
        <p:nvSpPr>
          <p:cNvPr id="7" name="Text 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5"/>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PREUVE D'INTÉGRITÉ</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Signature PKI (HSM)</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EDITOR actif</a:t>
            </a:r>
            <a:endParaRPr lang="en-US" sz="1050" dirty="0"/>
          </a:p>
        </p:txBody>
      </p:sp>
      <p:sp>
        <p:nvSpPr>
          <p:cNvPr id="7" name="Text 4"/>
          <p:cNvSpPr txBox="1"/>
          <p:nvPr/>
        </p:nvSpPr>
        <p:spPr>
          <a:xfrm>
            <a:off x="548640" y="283921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 hash du PDF/A est signé avec la clé privée personnelle de l'éditeur qui archive.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Clé conservée dans un HSM (module de sécurité matériel, simulé ici par un fichier keystore) — elle n'en sort jamais, seule la signature en ressort.</a:t>
            </a:r>
            <a:endParaRPr lang="en-US" sz="1450" dirty="0"/>
          </a:p>
        </p:txBody>
      </p:sp>
      <p:sp>
        <p:nvSpPr>
          <p:cNvPr id="8" name="Shape 5"/>
          <p:cNvSpPr/>
          <p:nvPr/>
        </p:nvSpPr>
        <p:spPr>
          <a:xfrm>
            <a:off x="548640" y="3927348"/>
            <a:ext cx="10881360" cy="1143000"/>
          </a:xfrm>
          <a:prstGeom prst="roundRect">
            <a:avLst>
              <a:gd name="adj" fmla="val 6400"/>
            </a:avLst>
          </a:prstGeom>
          <a:solidFill>
            <a:srgbClr val="F3E9DA"/>
          </a:solidFill>
          <a:ln/>
        </p:spPr>
      </p:sp>
      <p:sp>
        <p:nvSpPr>
          <p:cNvPr id="9" name="Text 6"/>
          <p:cNvSpPr txBox="1"/>
          <p:nvPr/>
        </p:nvSpPr>
        <p:spPr>
          <a:xfrm>
            <a:off x="868680" y="406450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31139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La signature identifie nommément QUI a archivé le document et engage sa responsabilité — sans clé personnelle, impossible de prouver que "quelqu'un dans l'organisation" a signé, jamais qui précisément.</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PREUVE D'INTÉGRITÉ</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Horodatage &amp; ancrage blockchain (optionnel)</a:t>
            </a:r>
            <a:endParaRPr lang="en-US" sz="2400" dirty="0"/>
          </a:p>
        </p:txBody>
      </p:sp>
      <p:sp>
        <p:nvSpPr>
          <p:cNvPr id="6" name="Text 3"/>
          <p:cNvSpPr txBox="1"/>
          <p:nvPr/>
        </p:nvSpPr>
        <p:spPr>
          <a:xfrm>
            <a:off x="548640" y="3246120"/>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horodatage authentifie la date de la signature.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Niveau d'intégrité BLOCKCHAIN (au choix, pas systématique) : le hash est en plus enregistré sur la blockchain Polygon.</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Preuve d'existence à une date donnée, publique et infalsifiable, indépendante de MadeArchive.</a:t>
            </a:r>
            <a:endParaRPr lang="en-US" sz="1450" dirty="0"/>
          </a:p>
        </p:txBody>
      </p:sp>
      <p:sp>
        <p:nvSpPr>
          <p:cNvPr id="7" name="Text 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5"/>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VÉRIFICATION PUBLIQUE</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Attestation d'archivage avec QR code</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public, sans authentification</a:t>
            </a:r>
            <a:endParaRPr lang="en-US" sz="1050" dirty="0"/>
          </a:p>
        </p:txBody>
      </p:sp>
      <p:sp>
        <p:nvSpPr>
          <p:cNvPr id="7" name="Text 4"/>
          <p:cNvSpPr txBox="1"/>
          <p:nvPr/>
        </p:nvSpPr>
        <p:spPr>
          <a:xfrm>
            <a:off x="548640" y="283921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PDF généré à la demande, avec l'empreinte SHA-256 du document et ses métadonnées à l'archivage.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QR code vers un lien de vérification public, accessible par jeton — jamais par l'UUID réel du document.</a:t>
            </a:r>
            <a:endParaRPr lang="en-US" sz="1450" dirty="0"/>
          </a:p>
        </p:txBody>
      </p:sp>
      <p:sp>
        <p:nvSpPr>
          <p:cNvPr id="8" name="Shape 5"/>
          <p:cNvSpPr/>
          <p:nvPr/>
        </p:nvSpPr>
        <p:spPr>
          <a:xfrm>
            <a:off x="548640" y="3927348"/>
            <a:ext cx="10881360" cy="1143000"/>
          </a:xfrm>
          <a:prstGeom prst="roundRect">
            <a:avLst>
              <a:gd name="adj" fmla="val 6400"/>
            </a:avLst>
          </a:prstGeom>
          <a:solidFill>
            <a:srgbClr val="F3E9DA"/>
          </a:solidFill>
          <a:ln/>
        </p:spPr>
      </p:sp>
      <p:sp>
        <p:nvSpPr>
          <p:cNvPr id="9" name="Text 6"/>
          <p:cNvSpPr txBox="1"/>
          <p:nvPr/>
        </p:nvSpPr>
        <p:spPr>
          <a:xfrm>
            <a:off x="868680" y="406450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31139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 tiers (auditeur, partenaire, autorité) doit pouvoir vérifier l'authenticité d'un document sans compte MadeArchive, sans que le lien expose l'identifiant interne.</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CONTRÔLE DE FIXITÉ</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Vérification périodique automatique</a:t>
            </a:r>
            <a:endParaRPr lang="en-US" sz="2400" dirty="0"/>
          </a:p>
        </p:txBody>
      </p:sp>
      <p:sp>
        <p:nvSpPr>
          <p:cNvPr id="6" name="Text 3"/>
          <p:cNvSpPr txBox="1"/>
          <p:nvPr/>
        </p:nvSpPr>
        <p:spPr>
          <a:xfrm>
            <a:off x="548640" y="283921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Une tâche planifiée retélécharge chaque PDF/A, le déchiffre, recalcule son SHA-256.</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Comparé à la valeur enregistrée à l'archivage — un écart marque le document CORRUPTED.</a:t>
            </a:r>
            <a:endParaRPr lang="en-US" sz="1450" dirty="0"/>
          </a:p>
        </p:txBody>
      </p:sp>
      <p:sp>
        <p:nvSpPr>
          <p:cNvPr id="7" name="Shape 4"/>
          <p:cNvSpPr/>
          <p:nvPr/>
        </p:nvSpPr>
        <p:spPr>
          <a:xfrm>
            <a:off x="548640" y="3927348"/>
            <a:ext cx="10881360" cy="1143000"/>
          </a:xfrm>
          <a:prstGeom prst="roundRect">
            <a:avLst>
              <a:gd name="adj" fmla="val 6400"/>
            </a:avLst>
          </a:prstGeom>
          <a:solidFill>
            <a:srgbClr val="F3E9DA"/>
          </a:solidFill>
          <a:ln/>
        </p:spPr>
      </p:sp>
      <p:sp>
        <p:nvSpPr>
          <p:cNvPr id="8" name="Text 5"/>
          <p:cNvSpPr txBox="1"/>
          <p:nvPr/>
        </p:nvSpPr>
        <p:spPr>
          <a:xfrm>
            <a:off x="868680" y="406450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431139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Sans contrôle actif, une corruption de stockage (disque, bit-rot, incident MinIO) ne serait découverte que le jour où quelqu'un tente d'ouvrir le document — potentiellement des années plus tard.</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2331720"/>
            <a:ext cx="914400" cy="91440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49808" y="2441448"/>
            <a:ext cx="694944" cy="694944"/>
          </a:xfrm>
          <a:prstGeom prst="rect">
            <a:avLst/>
          </a:prstGeom>
        </p:spPr>
      </p:pic>
      <p:sp>
        <p:nvSpPr>
          <p:cNvPr id="4" name="Text 1"/>
          <p:cNvSpPr txBox="1"/>
          <p:nvPr/>
        </p:nvSpPr>
        <p:spPr>
          <a:xfrm>
            <a:off x="1737360" y="2395728"/>
            <a:ext cx="8229600" cy="365760"/>
          </a:xfrm>
          <a:prstGeom prst="rect">
            <a:avLst/>
          </a:prstGeom>
          <a:noFill/>
          <a:ln/>
        </p:spPr>
        <p:txBody>
          <a:bodyPr wrap="square" lIns="0" tIns="0" rIns="0" bIns="0" rtlCol="0" anchor="ctr"/>
          <a:lstStyle/>
          <a:p>
            <a:pPr indent="0" marL="0">
              <a:buNone/>
            </a:pPr>
            <a:r>
              <a:rPr lang="en-US" sz="1200" spc="200" kern="0" dirty="0">
                <a:solidFill>
                  <a:srgbClr val="D9AE6C"/>
                </a:solidFill>
                <a:latin typeface="Calibri" pitchFamily="34" charset="0"/>
                <a:ea typeface="Calibri" pitchFamily="34" charset="-122"/>
                <a:cs typeface="Calibri" pitchFamily="34" charset="-120"/>
              </a:rPr>
              <a:t>PARTIE 4</a:t>
            </a:r>
            <a:endParaRPr lang="en-US" sz="1200" dirty="0"/>
          </a:p>
        </p:txBody>
      </p:sp>
      <p:sp>
        <p:nvSpPr>
          <p:cNvPr id="5" name="Text 2"/>
          <p:cNvSpPr txBox="1"/>
          <p:nvPr/>
        </p:nvSpPr>
        <p:spPr>
          <a:xfrm>
            <a:off x="1719072" y="274320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Consultation</a:t>
            </a:r>
            <a:endParaRPr lang="en-US" sz="38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7"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MINIATURES PDF</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Génération et mise en cache côté serveur</a:t>
            </a:r>
            <a:endParaRPr lang="en-US" sz="2400" dirty="0"/>
          </a:p>
        </p:txBody>
      </p:sp>
      <p:sp>
        <p:nvSpPr>
          <p:cNvPr id="6" name="Text 3"/>
          <p:cNvSpPr txBox="1"/>
          <p:nvPr/>
        </p:nvSpPr>
        <p:spPr>
          <a:xfrm>
            <a:off x="548640" y="2272284"/>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La première page est rasterisée une seule fois par PDFBox côté serveur.</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Mise en cache chiffrée, puis simplement relue à chaque affichage suivant.</a:t>
            </a:r>
            <a:endParaRPr lang="en-US" sz="1450" dirty="0"/>
          </a:p>
        </p:txBody>
      </p:sp>
      <p:sp>
        <p:nvSpPr>
          <p:cNvPr id="7" name="Shape 4"/>
          <p:cNvSpPr/>
          <p:nvPr/>
        </p:nvSpPr>
        <p:spPr>
          <a:xfrm>
            <a:off x="548640" y="3360420"/>
            <a:ext cx="10881360" cy="1143000"/>
          </a:xfrm>
          <a:prstGeom prst="roundRect">
            <a:avLst>
              <a:gd name="adj" fmla="val 6400"/>
            </a:avLst>
          </a:prstGeom>
          <a:solidFill>
            <a:srgbClr val="F3E9DA"/>
          </a:solidFill>
          <a:ln/>
        </p:spPr>
      </p:sp>
      <p:sp>
        <p:nvSpPr>
          <p:cNvPr id="8" name="Text 5"/>
          <p:cNvSpPr txBox="1"/>
          <p:nvPr/>
        </p:nvSpPr>
        <p:spPr>
          <a:xfrm>
            <a:off x="868680" y="3497580"/>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3744468"/>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L'ancienne approche (PDF entier + pdf.js côté client) coûtait un téléchargement + déchiffrement + rendu complet à CHAQUE affichage, par CHAQUE utilisateur — ingérable dès que le catalogue grandit.</a:t>
            </a:r>
            <a:endParaRPr lang="en-US" sz="1250" dirty="0"/>
          </a:p>
        </p:txBody>
      </p:sp>
      <p:sp>
        <p:nvSpPr>
          <p:cNvPr id="10" name="Shape 7"/>
          <p:cNvSpPr/>
          <p:nvPr/>
        </p:nvSpPr>
        <p:spPr>
          <a:xfrm>
            <a:off x="548640" y="4722876"/>
            <a:ext cx="10881360" cy="914400"/>
          </a:xfrm>
          <a:prstGeom prst="roundRect">
            <a:avLst>
              <a:gd name="adj" fmla="val 8000"/>
            </a:avLst>
          </a:prstGeom>
          <a:solidFill>
            <a:srgbClr val="FBE6D6"/>
          </a:solidFill>
          <a:ln/>
        </p:spPr>
      </p:sp>
      <p:sp>
        <p:nvSpPr>
          <p:cNvPr id="11" name="Text 8"/>
          <p:cNvSpPr txBox="1"/>
          <p:nvPr/>
        </p:nvSpPr>
        <p:spPr>
          <a:xfrm>
            <a:off x="868680" y="4860036"/>
            <a:ext cx="2743200" cy="274320"/>
          </a:xfrm>
          <a:prstGeom prst="rect">
            <a:avLst/>
          </a:prstGeom>
          <a:noFill/>
          <a:ln/>
        </p:spPr>
        <p:txBody>
          <a:bodyPr wrap="square" lIns="0" tIns="0" rIns="0" bIns="0" rtlCol="0" anchor="ctr"/>
          <a:lstStyle/>
          <a:p>
            <a:pPr indent="0" marL="0">
              <a:buNone/>
            </a:pPr>
            <a:r>
              <a:rPr lang="en-US" sz="1000" b="1" spc="100" kern="0" dirty="0">
                <a:solidFill>
                  <a:srgbClr val="A34E12"/>
                </a:solidFill>
                <a:latin typeface="Calibri" pitchFamily="34" charset="0"/>
                <a:ea typeface="Calibri" pitchFamily="34" charset="-122"/>
                <a:cs typeface="Calibri" pitchFamily="34" charset="-120"/>
              </a:rPr>
              <a:t>LIMITE CONNUE</a:t>
            </a:r>
            <a:endParaRPr lang="en-US" sz="1000" dirty="0"/>
          </a:p>
        </p:txBody>
      </p:sp>
      <p:sp>
        <p:nvSpPr>
          <p:cNvPr id="12" name="Text 9"/>
          <p:cNvSpPr txBox="1"/>
          <p:nvPr/>
        </p:nvSpPr>
        <p:spPr>
          <a:xfrm>
            <a:off x="868680" y="5106924"/>
            <a:ext cx="10241280" cy="4572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Génération à la demande (lazy) — le tout premier affichage d'un document jamais vu paie le coût de génération ; pas de génération proactive à l'archivage.</a:t>
            </a:r>
            <a:endParaRPr lang="en-US" sz="1250" dirty="0"/>
          </a:p>
        </p:txBody>
      </p:sp>
      <p:sp>
        <p:nvSpPr>
          <p:cNvPr id="13" name="Text 10"/>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4" name="Text 11"/>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RECHERCHE HYBRIDE</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Meilisearch (IDs) → PostgreSQL (données)</a:t>
            </a:r>
            <a:endParaRPr lang="en-US" sz="2400" dirty="0"/>
          </a:p>
        </p:txBody>
      </p:sp>
      <p:sp>
        <p:nvSpPr>
          <p:cNvPr id="6" name="Text 3"/>
          <p:cNvSpPr txBox="1"/>
          <p:nvPr/>
        </p:nvSpPr>
        <p:spPr>
          <a:xfrm>
            <a:off x="548640" y="2272284"/>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Meilisearch retourne des identifiants pertinents ; PostgreSQL charge ensuite les données complètes — jamais l'inverse.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Meilisearch ne fait jamais autorité sur le contenu ou les droits d'accès.</a:t>
            </a:r>
            <a:endParaRPr lang="en-US" sz="1450" dirty="0"/>
          </a:p>
        </p:txBody>
      </p:sp>
      <p:sp>
        <p:nvSpPr>
          <p:cNvPr id="7" name="Shape 4"/>
          <p:cNvSpPr/>
          <p:nvPr/>
        </p:nvSpPr>
        <p:spPr>
          <a:xfrm>
            <a:off x="548640" y="3360420"/>
            <a:ext cx="10881360" cy="1143000"/>
          </a:xfrm>
          <a:prstGeom prst="roundRect">
            <a:avLst>
              <a:gd name="adj" fmla="val 6400"/>
            </a:avLst>
          </a:prstGeom>
          <a:solidFill>
            <a:srgbClr val="F3E9DA"/>
          </a:solidFill>
          <a:ln/>
        </p:spPr>
      </p:sp>
      <p:sp>
        <p:nvSpPr>
          <p:cNvPr id="8" name="Text 5"/>
          <p:cNvSpPr txBox="1"/>
          <p:nvPr/>
        </p:nvSpPr>
        <p:spPr>
          <a:xfrm>
            <a:off x="868680" y="3497580"/>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3744468"/>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PostgreSQL reste la seule source de vérité pour la sécurité (statut, propriétaire, confidentialité) — un moteur de recherche externe ne doit jamais décider seul qui voit quoi.</a:t>
            </a:r>
            <a:endParaRPr lang="en-US" sz="1250" dirty="0"/>
          </a:p>
        </p:txBody>
      </p:sp>
      <p:sp>
        <p:nvSpPr>
          <p:cNvPr id="10" name="Shape 7"/>
          <p:cNvSpPr/>
          <p:nvPr/>
        </p:nvSpPr>
        <p:spPr>
          <a:xfrm>
            <a:off x="548640" y="4722876"/>
            <a:ext cx="10881360" cy="914400"/>
          </a:xfrm>
          <a:prstGeom prst="roundRect">
            <a:avLst>
              <a:gd name="adj" fmla="val 8000"/>
            </a:avLst>
          </a:prstGeom>
          <a:solidFill>
            <a:srgbClr val="FBE6D6"/>
          </a:solidFill>
          <a:ln/>
        </p:spPr>
      </p:sp>
      <p:sp>
        <p:nvSpPr>
          <p:cNvPr id="11" name="Text 8"/>
          <p:cNvSpPr txBox="1"/>
          <p:nvPr/>
        </p:nvSpPr>
        <p:spPr>
          <a:xfrm>
            <a:off x="868680" y="4860036"/>
            <a:ext cx="2743200" cy="274320"/>
          </a:xfrm>
          <a:prstGeom prst="rect">
            <a:avLst/>
          </a:prstGeom>
          <a:noFill/>
          <a:ln/>
        </p:spPr>
        <p:txBody>
          <a:bodyPr wrap="square" lIns="0" tIns="0" rIns="0" bIns="0" rtlCol="0" anchor="ctr"/>
          <a:lstStyle/>
          <a:p>
            <a:pPr indent="0" marL="0">
              <a:buNone/>
            </a:pPr>
            <a:r>
              <a:rPr lang="en-US" sz="1000" b="1" spc="100" kern="0" dirty="0">
                <a:solidFill>
                  <a:srgbClr val="A34E12"/>
                </a:solidFill>
                <a:latin typeface="Calibri" pitchFamily="34" charset="0"/>
                <a:ea typeface="Calibri" pitchFamily="34" charset="-122"/>
                <a:cs typeface="Calibri" pitchFamily="34" charset="-120"/>
              </a:rPr>
              <a:t>LIMITE CONNUE</a:t>
            </a:r>
            <a:endParaRPr lang="en-US" sz="1000" dirty="0"/>
          </a:p>
        </p:txBody>
      </p:sp>
      <p:sp>
        <p:nvSpPr>
          <p:cNvPr id="12" name="Text 9"/>
          <p:cNvSpPr txBox="1"/>
          <p:nvPr/>
        </p:nvSpPr>
        <p:spPr>
          <a:xfrm>
            <a:off x="868680" y="5106924"/>
            <a:ext cx="10241280" cy="4572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Sur la branche recherche textuelle, la pagination retourne toujours totalPages = 1 — imprécis dès qu'une recherche dépasse une page de résultats.</a:t>
            </a:r>
            <a:endParaRPr lang="en-US" sz="1250" dirty="0"/>
          </a:p>
        </p:txBody>
      </p:sp>
      <p:sp>
        <p:nvSpPr>
          <p:cNvPr id="13" name="Text 10"/>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4" name="Text 11"/>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DOCUMENTS ACCESSIBLES &amp; MES DOCUMENTS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Listes paginées, filtrables par date</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tous rôles</a:t>
            </a:r>
            <a:endParaRPr lang="en-US" sz="1050" dirty="0"/>
          </a:p>
        </p:txBody>
      </p:sp>
      <p:sp>
        <p:nvSpPr>
          <p:cNvPr id="7" name="Text 4"/>
          <p:cNvSpPr txBox="1"/>
          <p:nvPr/>
        </p:nvSpPr>
        <p:spPr>
          <a:xfrm>
            <a:off x="548640" y="3246120"/>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"Mes documents" (ce que j'ai uploadé, par type) et "Documents accessibles" (tout ce à quoi j'ai droit).</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Toutes deux paginées côté SQL — jamais un chargement complet envoyé au client.</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Filtres par titre, type, accès, statut et plage de dates.</a:t>
            </a:r>
            <a:endParaRPr lang="en-US" sz="1450" dirty="0"/>
          </a:p>
        </p:txBody>
      </p:sp>
      <p:sp>
        <p:nvSpPr>
          <p:cNvPr id="8" name="Text 5"/>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9" name="Text 6"/>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2331720"/>
            <a:ext cx="914400" cy="91440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49808" y="2441448"/>
            <a:ext cx="694944" cy="694944"/>
          </a:xfrm>
          <a:prstGeom prst="rect">
            <a:avLst/>
          </a:prstGeom>
        </p:spPr>
      </p:pic>
      <p:sp>
        <p:nvSpPr>
          <p:cNvPr id="4" name="Text 1"/>
          <p:cNvSpPr txBox="1"/>
          <p:nvPr/>
        </p:nvSpPr>
        <p:spPr>
          <a:xfrm>
            <a:off x="1737360" y="2395728"/>
            <a:ext cx="8229600" cy="365760"/>
          </a:xfrm>
          <a:prstGeom prst="rect">
            <a:avLst/>
          </a:prstGeom>
          <a:noFill/>
          <a:ln/>
        </p:spPr>
        <p:txBody>
          <a:bodyPr wrap="square" lIns="0" tIns="0" rIns="0" bIns="0" rtlCol="0" anchor="ctr"/>
          <a:lstStyle/>
          <a:p>
            <a:pPr indent="0" marL="0">
              <a:buNone/>
            </a:pPr>
            <a:r>
              <a:rPr lang="en-US" sz="1200" spc="200" kern="0" dirty="0">
                <a:solidFill>
                  <a:srgbClr val="D9AE6C"/>
                </a:solidFill>
                <a:latin typeface="Calibri" pitchFamily="34" charset="0"/>
                <a:ea typeface="Calibri" pitchFamily="34" charset="-122"/>
                <a:cs typeface="Calibri" pitchFamily="34" charset="-120"/>
              </a:rPr>
              <a:t>PARTIE 5</a:t>
            </a:r>
            <a:endParaRPr lang="en-US" sz="1200" dirty="0"/>
          </a:p>
        </p:txBody>
      </p:sp>
      <p:sp>
        <p:nvSpPr>
          <p:cNvPr id="5" name="Text 2"/>
          <p:cNvSpPr txBox="1"/>
          <p:nvPr/>
        </p:nvSpPr>
        <p:spPr>
          <a:xfrm>
            <a:off x="1719072" y="274320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Organisation du contenu</a:t>
            </a:r>
            <a:endParaRPr lang="en-US" sz="38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7"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PROJETS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Regroupement de documents par affaire</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EDITOR (écriture)</a:t>
            </a:r>
            <a:endParaRPr lang="en-US" sz="1050" dirty="0"/>
          </a:p>
        </p:txBody>
      </p:sp>
      <p:sp>
        <p:nvSpPr>
          <p:cNvPr id="7" name="Text 4"/>
          <p:cNvSpPr txBox="1"/>
          <p:nvPr/>
        </p:nvSpPr>
        <p:spPr>
          <a:xfrm>
            <a:off x="548640" y="2564892"/>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projet définit les types de documents attendus.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Peut être privé — visible à ses seuls membres, sans exception même pour un admin.</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Entièrement piloté par son créateur.</a:t>
            </a:r>
            <a:endParaRPr lang="en-US" sz="1450" dirty="0"/>
          </a:p>
        </p:txBody>
      </p:sp>
      <p:sp>
        <p:nvSpPr>
          <p:cNvPr id="8" name="Shape 5"/>
          <p:cNvSpPr/>
          <p:nvPr/>
        </p:nvSpPr>
        <p:spPr>
          <a:xfrm>
            <a:off x="548640" y="4201668"/>
            <a:ext cx="10881360" cy="1143000"/>
          </a:xfrm>
          <a:prstGeom prst="roundRect">
            <a:avLst>
              <a:gd name="adj" fmla="val 6400"/>
            </a:avLst>
          </a:prstGeom>
          <a:solidFill>
            <a:srgbClr val="F3E9DA"/>
          </a:solidFill>
          <a:ln/>
        </p:spPr>
      </p:sp>
      <p:sp>
        <p:nvSpPr>
          <p:cNvPr id="9" name="Text 6"/>
          <p:cNvSpPr txBox="1"/>
          <p:nvPr/>
        </p:nvSpPr>
        <p:spPr>
          <a:xfrm>
            <a:off x="868680" y="433882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58571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 dossier papier réel (une affaire, un marché) regroupe plusieurs types de documents liés — le classement par type seul ne suffit pas à représenter cette relation.</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EMPLACEMENTS PHYSIQUES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Localisation de l'original papier</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ADMIN, ADMIN_UO (gestion)</a:t>
            </a:r>
            <a:endParaRPr lang="en-US" sz="1050" dirty="0"/>
          </a:p>
        </p:txBody>
      </p:sp>
      <p:sp>
        <p:nvSpPr>
          <p:cNvPr id="7" name="Text 4"/>
          <p:cNvSpPr txBox="1"/>
          <p:nvPr/>
        </p:nvSpPr>
        <p:spPr>
          <a:xfrm>
            <a:off x="548640" y="283921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arbre de localisation (bâtiment → salle → rayon → carton…).</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document numérisé peut y être rattaché pour retrouver l'original papier.</a:t>
            </a:r>
            <a:endParaRPr lang="en-US" sz="1450" dirty="0"/>
          </a:p>
        </p:txBody>
      </p:sp>
      <p:sp>
        <p:nvSpPr>
          <p:cNvPr id="8" name="Shape 5"/>
          <p:cNvSpPr/>
          <p:nvPr/>
        </p:nvSpPr>
        <p:spPr>
          <a:xfrm>
            <a:off x="548640" y="3927348"/>
            <a:ext cx="10881360" cy="1143000"/>
          </a:xfrm>
          <a:prstGeom prst="roundRect">
            <a:avLst>
              <a:gd name="adj" fmla="val 6400"/>
            </a:avLst>
          </a:prstGeom>
          <a:solidFill>
            <a:srgbClr val="F3E9DA"/>
          </a:solidFill>
          <a:ln/>
        </p:spPr>
      </p:sp>
      <p:sp>
        <p:nvSpPr>
          <p:cNvPr id="9" name="Text 6"/>
          <p:cNvSpPr txBox="1"/>
          <p:nvPr/>
        </p:nvSpPr>
        <p:spPr>
          <a:xfrm>
            <a:off x="868680" y="406450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31139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Numériser n'élimine pas toujours l'obligation légale de conserver l'original papier — sans cette traçabilité, l'original redevient introuvable dans un dépôt d'archives.</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GROUPES D'ACCÈS PRIVÉS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Liste nominative pour un document ou projet privé</a:t>
            </a:r>
            <a:endParaRPr lang="en-US" sz="2400" dirty="0"/>
          </a:p>
        </p:txBody>
      </p:sp>
      <p:sp>
        <p:nvSpPr>
          <p:cNvPr id="6" name="Text 3"/>
          <p:cNvSpPr txBox="1"/>
          <p:nvPr/>
        </p:nvSpPr>
        <p:spPr>
          <a:xfrm>
            <a:off x="548640" y="3520440"/>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document ou projet privé n'est visible qu'à une liste explicite de membres.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Gérée par un éditeur y ayant lui-même accès — jamais par un rôle seul.</a:t>
            </a:r>
            <a:endParaRPr lang="en-US" sz="1450" dirty="0"/>
          </a:p>
        </p:txBody>
      </p:sp>
      <p:sp>
        <p:nvSpPr>
          <p:cNvPr id="7" name="Text 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5"/>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2331720"/>
            <a:ext cx="914400" cy="91440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49808" y="2441448"/>
            <a:ext cx="694944" cy="694944"/>
          </a:xfrm>
          <a:prstGeom prst="rect">
            <a:avLst/>
          </a:prstGeom>
        </p:spPr>
      </p:pic>
      <p:sp>
        <p:nvSpPr>
          <p:cNvPr id="4" name="Text 1"/>
          <p:cNvSpPr txBox="1"/>
          <p:nvPr/>
        </p:nvSpPr>
        <p:spPr>
          <a:xfrm>
            <a:off x="1737360" y="2395728"/>
            <a:ext cx="8229600" cy="365760"/>
          </a:xfrm>
          <a:prstGeom prst="rect">
            <a:avLst/>
          </a:prstGeom>
          <a:noFill/>
          <a:ln/>
        </p:spPr>
        <p:txBody>
          <a:bodyPr wrap="square" lIns="0" tIns="0" rIns="0" bIns="0" rtlCol="0" anchor="ctr"/>
          <a:lstStyle/>
          <a:p>
            <a:pPr indent="0" marL="0">
              <a:buNone/>
            </a:pPr>
            <a:r>
              <a:rPr lang="en-US" sz="1200" spc="200" kern="0" dirty="0">
                <a:solidFill>
                  <a:srgbClr val="D9AE6C"/>
                </a:solidFill>
                <a:latin typeface="Calibri" pitchFamily="34" charset="0"/>
                <a:ea typeface="Calibri" pitchFamily="34" charset="-122"/>
                <a:cs typeface="Calibri" pitchFamily="34" charset="-120"/>
              </a:rPr>
              <a:t>PARTIE 6</a:t>
            </a:r>
            <a:endParaRPr lang="en-US" sz="1200" dirty="0"/>
          </a:p>
        </p:txBody>
      </p:sp>
      <p:sp>
        <p:nvSpPr>
          <p:cNvPr id="5" name="Text 2"/>
          <p:cNvSpPr txBox="1"/>
          <p:nvPr/>
        </p:nvSpPr>
        <p:spPr>
          <a:xfrm>
            <a:off x="1719072" y="274320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Cycle de vie &amp; gouvernance</a:t>
            </a:r>
            <a:endParaRPr lang="en-US" sz="38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7"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CORBEILLE &amp; RÉTENTION</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Délai de grâce de 3 jours avant purge définitive</a:t>
            </a:r>
            <a:endParaRPr lang="en-US" sz="2400" dirty="0"/>
          </a:p>
        </p:txBody>
      </p:sp>
      <p:sp>
        <p:nvSpPr>
          <p:cNvPr id="6" name="Text 3"/>
          <p:cNvSpPr txBox="1"/>
          <p:nvPr/>
        </p:nvSpPr>
        <p:spPr>
          <a:xfrm>
            <a:off x="548640" y="297637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Envoyer un document à la corbeille (n'importe lequel, pas seulement un corrompu) le rend restaurable pendant 3 jours.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La suppression réellement définitive est exécutée par une tâche planifiée.</a:t>
            </a:r>
            <a:endParaRPr lang="en-US" sz="1450" dirty="0"/>
          </a:p>
        </p:txBody>
      </p:sp>
      <p:sp>
        <p:nvSpPr>
          <p:cNvPr id="7" name="Shape 4"/>
          <p:cNvSpPr/>
          <p:nvPr/>
        </p:nvSpPr>
        <p:spPr>
          <a:xfrm>
            <a:off x="548640" y="4064508"/>
            <a:ext cx="10881360" cy="868680"/>
          </a:xfrm>
          <a:prstGeom prst="roundRect">
            <a:avLst>
              <a:gd name="adj" fmla="val 8421"/>
            </a:avLst>
          </a:prstGeom>
          <a:solidFill>
            <a:srgbClr val="F3E9DA"/>
          </a:solidFill>
          <a:ln/>
        </p:spPr>
      </p:sp>
      <p:sp>
        <p:nvSpPr>
          <p:cNvPr id="8" name="Text 5"/>
          <p:cNvSpPr txBox="1"/>
          <p:nvPr/>
        </p:nvSpPr>
        <p:spPr>
          <a:xfrm>
            <a:off x="868680" y="420166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4448556"/>
            <a:ext cx="10241280" cy="41148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Même logique que pour les utilisateurs — une suppression instantanée et sans recours expose à l'erreur humaine sur un document potentiellement irremplaçable.</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EXPORT ADMINISTRATIF</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Export en masse pour migration</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ADMIN, ADMIN_UO</a:t>
            </a:r>
            <a:endParaRPr lang="en-US" sz="1050" dirty="0"/>
          </a:p>
        </p:txBody>
      </p:sp>
      <p:sp>
        <p:nvSpPr>
          <p:cNvPr id="7" name="Text 4"/>
          <p:cNvSpPr txBox="1"/>
          <p:nvPr/>
        </p:nvSpPr>
        <p:spPr>
          <a:xfrm>
            <a:off x="548640" y="2702052"/>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Génère une archive ZIP avec les documents déchiffrés d'une ou plusieurs UO.</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Pensé pour une migration ou un changement de système, pas un usage courant.</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ZIP temporaire, purgé automatiquement après un délai de rétention.</a:t>
            </a:r>
            <a:endParaRPr lang="en-US" sz="1450" dirty="0"/>
          </a:p>
        </p:txBody>
      </p:sp>
      <p:sp>
        <p:nvSpPr>
          <p:cNvPr id="8" name="Shape 5"/>
          <p:cNvSpPr/>
          <p:nvPr/>
        </p:nvSpPr>
        <p:spPr>
          <a:xfrm>
            <a:off x="548640" y="4338828"/>
            <a:ext cx="10881360" cy="868680"/>
          </a:xfrm>
          <a:prstGeom prst="roundRect">
            <a:avLst>
              <a:gd name="adj" fmla="val 8421"/>
            </a:avLst>
          </a:prstGeom>
          <a:solidFill>
            <a:srgbClr val="F3E9DA"/>
          </a:solidFill>
          <a:ln/>
        </p:spPr>
      </p:sp>
      <p:sp>
        <p:nvSpPr>
          <p:cNvPr id="9" name="Text 6"/>
          <p:cNvSpPr txBox="1"/>
          <p:nvPr/>
        </p:nvSpPr>
        <p:spPr>
          <a:xfrm>
            <a:off x="868680" y="447598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0" name="Text 7"/>
          <p:cNvSpPr txBox="1"/>
          <p:nvPr/>
        </p:nvSpPr>
        <p:spPr>
          <a:xfrm>
            <a:off x="868680" y="4722876"/>
            <a:ext cx="10241280" cy="41148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Une institution qui change d'outil d'archivage doit pouvoir récupérer l'intégralité de ses documents en clair, sans dépendre indéfiniment de MadeArchive.</a:t>
            </a:r>
            <a:endParaRPr lang="en-US" sz="1250" dirty="0"/>
          </a:p>
        </p:txBody>
      </p:sp>
      <p:sp>
        <p:nvSpPr>
          <p:cNvPr id="11" name="Text 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2" name="Text 9"/>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JOURNAL D'AUDIT</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Traçabilité de toute action sensible</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ADMIN, ADMIN_UO (scopé)</a:t>
            </a:r>
            <a:endParaRPr lang="en-US" sz="1050" dirty="0"/>
          </a:p>
        </p:txBody>
      </p:sp>
      <p:sp>
        <p:nvSpPr>
          <p:cNvPr id="7" name="Text 4"/>
          <p:cNvSpPr txBox="1"/>
          <p:nvPr/>
        </p:nvSpPr>
        <p:spPr>
          <a:xfrm>
            <a:off x="548640" y="3520440"/>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Archivage, suppression, transfert d'UO, génération d'attestation, consultation publique…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Chaque entrée porte son acteur, sa cible et l'UO concernée.</a:t>
            </a:r>
            <a:endParaRPr lang="en-US" sz="1450" dirty="0"/>
          </a:p>
        </p:txBody>
      </p:sp>
      <p:sp>
        <p:nvSpPr>
          <p:cNvPr id="8" name="Text 5"/>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9" name="Text 6"/>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NOTIFICATIONS</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Alertes internes</a:t>
            </a:r>
            <a:endParaRPr lang="en-US" sz="2400" dirty="0"/>
          </a:p>
        </p:txBody>
      </p:sp>
      <p:sp>
        <p:nvSpPr>
          <p:cNvPr id="6" name="Text 3"/>
          <p:cNvSpPr txBox="1"/>
          <p:nvPr/>
        </p:nvSpPr>
        <p:spPr>
          <a:xfrm>
            <a:off x="1170432" y="1280160"/>
            <a:ext cx="7315200" cy="274320"/>
          </a:xfrm>
          <a:prstGeom prst="rect">
            <a:avLst/>
          </a:prstGeom>
          <a:noFill/>
          <a:ln/>
        </p:spPr>
        <p:txBody>
          <a:bodyPr wrap="square" lIns="0" tIns="0" rIns="0" bIns="0" rtlCol="0" anchor="ctr"/>
          <a:lstStyle/>
          <a:p>
            <a:pPr indent="0" marL="0">
              <a:buNone/>
            </a:pPr>
            <a:r>
              <a:rPr lang="en-US" sz="1050" dirty="0">
                <a:solidFill>
                  <a:srgbClr val="7C6552"/>
                </a:solidFill>
                <a:latin typeface="Courier New" pitchFamily="34" charset="0"/>
                <a:ea typeface="Courier New" pitchFamily="34" charset="-122"/>
                <a:cs typeface="Courier New" pitchFamily="34" charset="-120"/>
              </a:rPr>
              <a:t>tous rôles</a:t>
            </a:r>
            <a:endParaRPr lang="en-US" sz="1050" dirty="0"/>
          </a:p>
        </p:txBody>
      </p:sp>
      <p:sp>
        <p:nvSpPr>
          <p:cNvPr id="7" name="Text 4"/>
          <p:cNvSpPr txBox="1"/>
          <p:nvPr/>
        </p:nvSpPr>
        <p:spPr>
          <a:xfrm>
            <a:off x="548640" y="3520440"/>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File de notifications par utilisateur, lues/non lues.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Pour les événements qui le concernent directement.</a:t>
            </a:r>
            <a:endParaRPr lang="en-US" sz="1450" dirty="0"/>
          </a:p>
        </p:txBody>
      </p:sp>
      <p:sp>
        <p:nvSpPr>
          <p:cNvPr id="8" name="Text 5"/>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9" name="Text 6"/>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2331720"/>
            <a:ext cx="914400" cy="91440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49808" y="2441448"/>
            <a:ext cx="694944" cy="694944"/>
          </a:xfrm>
          <a:prstGeom prst="rect">
            <a:avLst/>
          </a:prstGeom>
        </p:spPr>
      </p:pic>
      <p:sp>
        <p:nvSpPr>
          <p:cNvPr id="4" name="Text 1"/>
          <p:cNvSpPr txBox="1"/>
          <p:nvPr/>
        </p:nvSpPr>
        <p:spPr>
          <a:xfrm>
            <a:off x="1737360" y="2395728"/>
            <a:ext cx="8229600" cy="365760"/>
          </a:xfrm>
          <a:prstGeom prst="rect">
            <a:avLst/>
          </a:prstGeom>
          <a:noFill/>
          <a:ln/>
        </p:spPr>
        <p:txBody>
          <a:bodyPr wrap="square" lIns="0" tIns="0" rIns="0" bIns="0" rtlCol="0" anchor="ctr"/>
          <a:lstStyle/>
          <a:p>
            <a:pPr indent="0" marL="0">
              <a:buNone/>
            </a:pPr>
            <a:r>
              <a:rPr lang="en-US" sz="1200" spc="200" kern="0" dirty="0">
                <a:solidFill>
                  <a:srgbClr val="D9AE6C"/>
                </a:solidFill>
                <a:latin typeface="Calibri" pitchFamily="34" charset="0"/>
                <a:ea typeface="Calibri" pitchFamily="34" charset="-122"/>
                <a:cs typeface="Calibri" pitchFamily="34" charset="-120"/>
              </a:rPr>
              <a:t>PARTIE 7</a:t>
            </a:r>
            <a:endParaRPr lang="en-US" sz="1200" dirty="0"/>
          </a:p>
        </p:txBody>
      </p:sp>
      <p:sp>
        <p:nvSpPr>
          <p:cNvPr id="5" name="Text 2"/>
          <p:cNvSpPr txBox="1"/>
          <p:nvPr/>
        </p:nvSpPr>
        <p:spPr>
          <a:xfrm>
            <a:off x="1719072" y="274320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Infrastructure — conteneurs Docker</a:t>
            </a:r>
            <a:endParaRPr lang="en-US" sz="38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7"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17550"/>
            <a:ext cx="382219" cy="382219"/>
          </a:xfrm>
          <a:prstGeom prst="rect">
            <a:avLst/>
          </a:prstGeom>
        </p:spPr>
      </p:pic>
      <p:sp>
        <p:nvSpPr>
          <p:cNvPr id="4" name="Text 1"/>
          <p:cNvSpPr txBox="1"/>
          <p:nvPr/>
        </p:nvSpPr>
        <p:spPr>
          <a:xfrm>
            <a:off x="1170432" y="420624"/>
            <a:ext cx="9418320" cy="548640"/>
          </a:xfrm>
          <a:prstGeom prst="rect">
            <a:avLst/>
          </a:prstGeom>
          <a:noFill/>
          <a:ln/>
        </p:spPr>
        <p:txBody>
          <a:bodyPr wrap="square" lIns="0" tIns="0" rIns="0" bIns="0" rtlCol="0" anchor="ctr"/>
          <a:lstStyle/>
          <a:p>
            <a:pPr indent="0" marL="0">
              <a:buNone/>
            </a:pPr>
            <a:r>
              <a:rPr lang="en-US" sz="2600" b="1" dirty="0">
                <a:solidFill>
                  <a:srgbClr val="2C1A0E"/>
                </a:solidFill>
                <a:latin typeface="Cambria" pitchFamily="34" charset="0"/>
                <a:ea typeface="Cambria" pitchFamily="34" charset="-122"/>
                <a:cs typeface="Cambria" pitchFamily="34" charset="-120"/>
              </a:rPr>
              <a:t>Infrastructure — conteneurs Docker</a:t>
            </a:r>
            <a:endParaRPr lang="en-US" sz="2600" dirty="0"/>
          </a:p>
        </p:txBody>
      </p:sp>
      <p:sp>
        <p:nvSpPr>
          <p:cNvPr id="5" name="Text 2"/>
          <p:cNvSpPr txBox="1"/>
          <p:nvPr/>
        </p:nvSpPr>
        <p:spPr>
          <a:xfrm>
            <a:off x="10607040" y="502920"/>
            <a:ext cx="1097280" cy="365760"/>
          </a:xfrm>
          <a:prstGeom prst="rect">
            <a:avLst/>
          </a:prstGeom>
          <a:noFill/>
          <a:ln/>
        </p:spPr>
        <p:txBody>
          <a:bodyPr wrap="square" lIns="0" tIns="0" rIns="0" bIns="0" rtlCol="0" anchor="ctr"/>
          <a:lstStyle/>
          <a:p>
            <a:pPr algn="r" indent="0" marL="0">
              <a:buNone/>
            </a:pPr>
            <a:r>
              <a:rPr lang="en-US" sz="1100" dirty="0">
                <a:solidFill>
                  <a:srgbClr val="7C6552"/>
                </a:solidFill>
                <a:latin typeface="Calibri" pitchFamily="34" charset="0"/>
                <a:ea typeface="Calibri" pitchFamily="34" charset="-122"/>
                <a:cs typeface="Calibri" pitchFamily="34" charset="-120"/>
              </a:rPr>
              <a:t>1 / 2</a:t>
            </a:r>
            <a:endParaRPr lang="en-US" sz="1100" dirty="0"/>
          </a:p>
        </p:txBody>
      </p:sp>
      <p:sp>
        <p:nvSpPr>
          <p:cNvPr id="6" name="Shape 3"/>
          <p:cNvSpPr/>
          <p:nvPr/>
        </p:nvSpPr>
        <p:spPr>
          <a:xfrm>
            <a:off x="548640" y="1143000"/>
            <a:ext cx="5394960" cy="1691640"/>
          </a:xfrm>
          <a:prstGeom prst="roundRect">
            <a:avLst>
              <a:gd name="adj" fmla="val 4324"/>
            </a:avLst>
          </a:prstGeom>
          <a:solidFill>
            <a:srgbClr val="F3E9DA"/>
          </a:solidFill>
          <a:ln/>
        </p:spPr>
      </p:sp>
      <p:sp>
        <p:nvSpPr>
          <p:cNvPr id="7" name="Text 4"/>
          <p:cNvSpPr txBox="1"/>
          <p:nvPr/>
        </p:nvSpPr>
        <p:spPr>
          <a:xfrm>
            <a:off x="804672" y="1271016"/>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app</a:t>
            </a:r>
            <a:endParaRPr lang="en-US" sz="1350" dirty="0"/>
          </a:p>
        </p:txBody>
      </p:sp>
      <p:sp>
        <p:nvSpPr>
          <p:cNvPr id="8" name="Text 5"/>
          <p:cNvSpPr txBox="1"/>
          <p:nvPr/>
        </p:nvSpPr>
        <p:spPr>
          <a:xfrm>
            <a:off x="804672" y="1545336"/>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ghcr.io/lloyd-koutele/madearchive-app</a:t>
            </a:r>
            <a:endParaRPr lang="en-US" sz="850" dirty="0"/>
          </a:p>
        </p:txBody>
      </p:sp>
      <p:sp>
        <p:nvSpPr>
          <p:cNvPr id="9" name="Text 6"/>
          <p:cNvSpPr txBox="1"/>
          <p:nvPr/>
        </p:nvSpPr>
        <p:spPr>
          <a:xfrm>
            <a:off x="804672" y="1819656"/>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Le backend Spring Boot — toute la logique métier de ce document. Seul conteneur autorisé à parler à tous les autres ; aucun port publié, joignable uniquement via Traefik.</a:t>
            </a:r>
            <a:endParaRPr lang="en-US" sz="970" dirty="0"/>
          </a:p>
        </p:txBody>
      </p:sp>
      <p:sp>
        <p:nvSpPr>
          <p:cNvPr id="10" name="Shape 7"/>
          <p:cNvSpPr/>
          <p:nvPr/>
        </p:nvSpPr>
        <p:spPr>
          <a:xfrm>
            <a:off x="6062472" y="1143000"/>
            <a:ext cx="5394960" cy="1691640"/>
          </a:xfrm>
          <a:prstGeom prst="roundRect">
            <a:avLst>
              <a:gd name="adj" fmla="val 4324"/>
            </a:avLst>
          </a:prstGeom>
          <a:solidFill>
            <a:srgbClr val="F3E9DA"/>
          </a:solidFill>
          <a:ln/>
        </p:spPr>
      </p:sp>
      <p:sp>
        <p:nvSpPr>
          <p:cNvPr id="11" name="Text 8"/>
          <p:cNvSpPr txBox="1"/>
          <p:nvPr/>
        </p:nvSpPr>
        <p:spPr>
          <a:xfrm>
            <a:off x="6318504" y="1271016"/>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frontend</a:t>
            </a:r>
            <a:endParaRPr lang="en-US" sz="1350" dirty="0"/>
          </a:p>
        </p:txBody>
      </p:sp>
      <p:sp>
        <p:nvSpPr>
          <p:cNvPr id="12" name="Text 9"/>
          <p:cNvSpPr txBox="1"/>
          <p:nvPr/>
        </p:nvSpPr>
        <p:spPr>
          <a:xfrm>
            <a:off x="6318504" y="1545336"/>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ghcr.io/lloyd-koutele/madearchive-frontend</a:t>
            </a:r>
            <a:endParaRPr lang="en-US" sz="850" dirty="0"/>
          </a:p>
        </p:txBody>
      </p:sp>
      <p:sp>
        <p:nvSpPr>
          <p:cNvPr id="13" name="Text 10"/>
          <p:cNvSpPr txBox="1"/>
          <p:nvPr/>
        </p:nvSpPr>
        <p:spPr>
          <a:xfrm>
            <a:off x="6318504" y="1819656"/>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L'interface React, servie statiquement. Même durcissement que "app" : aucun accès direct, uniquement via Traefik.</a:t>
            </a:r>
            <a:endParaRPr lang="en-US" sz="970" dirty="0"/>
          </a:p>
        </p:txBody>
      </p:sp>
      <p:sp>
        <p:nvSpPr>
          <p:cNvPr id="14" name="Shape 11"/>
          <p:cNvSpPr/>
          <p:nvPr/>
        </p:nvSpPr>
        <p:spPr>
          <a:xfrm>
            <a:off x="548640" y="2999232"/>
            <a:ext cx="5394960" cy="1691640"/>
          </a:xfrm>
          <a:prstGeom prst="roundRect">
            <a:avLst>
              <a:gd name="adj" fmla="val 4324"/>
            </a:avLst>
          </a:prstGeom>
          <a:solidFill>
            <a:srgbClr val="F3E9DA"/>
          </a:solidFill>
          <a:ln/>
        </p:spPr>
      </p:sp>
      <p:sp>
        <p:nvSpPr>
          <p:cNvPr id="15" name="Text 12"/>
          <p:cNvSpPr txBox="1"/>
          <p:nvPr/>
        </p:nvSpPr>
        <p:spPr>
          <a:xfrm>
            <a:off x="804672" y="3127248"/>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postgres</a:t>
            </a:r>
            <a:endParaRPr lang="en-US" sz="1350" dirty="0"/>
          </a:p>
        </p:txBody>
      </p:sp>
      <p:sp>
        <p:nvSpPr>
          <p:cNvPr id="16" name="Text 13"/>
          <p:cNvSpPr txBox="1"/>
          <p:nvPr/>
        </p:nvSpPr>
        <p:spPr>
          <a:xfrm>
            <a:off x="804672" y="3401568"/>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postgres:16-alpine</a:t>
            </a:r>
            <a:endParaRPr lang="en-US" sz="850" dirty="0"/>
          </a:p>
        </p:txBody>
      </p:sp>
      <p:sp>
        <p:nvSpPr>
          <p:cNvPr id="17" name="Text 14"/>
          <p:cNvSpPr txBox="1"/>
          <p:nvPr/>
        </p:nvSpPr>
        <p:spPr>
          <a:xfrm>
            <a:off x="804672" y="3675888"/>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Base de données relationnelle — LA source de vérité (documents, utilisateurs, UO, métadonnées).</a:t>
            </a:r>
            <a:endParaRPr lang="en-US" sz="970" dirty="0"/>
          </a:p>
          <a:p>
            <a:pPr indent="0" marL="0">
              <a:lnSpc>
                <a:spcPct val="108000"/>
              </a:lnSpc>
              <a:spcAft>
                <a:spcPts val="400"/>
              </a:spcAft>
              <a:buNone/>
            </a:pPr>
            <a:r>
              <a:rPr lang="en-US" sz="970" i="1" dirty="0">
                <a:solidFill>
                  <a:srgbClr val="7C6552"/>
                </a:solidFill>
                <a:latin typeface="Calibri" pitchFamily="34" charset="0"/>
                <a:ea typeface="Calibri" pitchFamily="34" charset="-122"/>
                <a:cs typeface="Calibri" pitchFamily="34" charset="-120"/>
              </a:rPr>
              <a:t>Seul conteneur en volume nommé dès le départ — ses données doivent survivre à un redémarrage, sans exception.</a:t>
            </a:r>
            <a:endParaRPr lang="en-US" sz="970" dirty="0"/>
          </a:p>
        </p:txBody>
      </p:sp>
      <p:sp>
        <p:nvSpPr>
          <p:cNvPr id="18" name="Shape 15"/>
          <p:cNvSpPr/>
          <p:nvPr/>
        </p:nvSpPr>
        <p:spPr>
          <a:xfrm>
            <a:off x="6062472" y="2999232"/>
            <a:ext cx="5394960" cy="1691640"/>
          </a:xfrm>
          <a:prstGeom prst="roundRect">
            <a:avLst>
              <a:gd name="adj" fmla="val 4324"/>
            </a:avLst>
          </a:prstGeom>
          <a:solidFill>
            <a:srgbClr val="F3E9DA"/>
          </a:solidFill>
          <a:ln/>
        </p:spPr>
      </p:sp>
      <p:sp>
        <p:nvSpPr>
          <p:cNvPr id="19" name="Text 16"/>
          <p:cNvSpPr txBox="1"/>
          <p:nvPr/>
        </p:nvSpPr>
        <p:spPr>
          <a:xfrm>
            <a:off x="6318504" y="3127248"/>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minio</a:t>
            </a:r>
            <a:endParaRPr lang="en-US" sz="1350" dirty="0"/>
          </a:p>
        </p:txBody>
      </p:sp>
      <p:sp>
        <p:nvSpPr>
          <p:cNvPr id="20" name="Text 17"/>
          <p:cNvSpPr txBox="1"/>
          <p:nvPr/>
        </p:nvSpPr>
        <p:spPr>
          <a:xfrm>
            <a:off x="6318504" y="3401568"/>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minio/minio:latest</a:t>
            </a:r>
            <a:endParaRPr lang="en-US" sz="850" dirty="0"/>
          </a:p>
        </p:txBody>
      </p:sp>
      <p:sp>
        <p:nvSpPr>
          <p:cNvPr id="21" name="Text 18"/>
          <p:cNvSpPr txBox="1"/>
          <p:nvPr/>
        </p:nvSpPr>
        <p:spPr>
          <a:xfrm>
            <a:off x="6318504" y="3675888"/>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Stockage objet compatible S3 — seul endroit où les PDF/A archivés, chiffrés, sont réellement conservés.</a:t>
            </a:r>
            <a:endParaRPr lang="en-US" sz="970" dirty="0"/>
          </a:p>
        </p:txBody>
      </p:sp>
      <p:sp>
        <p:nvSpPr>
          <p:cNvPr id="22" name="Shape 19"/>
          <p:cNvSpPr/>
          <p:nvPr/>
        </p:nvSpPr>
        <p:spPr>
          <a:xfrm>
            <a:off x="548640" y="4855464"/>
            <a:ext cx="5394960" cy="1691640"/>
          </a:xfrm>
          <a:prstGeom prst="roundRect">
            <a:avLst>
              <a:gd name="adj" fmla="val 4324"/>
            </a:avLst>
          </a:prstGeom>
          <a:solidFill>
            <a:srgbClr val="F3E9DA"/>
          </a:solidFill>
          <a:ln/>
        </p:spPr>
      </p:sp>
      <p:sp>
        <p:nvSpPr>
          <p:cNvPr id="23" name="Text 20"/>
          <p:cNvSpPr txBox="1"/>
          <p:nvPr/>
        </p:nvSpPr>
        <p:spPr>
          <a:xfrm>
            <a:off x="804672" y="4983480"/>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meilisearch</a:t>
            </a:r>
            <a:endParaRPr lang="en-US" sz="1350" dirty="0"/>
          </a:p>
        </p:txBody>
      </p:sp>
      <p:sp>
        <p:nvSpPr>
          <p:cNvPr id="24" name="Text 21"/>
          <p:cNvSpPr txBox="1"/>
          <p:nvPr/>
        </p:nvSpPr>
        <p:spPr>
          <a:xfrm>
            <a:off x="804672" y="5257800"/>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getmeili/meilisearch:latest</a:t>
            </a:r>
            <a:endParaRPr lang="en-US" sz="850" dirty="0"/>
          </a:p>
        </p:txBody>
      </p:sp>
      <p:sp>
        <p:nvSpPr>
          <p:cNvPr id="25" name="Text 22"/>
          <p:cNvSpPr txBox="1"/>
          <p:nvPr/>
        </p:nvSpPr>
        <p:spPr>
          <a:xfrm>
            <a:off x="804672" y="5532120"/>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Moteur de recherche plein texte — ne fait jamais autorité sur le contenu ou les droits d'accès, seulement sur la pertinence.</a:t>
            </a:r>
            <a:endParaRPr lang="en-US" sz="970" dirty="0"/>
          </a:p>
        </p:txBody>
      </p:sp>
      <p:sp>
        <p:nvSpPr>
          <p:cNvPr id="26" name="Shape 23"/>
          <p:cNvSpPr/>
          <p:nvPr/>
        </p:nvSpPr>
        <p:spPr>
          <a:xfrm>
            <a:off x="6062472" y="4855464"/>
            <a:ext cx="5394960" cy="1691640"/>
          </a:xfrm>
          <a:prstGeom prst="roundRect">
            <a:avLst>
              <a:gd name="adj" fmla="val 4324"/>
            </a:avLst>
          </a:prstGeom>
          <a:solidFill>
            <a:srgbClr val="F3E9DA"/>
          </a:solidFill>
          <a:ln/>
        </p:spPr>
      </p:sp>
      <p:sp>
        <p:nvSpPr>
          <p:cNvPr id="27" name="Text 24"/>
          <p:cNvSpPr txBox="1"/>
          <p:nvPr/>
        </p:nvSpPr>
        <p:spPr>
          <a:xfrm>
            <a:off x="6318504" y="4983480"/>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redis</a:t>
            </a:r>
            <a:endParaRPr lang="en-US" sz="1350" dirty="0"/>
          </a:p>
        </p:txBody>
      </p:sp>
      <p:sp>
        <p:nvSpPr>
          <p:cNvPr id="28" name="Text 25"/>
          <p:cNvSpPr txBox="1"/>
          <p:nvPr/>
        </p:nvSpPr>
        <p:spPr>
          <a:xfrm>
            <a:off x="6318504" y="5257800"/>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redis:7-alpine</a:t>
            </a:r>
            <a:endParaRPr lang="en-US" sz="850" dirty="0"/>
          </a:p>
        </p:txBody>
      </p:sp>
      <p:sp>
        <p:nvSpPr>
          <p:cNvPr id="29" name="Text 26"/>
          <p:cNvSpPr txBox="1"/>
          <p:nvPr/>
        </p:nvSpPr>
        <p:spPr>
          <a:xfrm>
            <a:off x="6318504" y="5532120"/>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Cache d'authentification — reconstruit le principal de sécurité (rôles, session) à chaque requête sans retaper PostgreSQL.</a:t>
            </a:r>
            <a:endParaRPr lang="en-US" sz="970" dirty="0"/>
          </a:p>
        </p:txBody>
      </p:sp>
      <p:sp>
        <p:nvSpPr>
          <p:cNvPr id="30" name="Text 2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31" name="Text 2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17550"/>
            <a:ext cx="382219" cy="382219"/>
          </a:xfrm>
          <a:prstGeom prst="rect">
            <a:avLst/>
          </a:prstGeom>
        </p:spPr>
      </p:pic>
      <p:sp>
        <p:nvSpPr>
          <p:cNvPr id="4" name="Text 1"/>
          <p:cNvSpPr txBox="1"/>
          <p:nvPr/>
        </p:nvSpPr>
        <p:spPr>
          <a:xfrm>
            <a:off x="1170432" y="420624"/>
            <a:ext cx="9418320" cy="548640"/>
          </a:xfrm>
          <a:prstGeom prst="rect">
            <a:avLst/>
          </a:prstGeom>
          <a:noFill/>
          <a:ln/>
        </p:spPr>
        <p:txBody>
          <a:bodyPr wrap="square" lIns="0" tIns="0" rIns="0" bIns="0" rtlCol="0" anchor="ctr"/>
          <a:lstStyle/>
          <a:p>
            <a:pPr indent="0" marL="0">
              <a:buNone/>
            </a:pPr>
            <a:r>
              <a:rPr lang="en-US" sz="2600" b="1" dirty="0">
                <a:solidFill>
                  <a:srgbClr val="2C1A0E"/>
                </a:solidFill>
                <a:latin typeface="Cambria" pitchFamily="34" charset="0"/>
                <a:ea typeface="Cambria" pitchFamily="34" charset="-122"/>
                <a:cs typeface="Cambria" pitchFamily="34" charset="-120"/>
              </a:rPr>
              <a:t>Infrastructure — conteneurs Docker</a:t>
            </a:r>
            <a:endParaRPr lang="en-US" sz="2600" dirty="0"/>
          </a:p>
        </p:txBody>
      </p:sp>
      <p:sp>
        <p:nvSpPr>
          <p:cNvPr id="5" name="Text 2"/>
          <p:cNvSpPr txBox="1"/>
          <p:nvPr/>
        </p:nvSpPr>
        <p:spPr>
          <a:xfrm>
            <a:off x="10607040" y="502920"/>
            <a:ext cx="1097280" cy="365760"/>
          </a:xfrm>
          <a:prstGeom prst="rect">
            <a:avLst/>
          </a:prstGeom>
          <a:noFill/>
          <a:ln/>
        </p:spPr>
        <p:txBody>
          <a:bodyPr wrap="square" lIns="0" tIns="0" rIns="0" bIns="0" rtlCol="0" anchor="ctr"/>
          <a:lstStyle/>
          <a:p>
            <a:pPr algn="r" indent="0" marL="0">
              <a:buNone/>
            </a:pPr>
            <a:r>
              <a:rPr lang="en-US" sz="1100" dirty="0">
                <a:solidFill>
                  <a:srgbClr val="7C6552"/>
                </a:solidFill>
                <a:latin typeface="Calibri" pitchFamily="34" charset="0"/>
                <a:ea typeface="Calibri" pitchFamily="34" charset="-122"/>
                <a:cs typeface="Calibri" pitchFamily="34" charset="-120"/>
              </a:rPr>
              <a:t>2 / 2</a:t>
            </a:r>
            <a:endParaRPr lang="en-US" sz="1100" dirty="0"/>
          </a:p>
        </p:txBody>
      </p:sp>
      <p:sp>
        <p:nvSpPr>
          <p:cNvPr id="6" name="Shape 3"/>
          <p:cNvSpPr/>
          <p:nvPr/>
        </p:nvSpPr>
        <p:spPr>
          <a:xfrm>
            <a:off x="548640" y="1143000"/>
            <a:ext cx="5394960" cy="1691640"/>
          </a:xfrm>
          <a:prstGeom prst="roundRect">
            <a:avLst>
              <a:gd name="adj" fmla="val 4324"/>
            </a:avLst>
          </a:prstGeom>
          <a:solidFill>
            <a:srgbClr val="F3E9DA"/>
          </a:solidFill>
          <a:ln/>
        </p:spPr>
      </p:sp>
      <p:sp>
        <p:nvSpPr>
          <p:cNvPr id="7" name="Text 4"/>
          <p:cNvSpPr txBox="1"/>
          <p:nvPr/>
        </p:nvSpPr>
        <p:spPr>
          <a:xfrm>
            <a:off x="804672" y="1271016"/>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gotenberg</a:t>
            </a:r>
            <a:endParaRPr lang="en-US" sz="1350" dirty="0"/>
          </a:p>
        </p:txBody>
      </p:sp>
      <p:sp>
        <p:nvSpPr>
          <p:cNvPr id="8" name="Text 5"/>
          <p:cNvSpPr txBox="1"/>
          <p:nvPr/>
        </p:nvSpPr>
        <p:spPr>
          <a:xfrm>
            <a:off x="804672" y="1545336"/>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gotenberg/gotenberg:8</a:t>
            </a:r>
            <a:endParaRPr lang="en-US" sz="850" dirty="0"/>
          </a:p>
        </p:txBody>
      </p:sp>
      <p:sp>
        <p:nvSpPr>
          <p:cNvPr id="9" name="Text 6"/>
          <p:cNvSpPr txBox="1"/>
          <p:nvPr/>
        </p:nvSpPr>
        <p:spPr>
          <a:xfrm>
            <a:off x="804672" y="1819656"/>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Conteneur LibreOffice persistant, dédié à la conversion de tout format bureautique/image en PDF.</a:t>
            </a:r>
            <a:endParaRPr lang="en-US" sz="970" dirty="0"/>
          </a:p>
          <a:p>
            <a:pPr indent="0" marL="0">
              <a:lnSpc>
                <a:spcPct val="108000"/>
              </a:lnSpc>
              <a:spcAft>
                <a:spcPts val="400"/>
              </a:spcAft>
              <a:buNone/>
            </a:pPr>
            <a:r>
              <a:rPr lang="en-US" sz="970" i="1" dirty="0">
                <a:solidFill>
                  <a:srgbClr val="7C6552"/>
                </a:solidFill>
                <a:latin typeface="Calibri" pitchFamily="34" charset="0"/>
                <a:ea typeface="Calibri" pitchFamily="34" charset="-122"/>
                <a:cs typeface="Calibri" pitchFamily="34" charset="-120"/>
              </a:rPr>
              <a:t>Remplace un "soffice" relancé à chaque fichier (démarrage à froid de plusieurs secondes) — pool LibreOffice chaud en permanence, RAM/CPU jamais en concurrence avec l'appli.</a:t>
            </a:r>
            <a:endParaRPr lang="en-US" sz="970" dirty="0"/>
          </a:p>
        </p:txBody>
      </p:sp>
      <p:sp>
        <p:nvSpPr>
          <p:cNvPr id="10" name="Shape 7"/>
          <p:cNvSpPr/>
          <p:nvPr/>
        </p:nvSpPr>
        <p:spPr>
          <a:xfrm>
            <a:off x="6062472" y="1143000"/>
            <a:ext cx="5394960" cy="1691640"/>
          </a:xfrm>
          <a:prstGeom prst="roundRect">
            <a:avLst>
              <a:gd name="adj" fmla="val 4324"/>
            </a:avLst>
          </a:prstGeom>
          <a:solidFill>
            <a:srgbClr val="F3E9DA"/>
          </a:solidFill>
          <a:ln/>
        </p:spPr>
      </p:sp>
      <p:sp>
        <p:nvSpPr>
          <p:cNvPr id="11" name="Text 8"/>
          <p:cNvSpPr txBox="1"/>
          <p:nvPr/>
        </p:nvSpPr>
        <p:spPr>
          <a:xfrm>
            <a:off x="6318504" y="1271016"/>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ollama</a:t>
            </a:r>
            <a:endParaRPr lang="en-US" sz="1350" dirty="0"/>
          </a:p>
        </p:txBody>
      </p:sp>
      <p:sp>
        <p:nvSpPr>
          <p:cNvPr id="12" name="Text 9"/>
          <p:cNvSpPr txBox="1"/>
          <p:nvPr/>
        </p:nvSpPr>
        <p:spPr>
          <a:xfrm>
            <a:off x="6318504" y="1545336"/>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ollama/ollama — modèle qwen2.5-coder:7b</a:t>
            </a:r>
            <a:endParaRPr lang="en-US" sz="850" dirty="0"/>
          </a:p>
        </p:txBody>
      </p:sp>
      <p:sp>
        <p:nvSpPr>
          <p:cNvPr id="13" name="Text 10"/>
          <p:cNvSpPr txBox="1"/>
          <p:nvPr/>
        </p:nvSpPr>
        <p:spPr>
          <a:xfrm>
            <a:off x="6318504" y="1819656"/>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Sert le modèle de langage local (Qwen) qui génère les règles d'extraction automatique des métadonnées.</a:t>
            </a:r>
            <a:endParaRPr lang="en-US" sz="970" dirty="0"/>
          </a:p>
        </p:txBody>
      </p:sp>
      <p:sp>
        <p:nvSpPr>
          <p:cNvPr id="14" name="Shape 11"/>
          <p:cNvSpPr/>
          <p:nvPr/>
        </p:nvSpPr>
        <p:spPr>
          <a:xfrm>
            <a:off x="548640" y="2999232"/>
            <a:ext cx="5394960" cy="1691640"/>
          </a:xfrm>
          <a:prstGeom prst="roundRect">
            <a:avLst>
              <a:gd name="adj" fmla="val 4324"/>
            </a:avLst>
          </a:prstGeom>
          <a:solidFill>
            <a:srgbClr val="F3E9DA"/>
          </a:solidFill>
          <a:ln/>
        </p:spPr>
      </p:sp>
      <p:sp>
        <p:nvSpPr>
          <p:cNvPr id="15" name="Text 12"/>
          <p:cNvSpPr txBox="1"/>
          <p:nvPr/>
        </p:nvSpPr>
        <p:spPr>
          <a:xfrm>
            <a:off x="804672" y="3127248"/>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chromium</a:t>
            </a:r>
            <a:endParaRPr lang="en-US" sz="1350" dirty="0"/>
          </a:p>
        </p:txBody>
      </p:sp>
      <p:sp>
        <p:nvSpPr>
          <p:cNvPr id="16" name="Text 13"/>
          <p:cNvSpPr txBox="1"/>
          <p:nvPr/>
        </p:nvSpPr>
        <p:spPr>
          <a:xfrm>
            <a:off x="804672" y="3401568"/>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ghcr.io/browserless/chromium:v2.56.0</a:t>
            </a:r>
            <a:endParaRPr lang="en-US" sz="850" dirty="0"/>
          </a:p>
        </p:txBody>
      </p:sp>
      <p:sp>
        <p:nvSpPr>
          <p:cNvPr id="17" name="Text 14"/>
          <p:cNvSpPr txBox="1"/>
          <p:nvPr/>
        </p:nvSpPr>
        <p:spPr>
          <a:xfrm>
            <a:off x="804672" y="3675888"/>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Navigateur headless dédié à l'import de documents par navigation web assistée.</a:t>
            </a:r>
            <a:endParaRPr lang="en-US" sz="970" dirty="0"/>
          </a:p>
          <a:p>
            <a:pPr indent="0" marL="0">
              <a:lnSpc>
                <a:spcPct val="108000"/>
              </a:lnSpc>
              <a:spcAft>
                <a:spcPts val="400"/>
              </a:spcAft>
              <a:buNone/>
            </a:pPr>
            <a:r>
              <a:rPr lang="en-US" sz="970" i="1" dirty="0">
                <a:solidFill>
                  <a:srgbClr val="7C6552"/>
                </a:solidFill>
                <a:latin typeface="Calibri" pitchFamily="34" charset="0"/>
                <a:ea typeface="Calibri" pitchFamily="34" charset="-122"/>
                <a:cs typeface="Calibri" pitchFamily="34" charset="-120"/>
              </a:rPr>
              <a:t>Mémoire/CPU strictement plafonnés (1 Go, 1 cœur) — un afflux d'imports web ne peut jamais affecter le reste de l'application.</a:t>
            </a:r>
            <a:endParaRPr lang="en-US" sz="970" dirty="0"/>
          </a:p>
        </p:txBody>
      </p:sp>
      <p:sp>
        <p:nvSpPr>
          <p:cNvPr id="18" name="Shape 15"/>
          <p:cNvSpPr/>
          <p:nvPr/>
        </p:nvSpPr>
        <p:spPr>
          <a:xfrm>
            <a:off x="6062472" y="2999232"/>
            <a:ext cx="5394960" cy="1691640"/>
          </a:xfrm>
          <a:prstGeom prst="roundRect">
            <a:avLst>
              <a:gd name="adj" fmla="val 4324"/>
            </a:avLst>
          </a:prstGeom>
          <a:solidFill>
            <a:srgbClr val="F3E9DA"/>
          </a:solidFill>
          <a:ln/>
        </p:spPr>
      </p:sp>
      <p:sp>
        <p:nvSpPr>
          <p:cNvPr id="19" name="Text 16"/>
          <p:cNvSpPr txBox="1"/>
          <p:nvPr/>
        </p:nvSpPr>
        <p:spPr>
          <a:xfrm>
            <a:off x="6318504" y="3127248"/>
            <a:ext cx="4937760" cy="292608"/>
          </a:xfrm>
          <a:prstGeom prst="rect">
            <a:avLst/>
          </a:prstGeom>
          <a:noFill/>
          <a:ln/>
        </p:spPr>
        <p:txBody>
          <a:bodyPr wrap="square" lIns="0" tIns="0" rIns="0" bIns="0" rtlCol="0" anchor="ctr"/>
          <a:lstStyle/>
          <a:p>
            <a:pPr indent="0" marL="0">
              <a:buNone/>
            </a:pPr>
            <a:r>
              <a:rPr lang="en-US" sz="1350" b="1" dirty="0">
                <a:solidFill>
                  <a:srgbClr val="B5813F"/>
                </a:solidFill>
                <a:latin typeface="Courier New" pitchFamily="34" charset="0"/>
                <a:ea typeface="Courier New" pitchFamily="34" charset="-122"/>
                <a:cs typeface="Courier New" pitchFamily="34" charset="-120"/>
              </a:rPr>
              <a:t>traefik</a:t>
            </a:r>
            <a:endParaRPr lang="en-US" sz="1350" dirty="0"/>
          </a:p>
        </p:txBody>
      </p:sp>
      <p:sp>
        <p:nvSpPr>
          <p:cNvPr id="20" name="Text 17"/>
          <p:cNvSpPr txBox="1"/>
          <p:nvPr/>
        </p:nvSpPr>
        <p:spPr>
          <a:xfrm>
            <a:off x="6318504" y="3401568"/>
            <a:ext cx="4937760" cy="237744"/>
          </a:xfrm>
          <a:prstGeom prst="rect">
            <a:avLst/>
          </a:prstGeom>
          <a:noFill/>
          <a:ln/>
        </p:spPr>
        <p:txBody>
          <a:bodyPr wrap="square" lIns="0" tIns="0" rIns="0" bIns="0" rtlCol="0" anchor="ctr"/>
          <a:lstStyle/>
          <a:p>
            <a:pPr indent="0" marL="0">
              <a:buNone/>
            </a:pPr>
            <a:r>
              <a:rPr lang="en-US" sz="850" dirty="0">
                <a:solidFill>
                  <a:srgbClr val="7C6552"/>
                </a:solidFill>
                <a:latin typeface="Courier New" pitchFamily="34" charset="0"/>
                <a:ea typeface="Courier New" pitchFamily="34" charset="-122"/>
                <a:cs typeface="Courier New" pitchFamily="34" charset="-120"/>
              </a:rPr>
              <a:t>image maison, basée sur Traefik</a:t>
            </a:r>
            <a:endParaRPr lang="en-US" sz="850" dirty="0"/>
          </a:p>
        </p:txBody>
      </p:sp>
      <p:sp>
        <p:nvSpPr>
          <p:cNvPr id="21" name="Text 18"/>
          <p:cNvSpPr txBox="1"/>
          <p:nvPr/>
        </p:nvSpPr>
        <p:spPr>
          <a:xfrm>
            <a:off x="6318504" y="3675888"/>
            <a:ext cx="4882896" cy="905256"/>
          </a:xfrm>
          <a:prstGeom prst="rect">
            <a:avLst/>
          </a:prstGeom>
          <a:noFill/>
          <a:ln/>
        </p:spPr>
        <p:txBody>
          <a:bodyPr wrap="square" lIns="0" tIns="0" rIns="0" bIns="0" rtlCol="0" anchor="ctr"/>
          <a:lstStyle/>
          <a:p>
            <a:pPr indent="0" marL="0">
              <a:lnSpc>
                <a:spcPct val="108000"/>
              </a:lnSpc>
              <a:spcAft>
                <a:spcPts val="400"/>
              </a:spcAft>
              <a:buNone/>
            </a:pPr>
            <a:r>
              <a:rPr lang="en-US" sz="970" dirty="0">
                <a:solidFill>
                  <a:srgbClr val="2C1A0E"/>
                </a:solidFill>
                <a:latin typeface="Calibri" pitchFamily="34" charset="0"/>
                <a:ea typeface="Calibri" pitchFamily="34" charset="-122"/>
                <a:cs typeface="Calibri" pitchFamily="34" charset="-120"/>
              </a:rPr>
              <a:t>Unique point d'entrée public (80/443) : termine le HTTPS, redirige tout HTTP, route vers "frontend" ou "app" selon le chemin.</a:t>
            </a:r>
            <a:endParaRPr lang="en-US" sz="970" dirty="0"/>
          </a:p>
          <a:p>
            <a:pPr indent="0" marL="0">
              <a:lnSpc>
                <a:spcPct val="108000"/>
              </a:lnSpc>
              <a:spcAft>
                <a:spcPts val="400"/>
              </a:spcAft>
              <a:buNone/>
            </a:pPr>
            <a:r>
              <a:rPr lang="en-US" sz="970" i="1" dirty="0">
                <a:solidFill>
                  <a:srgbClr val="7C6552"/>
                </a:solidFill>
                <a:latin typeface="Calibri" pitchFamily="34" charset="0"/>
                <a:ea typeface="Calibri" pitchFamily="34" charset="-122"/>
                <a:cs typeface="Calibri" pitchFamily="34" charset="-120"/>
              </a:rPr>
              <a:t>Aucun autre conteneur n'est exposé directement — un accès qui contournerait le HTTPS est structurellement impossible.</a:t>
            </a:r>
            <a:endParaRPr lang="en-US" sz="970" dirty="0"/>
          </a:p>
        </p:txBody>
      </p:sp>
      <p:sp>
        <p:nvSpPr>
          <p:cNvPr id="22" name="Text 1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23" name="Text 20"/>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TRAEFIK EN DÉTAIL</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Rôle général</a:t>
            </a:r>
            <a:endParaRPr lang="en-US" sz="2400" dirty="0"/>
          </a:p>
        </p:txBody>
      </p:sp>
      <p:sp>
        <p:nvSpPr>
          <p:cNvPr id="6" name="Text 3"/>
          <p:cNvSpPr txBox="1"/>
          <p:nvPr/>
        </p:nvSpPr>
        <p:spPr>
          <a:xfrm>
            <a:off x="548640" y="3246120"/>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Reverse proxy et répartiteur de charge HTTP(S) — le SEUL conteneur exposé sur les ports 80/443.</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Tout le trafic public passe par lui, qui décide vers quel service interne router chaque requête.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Termine aussi le TLS — les autres conteneurs ne se parlent qu'en clair sur le réseau Docker interne.</a:t>
            </a:r>
            <a:endParaRPr lang="en-US" sz="1450" dirty="0"/>
          </a:p>
        </p:txBody>
      </p:sp>
      <p:sp>
        <p:nvSpPr>
          <p:cNvPr id="7" name="Text 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5"/>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TRAEFIK EN DÉTAIL</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Initialisation — image maison</a:t>
            </a:r>
            <a:endParaRPr lang="en-US" sz="2400" dirty="0"/>
          </a:p>
        </p:txBody>
      </p:sp>
      <p:sp>
        <p:nvSpPr>
          <p:cNvPr id="6" name="Text 3"/>
          <p:cNvSpPr txBox="1"/>
          <p:nvPr/>
        </p:nvSpPr>
        <p:spPr>
          <a:xfrm>
            <a:off x="548640" y="283921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point d'entrée personnalisé régénère dynamic.yml depuis un gabarit à CHAQUE démarrage, en substituant ${APP_DOMAIN}.</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 fichier réellement lu par Traefik n'est jamais versionné — reconstruit à chaque redémarrage du conteneur.</a:t>
            </a:r>
            <a:endParaRPr lang="en-US" sz="1450" dirty="0"/>
          </a:p>
        </p:txBody>
      </p:sp>
      <p:sp>
        <p:nvSpPr>
          <p:cNvPr id="7" name="Shape 4"/>
          <p:cNvSpPr/>
          <p:nvPr/>
        </p:nvSpPr>
        <p:spPr>
          <a:xfrm>
            <a:off x="548640" y="3927348"/>
            <a:ext cx="10881360" cy="1143000"/>
          </a:xfrm>
          <a:prstGeom prst="roundRect">
            <a:avLst>
              <a:gd name="adj" fmla="val 6400"/>
            </a:avLst>
          </a:prstGeom>
          <a:solidFill>
            <a:srgbClr val="F3E9DA"/>
          </a:solidFill>
          <a:ln/>
        </p:spPr>
      </p:sp>
      <p:sp>
        <p:nvSpPr>
          <p:cNvPr id="8" name="Text 5"/>
          <p:cNvSpPr txBox="1"/>
          <p:nvPr/>
        </p:nvSpPr>
        <p:spPr>
          <a:xfrm>
            <a:off x="868680" y="406450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431139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Avant, le domaine était écrit en dur ici ET séparément dans .env (CORS, QR codes) — deux copies manuelles, une coquille dans l'une cassait la connexion sans rapport apparent avec la cause. Avec ce gabarit, .env est la seule source.</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TRAEFIK EN DÉTAIL</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Fournisseur "file", pas "docker"</a:t>
            </a:r>
            <a:endParaRPr lang="en-US" sz="2400" dirty="0"/>
          </a:p>
        </p:txBody>
      </p:sp>
      <p:sp>
        <p:nvSpPr>
          <p:cNvPr id="6" name="Text 3"/>
          <p:cNvSpPr txBox="1"/>
          <p:nvPr/>
        </p:nvSpPr>
        <p:spPr>
          <a:xfrm>
            <a:off x="548640" y="2976372"/>
            <a:ext cx="10881360" cy="5029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Traefik peut découvrir automatiquement les conteneurs (fournisseur "docker"), ou lire une config statique (fournisseur "file", celui utilisé ici).</a:t>
            </a:r>
            <a:endParaRPr lang="en-US" sz="1450" dirty="0"/>
          </a:p>
        </p:txBody>
      </p:sp>
      <p:sp>
        <p:nvSpPr>
          <p:cNvPr id="7" name="Shape 4"/>
          <p:cNvSpPr/>
          <p:nvPr/>
        </p:nvSpPr>
        <p:spPr>
          <a:xfrm>
            <a:off x="548640" y="3698748"/>
            <a:ext cx="10881360" cy="1234440"/>
          </a:xfrm>
          <a:prstGeom prst="roundRect">
            <a:avLst>
              <a:gd name="adj" fmla="val 5926"/>
            </a:avLst>
          </a:prstGeom>
          <a:solidFill>
            <a:srgbClr val="FBE6D6"/>
          </a:solidFill>
          <a:ln/>
        </p:spPr>
      </p:sp>
      <p:sp>
        <p:nvSpPr>
          <p:cNvPr id="8" name="Text 5"/>
          <p:cNvSpPr txBox="1"/>
          <p:nvPr/>
        </p:nvSpPr>
        <p:spPr>
          <a:xfrm>
            <a:off x="868680" y="3835908"/>
            <a:ext cx="2743200" cy="274320"/>
          </a:xfrm>
          <a:prstGeom prst="rect">
            <a:avLst/>
          </a:prstGeom>
          <a:noFill/>
          <a:ln/>
        </p:spPr>
        <p:txBody>
          <a:bodyPr wrap="square" lIns="0" tIns="0" rIns="0" bIns="0" rtlCol="0" anchor="ctr"/>
          <a:lstStyle/>
          <a:p>
            <a:pPr indent="0" marL="0">
              <a:buNone/>
            </a:pPr>
            <a:r>
              <a:rPr lang="en-US" sz="1000" b="1" spc="100" kern="0" dirty="0">
                <a:solidFill>
                  <a:srgbClr val="A34E12"/>
                </a:solidFill>
                <a:latin typeface="Calibri" pitchFamily="34" charset="0"/>
                <a:ea typeface="Calibri" pitchFamily="34" charset="-122"/>
                <a:cs typeface="Calibri" pitchFamily="34" charset="-120"/>
              </a:rPr>
              <a:t>LIMITE CONNUE</a:t>
            </a:r>
            <a:endParaRPr lang="en-US" sz="1000" dirty="0"/>
          </a:p>
        </p:txBody>
      </p:sp>
      <p:sp>
        <p:nvSpPr>
          <p:cNvPr id="9" name="Text 6"/>
          <p:cNvSpPr txBox="1"/>
          <p:nvPr/>
        </p:nvSpPr>
        <p:spPr>
          <a:xfrm>
            <a:off x="868680" y="4082796"/>
            <a:ext cx="10241280" cy="77724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Le fournisseur "docker" a été essayé et abandonné : incompatible avec Docker Desktop en développement (400 Bad Request) — jamais retesté sur un vrai hôte Linux de production. Le fournisseur "file" actuel fonctionne mais sa configuration est STATIQUE : éditer et recharger le gabarit à la main pour tout changement de topologie.</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TRAEFIK EN DÉTAIL</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Règles de routage actuelles</a:t>
            </a:r>
            <a:endParaRPr lang="en-US" sz="2400" dirty="0"/>
          </a:p>
        </p:txBody>
      </p:sp>
      <p:sp>
        <p:nvSpPr>
          <p:cNvPr id="6" name="Text 3"/>
          <p:cNvSpPr txBox="1"/>
          <p:nvPr/>
        </p:nvSpPr>
        <p:spPr>
          <a:xfrm>
            <a:off x="548640" y="3246120"/>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 seul domaine public, routage par chemin : /api/* → app (priorité 10), tout le reste → frontend (priorité 1).</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Deux routeurs de secours (règle !Host(...)) pour accéder depuis un autre appareil du réseau local sans DNS.</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Certificat : mkcert en développement, Let's Encrypt dès qu'un vrai domaine public est configuré — même fichier.</a:t>
            </a:r>
            <a:endParaRPr lang="en-US" sz="1450" dirty="0"/>
          </a:p>
        </p:txBody>
      </p:sp>
      <p:sp>
        <p:nvSpPr>
          <p:cNvPr id="7" name="Text 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5"/>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TRAEFIK EN DÉTAIL</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Concrètement : plusieurs instances de "app"</a:t>
            </a:r>
            <a:endParaRPr lang="en-US" sz="2400" dirty="0"/>
          </a:p>
        </p:txBody>
      </p:sp>
      <p:sp>
        <p:nvSpPr>
          <p:cNvPr id="6" name="Text 3"/>
          <p:cNvSpPr txBox="1"/>
          <p:nvPr/>
        </p:nvSpPr>
        <p:spPr>
          <a:xfrm>
            <a:off x="548640" y="1961388"/>
            <a:ext cx="10881360" cy="5029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La liste des serveurs derrière "app" ne contient qu'une adresse aujourd'hui — ajouter des réplicas revient à en lister plusieurs :</a:t>
            </a:r>
            <a:endParaRPr lang="en-US" sz="1450" dirty="0"/>
          </a:p>
        </p:txBody>
      </p:sp>
      <p:sp>
        <p:nvSpPr>
          <p:cNvPr id="7" name="Shape 4"/>
          <p:cNvSpPr/>
          <p:nvPr/>
        </p:nvSpPr>
        <p:spPr>
          <a:xfrm>
            <a:off x="548640" y="2683764"/>
            <a:ext cx="10881360" cy="1810512"/>
          </a:xfrm>
          <a:prstGeom prst="roundRect">
            <a:avLst>
              <a:gd name="adj" fmla="val 4040"/>
            </a:avLst>
          </a:prstGeom>
          <a:solidFill>
            <a:srgbClr val="2C1A0E"/>
          </a:solidFill>
          <a:ln/>
        </p:spPr>
      </p:sp>
      <p:sp>
        <p:nvSpPr>
          <p:cNvPr id="8" name="Text 5"/>
          <p:cNvSpPr txBox="1"/>
          <p:nvPr/>
        </p:nvSpPr>
        <p:spPr>
          <a:xfrm>
            <a:off x="777240" y="2820924"/>
            <a:ext cx="10424160" cy="1536192"/>
          </a:xfrm>
          <a:prstGeom prst="rect">
            <a:avLst/>
          </a:prstGeom>
          <a:noFill/>
          <a:ln/>
        </p:spPr>
        <p:txBody>
          <a:bodyPr wrap="square" lIns="0" tIns="0" rIns="0" bIns="0" rtlCol="0" anchor="ctr"/>
          <a:lstStyle/>
          <a:p>
            <a:pPr indent="0" marL="0">
              <a:lnSpc>
                <a:spcPct val="110000"/>
              </a:lnSpc>
              <a:buNone/>
            </a:pPr>
            <a:r>
              <a:rPr lang="en-US" sz="1150" dirty="0">
                <a:solidFill>
                  <a:srgbClr val="D9AE6C"/>
                </a:solidFill>
                <a:latin typeface="Courier New" pitchFamily="34" charset="0"/>
                <a:ea typeface="Courier New" pitchFamily="34" charset="-122"/>
                <a:cs typeface="Courier New" pitchFamily="34" charset="-120"/>
              </a:rPr>
              <a:t>services:</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app:</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loadBalancer:</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servers:</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 url: "http://app:8080"</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 url: "http://app-2:8080"</a:t>
            </a:r>
            <a:endParaRPr lang="en-US" sz="1150" dirty="0"/>
          </a:p>
        </p:txBody>
      </p:sp>
      <p:sp>
        <p:nvSpPr>
          <p:cNvPr id="9" name="Shape 6"/>
          <p:cNvSpPr/>
          <p:nvPr/>
        </p:nvSpPr>
        <p:spPr>
          <a:xfrm>
            <a:off x="548640" y="4713732"/>
            <a:ext cx="10881360" cy="1234440"/>
          </a:xfrm>
          <a:prstGeom prst="roundRect">
            <a:avLst>
              <a:gd name="adj" fmla="val 5926"/>
            </a:avLst>
          </a:prstGeom>
          <a:solidFill>
            <a:srgbClr val="FBE6D6"/>
          </a:solidFill>
          <a:ln/>
        </p:spPr>
      </p:sp>
      <p:sp>
        <p:nvSpPr>
          <p:cNvPr id="10" name="Text 7"/>
          <p:cNvSpPr txBox="1"/>
          <p:nvPr/>
        </p:nvSpPr>
        <p:spPr>
          <a:xfrm>
            <a:off x="868680" y="4850892"/>
            <a:ext cx="2743200" cy="274320"/>
          </a:xfrm>
          <a:prstGeom prst="rect">
            <a:avLst/>
          </a:prstGeom>
          <a:noFill/>
          <a:ln/>
        </p:spPr>
        <p:txBody>
          <a:bodyPr wrap="square" lIns="0" tIns="0" rIns="0" bIns="0" rtlCol="0" anchor="ctr"/>
          <a:lstStyle/>
          <a:p>
            <a:pPr indent="0" marL="0">
              <a:buNone/>
            </a:pPr>
            <a:r>
              <a:rPr lang="en-US" sz="1000" b="1" spc="100" kern="0" dirty="0">
                <a:solidFill>
                  <a:srgbClr val="A34E12"/>
                </a:solidFill>
                <a:latin typeface="Calibri" pitchFamily="34" charset="0"/>
                <a:ea typeface="Calibri" pitchFamily="34" charset="-122"/>
                <a:cs typeface="Calibri" pitchFamily="34" charset="-120"/>
              </a:rPr>
              <a:t>LIMITE CONNUE</a:t>
            </a:r>
            <a:endParaRPr lang="en-US" sz="1000" dirty="0"/>
          </a:p>
        </p:txBody>
      </p:sp>
      <p:sp>
        <p:nvSpPr>
          <p:cNvPr id="11" name="Text 8"/>
          <p:cNvSpPr txBox="1"/>
          <p:nvPr/>
        </p:nvSpPr>
        <p:spPr>
          <a:xfrm>
            <a:off x="868680" y="5097780"/>
            <a:ext cx="10241280" cy="77724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Liste STATIQUE — chaque URL doit résoudre vers un conteneur réellement joignable (un bloc de service distinct par réplica, ou un fournisseur Docker natif pour une vraie découverte automatique). Ajouter/retirer une instance veut dire éditer ce gabarit et relancer Traefik.</a:t>
            </a:r>
            <a:endParaRPr lang="en-US" sz="1250" dirty="0"/>
          </a:p>
        </p:txBody>
      </p:sp>
      <p:sp>
        <p:nvSpPr>
          <p:cNvPr id="12" name="Text 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3" name="Text 10"/>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TRAEFIK EN DÉTAIL</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Concrètement : plusieurs instances d'Ollama (Qwen)</a:t>
            </a:r>
            <a:endParaRPr lang="en-US" sz="2400" dirty="0"/>
          </a:p>
        </p:txBody>
      </p:sp>
      <p:sp>
        <p:nvSpPr>
          <p:cNvPr id="6" name="Text 3"/>
          <p:cNvSpPr txBox="1"/>
          <p:nvPr/>
        </p:nvSpPr>
        <p:spPr>
          <a:xfrm>
            <a:off x="548640" y="2007108"/>
            <a:ext cx="10881360" cy="5029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Même mécanisme, pour un service INTERNE (jamais exposé publiquement) — puis OLLAMA_BASE_URL pointe vers ce point d'entrée unique :</a:t>
            </a:r>
            <a:endParaRPr lang="en-US" sz="1450" dirty="0"/>
          </a:p>
        </p:txBody>
      </p:sp>
      <p:sp>
        <p:nvSpPr>
          <p:cNvPr id="7" name="Shape 4"/>
          <p:cNvSpPr/>
          <p:nvPr/>
        </p:nvSpPr>
        <p:spPr>
          <a:xfrm>
            <a:off x="548640" y="2729484"/>
            <a:ext cx="10881360" cy="1810512"/>
          </a:xfrm>
          <a:prstGeom prst="roundRect">
            <a:avLst>
              <a:gd name="adj" fmla="val 4040"/>
            </a:avLst>
          </a:prstGeom>
          <a:solidFill>
            <a:srgbClr val="2C1A0E"/>
          </a:solidFill>
          <a:ln/>
        </p:spPr>
      </p:sp>
      <p:sp>
        <p:nvSpPr>
          <p:cNvPr id="8" name="Text 5"/>
          <p:cNvSpPr txBox="1"/>
          <p:nvPr/>
        </p:nvSpPr>
        <p:spPr>
          <a:xfrm>
            <a:off x="777240" y="2866644"/>
            <a:ext cx="10424160" cy="1536192"/>
          </a:xfrm>
          <a:prstGeom prst="rect">
            <a:avLst/>
          </a:prstGeom>
          <a:noFill/>
          <a:ln/>
        </p:spPr>
        <p:txBody>
          <a:bodyPr wrap="square" lIns="0" tIns="0" rIns="0" bIns="0" rtlCol="0" anchor="ctr"/>
          <a:lstStyle/>
          <a:p>
            <a:pPr indent="0" marL="0">
              <a:lnSpc>
                <a:spcPct val="110000"/>
              </a:lnSpc>
              <a:buNone/>
            </a:pPr>
            <a:r>
              <a:rPr lang="en-US" sz="1150" dirty="0">
                <a:solidFill>
                  <a:srgbClr val="D9AE6C"/>
                </a:solidFill>
                <a:latin typeface="Courier New" pitchFamily="34" charset="0"/>
                <a:ea typeface="Courier New" pitchFamily="34" charset="-122"/>
                <a:cs typeface="Courier New" pitchFamily="34" charset="-120"/>
              </a:rPr>
              <a:t>services:</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ollama:</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loadBalancer:</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servers:</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 url: "http://ollama:11434"</a:t>
            </a:r>
            <a:endParaRPr lang="en-US" sz="1150" dirty="0"/>
          </a:p>
          <a:p>
            <a:pPr indent="0" marL="0">
              <a:lnSpc>
                <a:spcPct val="110000"/>
              </a:lnSpc>
              <a:buNone/>
            </a:pPr>
            <a:r>
              <a:rPr lang="en-US" sz="1150" dirty="0">
                <a:solidFill>
                  <a:srgbClr val="F3E9DA"/>
                </a:solidFill>
                <a:latin typeface="Courier New" pitchFamily="34" charset="0"/>
                <a:ea typeface="Courier New" pitchFamily="34" charset="-122"/>
                <a:cs typeface="Courier New" pitchFamily="34" charset="-120"/>
              </a:rPr>
              <a:t>        - url: "http://ollama-2:11434"</a:t>
            </a:r>
            <a:endParaRPr lang="en-US" sz="1150" dirty="0"/>
          </a:p>
        </p:txBody>
      </p:sp>
      <p:sp>
        <p:nvSpPr>
          <p:cNvPr id="9" name="Shape 6"/>
          <p:cNvSpPr/>
          <p:nvPr/>
        </p:nvSpPr>
        <p:spPr>
          <a:xfrm>
            <a:off x="548640" y="4759452"/>
            <a:ext cx="10881360" cy="1143000"/>
          </a:xfrm>
          <a:prstGeom prst="roundRect">
            <a:avLst>
              <a:gd name="adj" fmla="val 6400"/>
            </a:avLst>
          </a:prstGeom>
          <a:solidFill>
            <a:srgbClr val="F3E9DA"/>
          </a:solidFill>
          <a:ln/>
        </p:spPr>
      </p:sp>
      <p:sp>
        <p:nvSpPr>
          <p:cNvPr id="10" name="Text 7"/>
          <p:cNvSpPr txBox="1"/>
          <p:nvPr/>
        </p:nvSpPr>
        <p:spPr>
          <a:xfrm>
            <a:off x="868680" y="4896612"/>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11" name="Text 8"/>
          <p:cNvSpPr txBox="1"/>
          <p:nvPr/>
        </p:nvSpPr>
        <p:spPr>
          <a:xfrm>
            <a:off x="868680" y="5143500"/>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Probablement pas nécessaire : ce modèle n'est appelé qu'une fois PAR TYPE de document. OLLAMA_NUM_PARALLEL absorbe généralement plusieurs requêtes de front avant qu'il soit utile de dupliquer le conteneur. Aucun changement de code Java dans les deux cas.</a:t>
            </a:r>
            <a:endParaRPr lang="en-US" sz="1250" dirty="0"/>
          </a:p>
        </p:txBody>
      </p:sp>
      <p:sp>
        <p:nvSpPr>
          <p:cNvPr id="12" name="Text 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3" name="Text 10"/>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16671" y="570951"/>
            <a:ext cx="430865" cy="430865"/>
          </a:xfrm>
          <a:prstGeom prst="rect">
            <a:avLst/>
          </a:prstGeom>
        </p:spPr>
      </p:pic>
      <p:sp>
        <p:nvSpPr>
          <p:cNvPr id="4" name="Text 1"/>
          <p:cNvSpPr txBox="1"/>
          <p:nvPr/>
        </p:nvSpPr>
        <p:spPr>
          <a:xfrm>
            <a:off x="1234440" y="475488"/>
            <a:ext cx="9601200" cy="640080"/>
          </a:xfrm>
          <a:prstGeom prst="rect">
            <a:avLst/>
          </a:prstGeom>
          <a:noFill/>
          <a:ln/>
        </p:spPr>
        <p:txBody>
          <a:bodyPr wrap="square" lIns="0" tIns="0" rIns="0" bIns="0" rtlCol="0" anchor="ctr"/>
          <a:lstStyle/>
          <a:p>
            <a:pPr indent="0" marL="0">
              <a:buNone/>
            </a:pPr>
            <a:r>
              <a:rPr lang="en-US" sz="2800" b="1" dirty="0">
                <a:solidFill>
                  <a:srgbClr val="2C1A0E"/>
                </a:solidFill>
                <a:latin typeface="Cambria" pitchFamily="34" charset="0"/>
                <a:ea typeface="Cambria" pitchFamily="34" charset="-122"/>
                <a:cs typeface="Cambria" pitchFamily="34" charset="-120"/>
              </a:rPr>
              <a:t>Initialisation &amp; démarrage</a:t>
            </a:r>
            <a:endParaRPr lang="en-US" sz="2800" dirty="0"/>
          </a:p>
        </p:txBody>
      </p:sp>
      <p:sp>
        <p:nvSpPr>
          <p:cNvPr id="5" name="Text 2"/>
          <p:cNvSpPr txBox="1"/>
          <p:nvPr/>
        </p:nvSpPr>
        <p:spPr>
          <a:xfrm>
            <a:off x="1280160" y="1188720"/>
            <a:ext cx="9966960" cy="548640"/>
          </a:xfrm>
          <a:prstGeom prst="rect">
            <a:avLst/>
          </a:prstGeom>
          <a:noFill/>
          <a:ln/>
        </p:spPr>
        <p:txBody>
          <a:bodyPr wrap="square" lIns="0" tIns="0" rIns="0" bIns="0" rtlCol="0" anchor="ctr"/>
          <a:lstStyle/>
          <a:p>
            <a:pPr indent="0" marL="0">
              <a:lnSpc>
                <a:spcPct val="115000"/>
              </a:lnSpc>
              <a:buNone/>
            </a:pPr>
            <a:r>
              <a:rPr lang="en-US" sz="1300" dirty="0">
                <a:solidFill>
                  <a:srgbClr val="7C6552"/>
                </a:solidFill>
                <a:latin typeface="Calibri" pitchFamily="34" charset="0"/>
                <a:ea typeface="Calibri" pitchFamily="34" charset="-122"/>
                <a:cs typeface="Calibri" pitchFamily="34" charset="-120"/>
              </a:rPr>
              <a:t>docker compose up -d respecte un ordre de dépendance strict — "app" attend que TOUS les autres services répondent sains avant de démarrer.</a:t>
            </a:r>
            <a:endParaRPr lang="en-US" sz="1300" dirty="0"/>
          </a:p>
        </p:txBody>
      </p:sp>
      <p:sp>
        <p:nvSpPr>
          <p:cNvPr id="6" name="Shape 3"/>
          <p:cNvSpPr/>
          <p:nvPr/>
        </p:nvSpPr>
        <p:spPr>
          <a:xfrm>
            <a:off x="548640" y="2788920"/>
            <a:ext cx="1745742" cy="1965960"/>
          </a:xfrm>
          <a:prstGeom prst="roundRect">
            <a:avLst>
              <a:gd name="adj" fmla="val 4190"/>
            </a:avLst>
          </a:prstGeom>
          <a:solidFill>
            <a:srgbClr val="F3E9DA"/>
          </a:solidFill>
          <a:ln/>
        </p:spPr>
      </p:sp>
      <p:sp>
        <p:nvSpPr>
          <p:cNvPr id="7" name="Text 4"/>
          <p:cNvSpPr txBox="1"/>
          <p:nvPr/>
        </p:nvSpPr>
        <p:spPr>
          <a:xfrm>
            <a:off x="685800"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1</a:t>
            </a:r>
            <a:endParaRPr lang="en-US" sz="2000" dirty="0"/>
          </a:p>
        </p:txBody>
      </p:sp>
      <p:sp>
        <p:nvSpPr>
          <p:cNvPr id="8" name="Text 5"/>
          <p:cNvSpPr txBox="1"/>
          <p:nvPr/>
        </p:nvSpPr>
        <p:spPr>
          <a:xfrm>
            <a:off x="685800" y="3355848"/>
            <a:ext cx="1471422" cy="777240"/>
          </a:xfrm>
          <a:prstGeom prst="rect">
            <a:avLst/>
          </a:prstGeom>
          <a:noFill/>
          <a:ln/>
        </p:spPr>
        <p:txBody>
          <a:bodyPr wrap="square" lIns="0" tIns="0" rIns="0" bIns="0" rtlCol="0" anchor="ctr"/>
          <a:lstStyle/>
          <a:p>
            <a:pPr indent="0" marL="0">
              <a:lnSpc>
                <a:spcPct val="105000"/>
              </a:lnSpc>
              <a:buNone/>
            </a:pPr>
            <a:r>
              <a:rPr lang="en-US" sz="1150" b="1" dirty="0">
                <a:solidFill>
                  <a:srgbClr val="2C1A0E"/>
                </a:solidFill>
                <a:latin typeface="Calibri" pitchFamily="34" charset="0"/>
                <a:ea typeface="Calibri" pitchFamily="34" charset="-122"/>
                <a:cs typeface="Calibri" pitchFamily="34" charset="-120"/>
              </a:rPr>
              <a:t>Services sans état</a:t>
            </a:r>
            <a:endParaRPr lang="en-US" sz="1150" dirty="0"/>
          </a:p>
        </p:txBody>
      </p:sp>
      <p:sp>
        <p:nvSpPr>
          <p:cNvPr id="9" name="Text 6"/>
          <p:cNvSpPr txBox="1"/>
          <p:nvPr/>
        </p:nvSpPr>
        <p:spPr>
          <a:xfrm>
            <a:off x="685800" y="4069080"/>
            <a:ext cx="1471422" cy="621792"/>
          </a:xfrm>
          <a:prstGeom prst="rect">
            <a:avLst/>
          </a:prstGeom>
          <a:noFill/>
          <a:ln/>
        </p:spPr>
        <p:txBody>
          <a:bodyPr wrap="square" lIns="0" tIns="0" rIns="0" bIns="0" rtlCol="0" anchor="ctr"/>
          <a:lstStyle/>
          <a:p>
            <a:pPr indent="0" marL="0">
              <a:lnSpc>
                <a:spcPct val="105000"/>
              </a:lnSpc>
              <a:buNone/>
            </a:pPr>
            <a:r>
              <a:rPr lang="en-US" sz="880" dirty="0">
                <a:solidFill>
                  <a:srgbClr val="7C6552"/>
                </a:solidFill>
                <a:latin typeface="Calibri" pitchFamily="34" charset="0"/>
                <a:ea typeface="Calibri" pitchFamily="34" charset="-122"/>
                <a:cs typeface="Calibri" pitchFamily="34" charset="-120"/>
              </a:rPr>
              <a:t>postgres, minio, meilisearch, redis, gotenberg — prêts dès leur healthcheck</a:t>
            </a:r>
            <a:endParaRPr lang="en-US" sz="880" dirty="0"/>
          </a:p>
        </p:txBody>
      </p:sp>
      <p:sp>
        <p:nvSpPr>
          <p:cNvPr id="10" name="Shape 7"/>
          <p:cNvSpPr/>
          <p:nvPr/>
        </p:nvSpPr>
        <p:spPr>
          <a:xfrm>
            <a:off x="2417826" y="2788920"/>
            <a:ext cx="1745742" cy="1965960"/>
          </a:xfrm>
          <a:prstGeom prst="roundRect">
            <a:avLst>
              <a:gd name="adj" fmla="val 4190"/>
            </a:avLst>
          </a:prstGeom>
          <a:solidFill>
            <a:srgbClr val="F3E9DA"/>
          </a:solidFill>
          <a:ln/>
        </p:spPr>
      </p:sp>
      <p:sp>
        <p:nvSpPr>
          <p:cNvPr id="11" name="Text 8"/>
          <p:cNvSpPr txBox="1"/>
          <p:nvPr/>
        </p:nvSpPr>
        <p:spPr>
          <a:xfrm>
            <a:off x="2554986"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2</a:t>
            </a:r>
            <a:endParaRPr lang="en-US" sz="2000" dirty="0"/>
          </a:p>
        </p:txBody>
      </p:sp>
      <p:sp>
        <p:nvSpPr>
          <p:cNvPr id="12" name="Text 9"/>
          <p:cNvSpPr txBox="1"/>
          <p:nvPr/>
        </p:nvSpPr>
        <p:spPr>
          <a:xfrm>
            <a:off x="2554986" y="3355848"/>
            <a:ext cx="1471422" cy="777240"/>
          </a:xfrm>
          <a:prstGeom prst="rect">
            <a:avLst/>
          </a:prstGeom>
          <a:noFill/>
          <a:ln/>
        </p:spPr>
        <p:txBody>
          <a:bodyPr wrap="square" lIns="0" tIns="0" rIns="0" bIns="0" rtlCol="0" anchor="ctr"/>
          <a:lstStyle/>
          <a:p>
            <a:pPr indent="0" marL="0">
              <a:lnSpc>
                <a:spcPct val="105000"/>
              </a:lnSpc>
              <a:buNone/>
            </a:pPr>
            <a:r>
              <a:rPr lang="en-US" sz="1150" b="1" dirty="0">
                <a:solidFill>
                  <a:srgbClr val="2C1A0E"/>
                </a:solidFill>
                <a:latin typeface="Calibri" pitchFamily="34" charset="0"/>
                <a:ea typeface="Calibri" pitchFamily="34" charset="-122"/>
                <a:cs typeface="Calibri" pitchFamily="34" charset="-120"/>
              </a:rPr>
              <a:t>Ollama</a:t>
            </a:r>
            <a:endParaRPr lang="en-US" sz="1150" dirty="0"/>
          </a:p>
        </p:txBody>
      </p:sp>
      <p:sp>
        <p:nvSpPr>
          <p:cNvPr id="13" name="Text 10"/>
          <p:cNvSpPr txBox="1"/>
          <p:nvPr/>
        </p:nvSpPr>
        <p:spPr>
          <a:xfrm>
            <a:off x="2554986" y="4069080"/>
            <a:ext cx="1471422" cy="621792"/>
          </a:xfrm>
          <a:prstGeom prst="rect">
            <a:avLst/>
          </a:prstGeom>
          <a:noFill/>
          <a:ln/>
        </p:spPr>
        <p:txBody>
          <a:bodyPr wrap="square" lIns="0" tIns="0" rIns="0" bIns="0" rtlCol="0" anchor="ctr"/>
          <a:lstStyle/>
          <a:p>
            <a:pPr indent="0" marL="0">
              <a:lnSpc>
                <a:spcPct val="105000"/>
              </a:lnSpc>
              <a:buNone/>
            </a:pPr>
            <a:r>
              <a:rPr lang="en-US" sz="880" dirty="0">
                <a:solidFill>
                  <a:srgbClr val="7C6552"/>
                </a:solidFill>
                <a:latin typeface="Calibri" pitchFamily="34" charset="0"/>
                <a:ea typeface="Calibri" pitchFamily="34" charset="-122"/>
                <a:cs typeface="Calibri" pitchFamily="34" charset="-120"/>
              </a:rPr>
              <a:t>télécharge qwen2.5-coder:7b s'il n'est pas déjà dans le volume nommé</a:t>
            </a:r>
            <a:endParaRPr lang="en-US" sz="880" dirty="0"/>
          </a:p>
        </p:txBody>
      </p:sp>
      <p:sp>
        <p:nvSpPr>
          <p:cNvPr id="14" name="Shape 11"/>
          <p:cNvSpPr/>
          <p:nvPr/>
        </p:nvSpPr>
        <p:spPr>
          <a:xfrm>
            <a:off x="4287012" y="2788920"/>
            <a:ext cx="1745742" cy="1965960"/>
          </a:xfrm>
          <a:prstGeom prst="roundRect">
            <a:avLst>
              <a:gd name="adj" fmla="val 4190"/>
            </a:avLst>
          </a:prstGeom>
          <a:solidFill>
            <a:srgbClr val="F3E9DA"/>
          </a:solidFill>
          <a:ln/>
        </p:spPr>
      </p:sp>
      <p:sp>
        <p:nvSpPr>
          <p:cNvPr id="15" name="Text 12"/>
          <p:cNvSpPr txBox="1"/>
          <p:nvPr/>
        </p:nvSpPr>
        <p:spPr>
          <a:xfrm>
            <a:off x="4424172"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3</a:t>
            </a:r>
            <a:endParaRPr lang="en-US" sz="2000" dirty="0"/>
          </a:p>
        </p:txBody>
      </p:sp>
      <p:sp>
        <p:nvSpPr>
          <p:cNvPr id="16" name="Text 13"/>
          <p:cNvSpPr txBox="1"/>
          <p:nvPr/>
        </p:nvSpPr>
        <p:spPr>
          <a:xfrm>
            <a:off x="4424172" y="3355848"/>
            <a:ext cx="1471422" cy="777240"/>
          </a:xfrm>
          <a:prstGeom prst="rect">
            <a:avLst/>
          </a:prstGeom>
          <a:noFill/>
          <a:ln/>
        </p:spPr>
        <p:txBody>
          <a:bodyPr wrap="square" lIns="0" tIns="0" rIns="0" bIns="0" rtlCol="0" anchor="ctr"/>
          <a:lstStyle/>
          <a:p>
            <a:pPr indent="0" marL="0">
              <a:lnSpc>
                <a:spcPct val="105000"/>
              </a:lnSpc>
              <a:buNone/>
            </a:pPr>
            <a:r>
              <a:rPr lang="en-US" sz="1150" b="1" dirty="0">
                <a:solidFill>
                  <a:srgbClr val="2C1A0E"/>
                </a:solidFill>
                <a:latin typeface="Calibri" pitchFamily="34" charset="0"/>
                <a:ea typeface="Calibri" pitchFamily="34" charset="-122"/>
                <a:cs typeface="Calibri" pitchFamily="34" charset="-120"/>
              </a:rPr>
              <a:t>Traefik</a:t>
            </a:r>
            <a:endParaRPr lang="en-US" sz="1150" dirty="0"/>
          </a:p>
        </p:txBody>
      </p:sp>
      <p:sp>
        <p:nvSpPr>
          <p:cNvPr id="17" name="Text 14"/>
          <p:cNvSpPr txBox="1"/>
          <p:nvPr/>
        </p:nvSpPr>
        <p:spPr>
          <a:xfrm>
            <a:off x="4424172" y="4069080"/>
            <a:ext cx="1471422" cy="621792"/>
          </a:xfrm>
          <a:prstGeom prst="rect">
            <a:avLst/>
          </a:prstGeom>
          <a:noFill/>
          <a:ln/>
        </p:spPr>
        <p:txBody>
          <a:bodyPr wrap="square" lIns="0" tIns="0" rIns="0" bIns="0" rtlCol="0" anchor="ctr"/>
          <a:lstStyle/>
          <a:p>
            <a:pPr indent="0" marL="0">
              <a:lnSpc>
                <a:spcPct val="105000"/>
              </a:lnSpc>
              <a:buNone/>
            </a:pPr>
            <a:r>
              <a:rPr lang="en-US" sz="880" dirty="0">
                <a:solidFill>
                  <a:srgbClr val="7C6552"/>
                </a:solidFill>
                <a:latin typeface="Calibri" pitchFamily="34" charset="0"/>
                <a:ea typeface="Calibri" pitchFamily="34" charset="-122"/>
                <a:cs typeface="Calibri" pitchFamily="34" charset="-120"/>
              </a:rPr>
              <a:t>régénère dynamic.yml depuis le gabarit, jamais versionné</a:t>
            </a:r>
            <a:endParaRPr lang="en-US" sz="880" dirty="0"/>
          </a:p>
        </p:txBody>
      </p:sp>
      <p:sp>
        <p:nvSpPr>
          <p:cNvPr id="18" name="Shape 15"/>
          <p:cNvSpPr/>
          <p:nvPr/>
        </p:nvSpPr>
        <p:spPr>
          <a:xfrm>
            <a:off x="6156198" y="2788920"/>
            <a:ext cx="1745742" cy="1965960"/>
          </a:xfrm>
          <a:prstGeom prst="roundRect">
            <a:avLst>
              <a:gd name="adj" fmla="val 4190"/>
            </a:avLst>
          </a:prstGeom>
          <a:solidFill>
            <a:srgbClr val="F3E9DA"/>
          </a:solidFill>
          <a:ln/>
        </p:spPr>
      </p:sp>
      <p:sp>
        <p:nvSpPr>
          <p:cNvPr id="19" name="Text 16"/>
          <p:cNvSpPr txBox="1"/>
          <p:nvPr/>
        </p:nvSpPr>
        <p:spPr>
          <a:xfrm>
            <a:off x="6293358"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4</a:t>
            </a:r>
            <a:endParaRPr lang="en-US" sz="2000" dirty="0"/>
          </a:p>
        </p:txBody>
      </p:sp>
      <p:sp>
        <p:nvSpPr>
          <p:cNvPr id="20" name="Text 17"/>
          <p:cNvSpPr txBox="1"/>
          <p:nvPr/>
        </p:nvSpPr>
        <p:spPr>
          <a:xfrm>
            <a:off x="6293358" y="3355848"/>
            <a:ext cx="1471422" cy="777240"/>
          </a:xfrm>
          <a:prstGeom prst="rect">
            <a:avLst/>
          </a:prstGeom>
          <a:noFill/>
          <a:ln/>
        </p:spPr>
        <p:txBody>
          <a:bodyPr wrap="square" lIns="0" tIns="0" rIns="0" bIns="0" rtlCol="0" anchor="ctr"/>
          <a:lstStyle/>
          <a:p>
            <a:pPr indent="0" marL="0">
              <a:lnSpc>
                <a:spcPct val="105000"/>
              </a:lnSpc>
              <a:buNone/>
            </a:pPr>
            <a:r>
              <a:rPr lang="en-US" sz="1150" b="1" dirty="0">
                <a:solidFill>
                  <a:srgbClr val="2C1A0E"/>
                </a:solidFill>
                <a:latin typeface="Calibri" pitchFamily="34" charset="0"/>
                <a:ea typeface="Calibri" pitchFamily="34" charset="-122"/>
                <a:cs typeface="Calibri" pitchFamily="34" charset="-120"/>
              </a:rPr>
              <a:t>app démarre</a:t>
            </a:r>
            <a:endParaRPr lang="en-US" sz="1150" dirty="0"/>
          </a:p>
        </p:txBody>
      </p:sp>
      <p:sp>
        <p:nvSpPr>
          <p:cNvPr id="21" name="Text 18"/>
          <p:cNvSpPr txBox="1"/>
          <p:nvPr/>
        </p:nvSpPr>
        <p:spPr>
          <a:xfrm>
            <a:off x="6293358" y="4069080"/>
            <a:ext cx="1471422" cy="621792"/>
          </a:xfrm>
          <a:prstGeom prst="rect">
            <a:avLst/>
          </a:prstGeom>
          <a:noFill/>
          <a:ln/>
        </p:spPr>
        <p:txBody>
          <a:bodyPr wrap="square" lIns="0" tIns="0" rIns="0" bIns="0" rtlCol="0" anchor="ctr"/>
          <a:lstStyle/>
          <a:p>
            <a:pPr indent="0" marL="0">
              <a:lnSpc>
                <a:spcPct val="105000"/>
              </a:lnSpc>
              <a:buNone/>
            </a:pPr>
            <a:r>
              <a:rPr lang="en-US" sz="880" dirty="0">
                <a:solidFill>
                  <a:srgbClr val="7C6552"/>
                </a:solidFill>
                <a:latin typeface="Calibri" pitchFamily="34" charset="0"/>
                <a:ea typeface="Calibri" pitchFamily="34" charset="-122"/>
                <a:cs typeface="Calibri" pitchFamily="34" charset="-120"/>
              </a:rPr>
              <a:t>une fois tous les services ci-dessus sains</a:t>
            </a:r>
            <a:endParaRPr lang="en-US" sz="880" dirty="0"/>
          </a:p>
        </p:txBody>
      </p:sp>
      <p:sp>
        <p:nvSpPr>
          <p:cNvPr id="22" name="Shape 19"/>
          <p:cNvSpPr/>
          <p:nvPr/>
        </p:nvSpPr>
        <p:spPr>
          <a:xfrm>
            <a:off x="8025384" y="2788920"/>
            <a:ext cx="1745742" cy="1965960"/>
          </a:xfrm>
          <a:prstGeom prst="roundRect">
            <a:avLst>
              <a:gd name="adj" fmla="val 4190"/>
            </a:avLst>
          </a:prstGeom>
          <a:solidFill>
            <a:srgbClr val="F3E9DA"/>
          </a:solidFill>
          <a:ln/>
        </p:spPr>
      </p:sp>
      <p:sp>
        <p:nvSpPr>
          <p:cNvPr id="23" name="Text 20"/>
          <p:cNvSpPr txBox="1"/>
          <p:nvPr/>
        </p:nvSpPr>
        <p:spPr>
          <a:xfrm>
            <a:off x="8162544" y="2898648"/>
            <a:ext cx="548640" cy="365760"/>
          </a:xfrm>
          <a:prstGeom prst="rect">
            <a:avLst/>
          </a:prstGeom>
          <a:noFill/>
          <a:ln/>
        </p:spPr>
        <p:txBody>
          <a:bodyPr wrap="square" lIns="0" tIns="0" rIns="0" bIns="0" rtlCol="0" anchor="ctr"/>
          <a:lstStyle/>
          <a:p>
            <a:pPr indent="0" marL="0">
              <a:buNone/>
            </a:pPr>
            <a:r>
              <a:rPr lang="en-US" sz="2000" b="1" dirty="0">
                <a:solidFill>
                  <a:srgbClr val="B5813F"/>
                </a:solidFill>
                <a:latin typeface="Cambria" pitchFamily="34" charset="0"/>
                <a:ea typeface="Cambria" pitchFamily="34" charset="-122"/>
                <a:cs typeface="Cambria" pitchFamily="34" charset="-120"/>
              </a:rPr>
              <a:t>5</a:t>
            </a:r>
            <a:endParaRPr lang="en-US" sz="2000" dirty="0"/>
          </a:p>
        </p:txBody>
      </p:sp>
      <p:sp>
        <p:nvSpPr>
          <p:cNvPr id="24" name="Text 21"/>
          <p:cNvSpPr txBox="1"/>
          <p:nvPr/>
        </p:nvSpPr>
        <p:spPr>
          <a:xfrm>
            <a:off x="8162544" y="3355848"/>
            <a:ext cx="1471422" cy="777240"/>
          </a:xfrm>
          <a:prstGeom prst="rect">
            <a:avLst/>
          </a:prstGeom>
          <a:noFill/>
          <a:ln/>
        </p:spPr>
        <p:txBody>
          <a:bodyPr wrap="square" lIns="0" tIns="0" rIns="0" bIns="0" rtlCol="0" anchor="ctr"/>
          <a:lstStyle/>
          <a:p>
            <a:pPr indent="0" marL="0">
              <a:lnSpc>
                <a:spcPct val="105000"/>
              </a:lnSpc>
              <a:buNone/>
            </a:pPr>
            <a:r>
              <a:rPr lang="en-US" sz="1150" b="1" dirty="0">
                <a:solidFill>
                  <a:srgbClr val="2C1A0E"/>
                </a:solidFill>
                <a:latin typeface="Calibri" pitchFamily="34" charset="0"/>
                <a:ea typeface="Calibri" pitchFamily="34" charset="-122"/>
                <a:cs typeface="Calibri" pitchFamily="34" charset="-120"/>
              </a:rPr>
              <a:t>Migrations Flyway</a:t>
            </a:r>
            <a:endParaRPr lang="en-US" sz="1150" dirty="0"/>
          </a:p>
        </p:txBody>
      </p:sp>
      <p:sp>
        <p:nvSpPr>
          <p:cNvPr id="25" name="Text 22"/>
          <p:cNvSpPr txBox="1"/>
          <p:nvPr/>
        </p:nvSpPr>
        <p:spPr>
          <a:xfrm>
            <a:off x="8162544" y="4069080"/>
            <a:ext cx="1471422" cy="621792"/>
          </a:xfrm>
          <a:prstGeom prst="rect">
            <a:avLst/>
          </a:prstGeom>
          <a:noFill/>
          <a:ln/>
        </p:spPr>
        <p:txBody>
          <a:bodyPr wrap="square" lIns="0" tIns="0" rIns="0" bIns="0" rtlCol="0" anchor="ctr"/>
          <a:lstStyle/>
          <a:p>
            <a:pPr indent="0" marL="0">
              <a:lnSpc>
                <a:spcPct val="105000"/>
              </a:lnSpc>
              <a:buNone/>
            </a:pPr>
            <a:r>
              <a:rPr lang="en-US" sz="880" dirty="0">
                <a:solidFill>
                  <a:srgbClr val="7C6552"/>
                </a:solidFill>
                <a:latin typeface="Calibri" pitchFamily="34" charset="0"/>
                <a:ea typeface="Calibri" pitchFamily="34" charset="-122"/>
                <a:cs typeface="Calibri" pitchFamily="34" charset="-120"/>
              </a:rPr>
              <a:t>schéma appliqué automatiquement</a:t>
            </a:r>
            <a:endParaRPr lang="en-US" sz="880" dirty="0"/>
          </a:p>
        </p:txBody>
      </p:sp>
      <p:sp>
        <p:nvSpPr>
          <p:cNvPr id="26" name="Shape 23"/>
          <p:cNvSpPr/>
          <p:nvPr/>
        </p:nvSpPr>
        <p:spPr>
          <a:xfrm>
            <a:off x="9894570" y="2788920"/>
            <a:ext cx="1745742" cy="1965960"/>
          </a:xfrm>
          <a:prstGeom prst="roundRect">
            <a:avLst>
              <a:gd name="adj" fmla="val 4190"/>
            </a:avLst>
          </a:prstGeom>
          <a:solidFill>
            <a:srgbClr val="B5813F"/>
          </a:solidFill>
          <a:ln/>
        </p:spPr>
      </p:sp>
      <p:sp>
        <p:nvSpPr>
          <p:cNvPr id="27" name="Text 24"/>
          <p:cNvSpPr txBox="1"/>
          <p:nvPr/>
        </p:nvSpPr>
        <p:spPr>
          <a:xfrm>
            <a:off x="10031730" y="2898648"/>
            <a:ext cx="54864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8" name="Text 25"/>
          <p:cNvSpPr txBox="1"/>
          <p:nvPr/>
        </p:nvSpPr>
        <p:spPr>
          <a:xfrm>
            <a:off x="10031730" y="3355848"/>
            <a:ext cx="1471422" cy="777240"/>
          </a:xfrm>
          <a:prstGeom prst="rect">
            <a:avLst/>
          </a:prstGeom>
          <a:noFill/>
          <a:ln/>
        </p:spPr>
        <p:txBody>
          <a:bodyPr wrap="square" lIns="0" tIns="0" rIns="0" bIns="0"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Rôles + admin</a:t>
            </a:r>
            <a:endParaRPr lang="en-US" sz="1150" dirty="0"/>
          </a:p>
        </p:txBody>
      </p:sp>
      <p:sp>
        <p:nvSpPr>
          <p:cNvPr id="29" name="Text 26"/>
          <p:cNvSpPr txBox="1"/>
          <p:nvPr/>
        </p:nvSpPr>
        <p:spPr>
          <a:xfrm>
            <a:off x="10031730" y="4069080"/>
            <a:ext cx="1471422" cy="621792"/>
          </a:xfrm>
          <a:prstGeom prst="rect">
            <a:avLst/>
          </a:prstGeom>
          <a:noFill/>
          <a:ln/>
        </p:spPr>
        <p:txBody>
          <a:bodyPr wrap="square" lIns="0" tIns="0" rIns="0" bIns="0" rtlCol="0" anchor="ctr"/>
          <a:lstStyle/>
          <a:p>
            <a:pPr indent="0" marL="0">
              <a:lnSpc>
                <a:spcPct val="105000"/>
              </a:lnSpc>
              <a:buNone/>
            </a:pPr>
            <a:r>
              <a:rPr lang="en-US" sz="880" dirty="0">
                <a:solidFill>
                  <a:srgbClr val="F3E9DA"/>
                </a:solidFill>
                <a:latin typeface="Calibri" pitchFamily="34" charset="0"/>
                <a:ea typeface="Calibri" pitchFamily="34" charset="-122"/>
                <a:cs typeface="Calibri" pitchFamily="34" charset="-120"/>
              </a:rPr>
              <a:t>4 rôles créés, admin initial si configuré</a:t>
            </a:r>
            <a:endParaRPr lang="en-US" sz="880" dirty="0"/>
          </a:p>
        </p:txBody>
      </p:sp>
      <p:sp>
        <p:nvSpPr>
          <p:cNvPr id="30" name="Text 2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31" name="Text 2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INITIALISATION</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Ollama : téléchargement du modèle au premier démarrage</a:t>
            </a:r>
            <a:endParaRPr lang="en-US" sz="2400" dirty="0"/>
          </a:p>
        </p:txBody>
      </p:sp>
      <p:sp>
        <p:nvSpPr>
          <p:cNvPr id="6" name="Text 3"/>
          <p:cNvSpPr txBox="1"/>
          <p:nvPr/>
        </p:nvSpPr>
        <p:spPr>
          <a:xfrm>
            <a:off x="548640" y="297637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Point d'entrée particulier : le serveur démarre, attend 10 secondes, puis télécharge le modèle s'il n'est pas déjà présent.</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 modèle reste ensuite en cache dans le volume nommé ollama_data, qui survit à un docker compose down (sans -v).</a:t>
            </a:r>
            <a:endParaRPr lang="en-US" sz="1450" dirty="0"/>
          </a:p>
        </p:txBody>
      </p:sp>
      <p:sp>
        <p:nvSpPr>
          <p:cNvPr id="7" name="Shape 4"/>
          <p:cNvSpPr/>
          <p:nvPr/>
        </p:nvSpPr>
        <p:spPr>
          <a:xfrm>
            <a:off x="548640" y="4064508"/>
            <a:ext cx="10881360" cy="868680"/>
          </a:xfrm>
          <a:prstGeom prst="roundRect">
            <a:avLst>
              <a:gd name="adj" fmla="val 8421"/>
            </a:avLst>
          </a:prstGeom>
          <a:solidFill>
            <a:srgbClr val="F3E9DA"/>
          </a:solidFill>
          <a:ln/>
        </p:spPr>
      </p:sp>
      <p:sp>
        <p:nvSpPr>
          <p:cNvPr id="8" name="Text 5"/>
          <p:cNvSpPr txBox="1"/>
          <p:nvPr/>
        </p:nvSpPr>
        <p:spPr>
          <a:xfrm>
            <a:off x="868680" y="420166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4448556"/>
            <a:ext cx="10241280" cy="41148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Le tout premier démarrage peut prendre plusieurs minutes (téléchargement de quelques Go) — les démarrages suivants sont quasi instantanés.</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INITIALISATION</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Rôles, administrateur initial &amp; migrations</a:t>
            </a:r>
            <a:endParaRPr lang="en-US" sz="2400" dirty="0"/>
          </a:p>
        </p:txBody>
      </p:sp>
      <p:sp>
        <p:nvSpPr>
          <p:cNvPr id="6" name="Text 3"/>
          <p:cNvSpPr txBox="1"/>
          <p:nvPr/>
        </p:nvSpPr>
        <p:spPr>
          <a:xfrm>
            <a:off x="548640" y="283921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PostgreSQL attend seulement d'être joignable — c'est "app", à SON PROPRE démarrage, qui applique le schéma (Flyway).</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Les 4 rôles sont créés s'ils manquent, puis l'admin initial SI configuré via .env (INITIAL_ADMIN_EMAIL/PASSWORD).</a:t>
            </a:r>
            <a:endParaRPr lang="en-US" sz="1450" dirty="0"/>
          </a:p>
        </p:txBody>
      </p:sp>
      <p:sp>
        <p:nvSpPr>
          <p:cNvPr id="7" name="Shape 4"/>
          <p:cNvSpPr/>
          <p:nvPr/>
        </p:nvSpPr>
        <p:spPr>
          <a:xfrm>
            <a:off x="548640" y="3927348"/>
            <a:ext cx="10881360" cy="1143000"/>
          </a:xfrm>
          <a:prstGeom prst="roundRect">
            <a:avLst>
              <a:gd name="adj" fmla="val 6400"/>
            </a:avLst>
          </a:prstGeom>
          <a:solidFill>
            <a:srgbClr val="F3E9DA"/>
          </a:solidFill>
          <a:ln/>
        </p:spPr>
      </p:sp>
      <p:sp>
        <p:nvSpPr>
          <p:cNvPr id="8" name="Text 5"/>
          <p:cNvSpPr txBox="1"/>
          <p:nvPr/>
        </p:nvSpPr>
        <p:spPr>
          <a:xfrm>
            <a:off x="868680" y="406450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431139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Sans ces variables, l'application démarre volontairement sans administrateur — un assistant public temporaire (/api/public/setup) prend le relais au premier accès, et se referme définitivement dès qu'un admin existe.</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INITIALISATION</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MinIO et Meilisearch : pas d'étape d'initialisation séparée</a:t>
            </a:r>
            <a:endParaRPr lang="en-US" sz="2400" dirty="0"/>
          </a:p>
        </p:txBody>
      </p:sp>
      <p:sp>
        <p:nvSpPr>
          <p:cNvPr id="6" name="Text 3"/>
          <p:cNvSpPr txBox="1"/>
          <p:nvPr/>
        </p:nvSpPr>
        <p:spPr>
          <a:xfrm>
            <a:off x="548640" y="3520440"/>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 bucket MinIO est vérifié — et créé s'il manque — à chaque appel du client, pas une fois au démarrage.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L'index Meilisearch se remplit au fil des archivages, ou par une resynchronisation manuelle (ADMIN) s'il doit être reconstruit.</a:t>
            </a:r>
            <a:endParaRPr lang="en-US" sz="1450" dirty="0"/>
          </a:p>
        </p:txBody>
      </p:sp>
      <p:sp>
        <p:nvSpPr>
          <p:cNvPr id="7" name="Text 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5"/>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MISE À L'ÉCHELLE</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Plusieurs instances de l'API (app)</a:t>
            </a:r>
            <a:endParaRPr lang="en-US" sz="2400" dirty="0"/>
          </a:p>
        </p:txBody>
      </p:sp>
      <p:sp>
        <p:nvSpPr>
          <p:cNvPr id="6" name="Text 3"/>
          <p:cNvSpPr txBox="1"/>
          <p:nvPr/>
        </p:nvSpPr>
        <p:spPr>
          <a:xfrm>
            <a:off x="548640" y="2793492"/>
            <a:ext cx="10881360" cy="868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Déjà centralisé et prêt : PostgreSQL, MinIO, Meilisearch, Redis, le volume HSM — une 2e instance y accède exactement comme la première.</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 cache d'authentification est déjà dans Redis, pas en mémoire locale — un utilisateur peut changer d'instance sans se reconnecter.</a:t>
            </a:r>
            <a:endParaRPr lang="en-US" sz="1450" dirty="0"/>
          </a:p>
        </p:txBody>
      </p:sp>
      <p:sp>
        <p:nvSpPr>
          <p:cNvPr id="7" name="Shape 4"/>
          <p:cNvSpPr/>
          <p:nvPr/>
        </p:nvSpPr>
        <p:spPr>
          <a:xfrm>
            <a:off x="548640" y="3881628"/>
            <a:ext cx="10881360" cy="1234440"/>
          </a:xfrm>
          <a:prstGeom prst="roundRect">
            <a:avLst>
              <a:gd name="adj" fmla="val 5926"/>
            </a:avLst>
          </a:prstGeom>
          <a:solidFill>
            <a:srgbClr val="FBE6D6"/>
          </a:solidFill>
          <a:ln/>
        </p:spPr>
      </p:sp>
      <p:sp>
        <p:nvSpPr>
          <p:cNvPr id="8" name="Text 5"/>
          <p:cNvSpPr txBox="1"/>
          <p:nvPr/>
        </p:nvSpPr>
        <p:spPr>
          <a:xfrm>
            <a:off x="868680" y="4018788"/>
            <a:ext cx="2743200" cy="274320"/>
          </a:xfrm>
          <a:prstGeom prst="rect">
            <a:avLst/>
          </a:prstGeom>
          <a:noFill/>
          <a:ln/>
        </p:spPr>
        <p:txBody>
          <a:bodyPr wrap="square" lIns="0" tIns="0" rIns="0" bIns="0" rtlCol="0" anchor="ctr"/>
          <a:lstStyle/>
          <a:p>
            <a:pPr indent="0" marL="0">
              <a:buNone/>
            </a:pPr>
            <a:r>
              <a:rPr lang="en-US" sz="1000" b="1" spc="100" kern="0" dirty="0">
                <a:solidFill>
                  <a:srgbClr val="A34E12"/>
                </a:solidFill>
                <a:latin typeface="Calibri" pitchFamily="34" charset="0"/>
                <a:ea typeface="Calibri" pitchFamily="34" charset="-122"/>
                <a:cs typeface="Calibri" pitchFamily="34" charset="-120"/>
              </a:rPr>
              <a:t>LIMITE CONNUE</a:t>
            </a:r>
            <a:endParaRPr lang="en-US" sz="1000" dirty="0"/>
          </a:p>
        </p:txBody>
      </p:sp>
      <p:sp>
        <p:nvSpPr>
          <p:cNvPr id="9" name="Text 6"/>
          <p:cNvSpPr txBox="1"/>
          <p:nvPr/>
        </p:nvSpPr>
        <p:spPr>
          <a:xfrm>
            <a:off x="868680" y="4265676"/>
            <a:ext cx="10241280" cy="77724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OcrSessionCache (sessions Phase 1 → Phase 2) vit en mémoire du process Java, propre à CHAQUE instance. Si la Phase 2 atterrit sur une autre instance que la Phase 1, l'archivage échoue avec "session introuvable" — à migrer vers Redis avant toute mise à l'échelle, pas hypothétique.</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MISE À L'ÉCHELLE</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Plusieurs instances de app — côté déploiement</a:t>
            </a:r>
            <a:endParaRPr lang="en-US" sz="2400" dirty="0"/>
          </a:p>
        </p:txBody>
      </p:sp>
      <p:sp>
        <p:nvSpPr>
          <p:cNvPr id="6" name="Text 3"/>
          <p:cNvSpPr txBox="1"/>
          <p:nvPr/>
        </p:nvSpPr>
        <p:spPr>
          <a:xfrm>
            <a:off x="548640" y="3246120"/>
            <a:ext cx="10881360" cy="14173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container_name fixe sur "app" empêche nativement docker compose --scale — à retirer en premier.</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Traefik doit ensuite connaître les réplicas : plusieurs adresses dans dynamic.yml.template, ou son fournisseur Docker natif.</a:t>
            </a:r>
            <a:endParaRPr lang="en-US" sz="1450" dirty="0"/>
          </a:p>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Le fournisseur Docker natif a déjà été essayé et abandonné (incompatible avec Docker Desktop en dev) — jamais retesté sur un vrai hôte Linux de production.</a:t>
            </a:r>
            <a:endParaRPr lang="en-US" sz="1450" dirty="0"/>
          </a:p>
        </p:txBody>
      </p:sp>
      <p:sp>
        <p:nvSpPr>
          <p:cNvPr id="7" name="Text 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5"/>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563270"/>
            <a:ext cx="382219" cy="382219"/>
          </a:xfrm>
          <a:prstGeom prst="rect">
            <a:avLst/>
          </a:prstGeom>
        </p:spPr>
      </p:pic>
      <p:sp>
        <p:nvSpPr>
          <p:cNvPr id="4" name="Text 1"/>
          <p:cNvSpPr txBox="1"/>
          <p:nvPr/>
        </p:nvSpPr>
        <p:spPr>
          <a:xfrm>
            <a:off x="1170432" y="457200"/>
            <a:ext cx="8229600" cy="274320"/>
          </a:xfrm>
          <a:prstGeom prst="rect">
            <a:avLst/>
          </a:prstGeom>
          <a:noFill/>
          <a:ln/>
        </p:spPr>
        <p:txBody>
          <a:bodyPr wrap="square" lIns="0" tIns="0" rIns="0" bIns="0" rtlCol="0" anchor="ctr"/>
          <a:lstStyle/>
          <a:p>
            <a:pPr indent="0" marL="0">
              <a:buNone/>
            </a:pPr>
            <a:r>
              <a:rPr lang="en-US" sz="1100" spc="150" kern="0" dirty="0">
                <a:solidFill>
                  <a:srgbClr val="B5813F"/>
                </a:solidFill>
                <a:latin typeface="Calibri" pitchFamily="34" charset="0"/>
                <a:ea typeface="Calibri" pitchFamily="34" charset="-122"/>
                <a:cs typeface="Calibri" pitchFamily="34" charset="-120"/>
              </a:rPr>
              <a:t>MISE À L'ÉCHELLE</a:t>
            </a:r>
            <a:endParaRPr lang="en-US" sz="1100" dirty="0"/>
          </a:p>
        </p:txBody>
      </p:sp>
      <p:sp>
        <p:nvSpPr>
          <p:cNvPr id="5" name="Text 2"/>
          <p:cNvSpPr txBox="1"/>
          <p:nvPr/>
        </p:nvSpPr>
        <p:spPr>
          <a:xfrm>
            <a:off x="1152144" y="713232"/>
            <a:ext cx="9692640" cy="594360"/>
          </a:xfrm>
          <a:prstGeom prst="rect">
            <a:avLst/>
          </a:prstGeom>
          <a:noFill/>
          <a:ln/>
        </p:spPr>
        <p:txBody>
          <a:bodyPr wrap="square" lIns="0" tIns="0" rIns="0" bIns="0" rtlCol="0" anchor="ctr"/>
          <a:lstStyle/>
          <a:p>
            <a:pPr indent="0" marL="0">
              <a:buNone/>
            </a:pPr>
            <a:r>
              <a:rPr lang="en-US" sz="2400" b="1" dirty="0">
                <a:solidFill>
                  <a:srgbClr val="2C1A0E"/>
                </a:solidFill>
                <a:latin typeface="Cambria" pitchFamily="34" charset="0"/>
                <a:ea typeface="Cambria" pitchFamily="34" charset="-122"/>
                <a:cs typeface="Cambria" pitchFamily="34" charset="-120"/>
              </a:rPr>
              <a:t>Plusieurs instances d'Ollama (Qwen)</a:t>
            </a:r>
            <a:endParaRPr lang="en-US" sz="2400" dirty="0"/>
          </a:p>
        </p:txBody>
      </p:sp>
      <p:sp>
        <p:nvSpPr>
          <p:cNvPr id="6" name="Text 3"/>
          <p:cNvSpPr txBox="1"/>
          <p:nvPr/>
        </p:nvSpPr>
        <p:spPr>
          <a:xfrm>
            <a:off x="548640" y="3022092"/>
            <a:ext cx="10881360" cy="50292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50" dirty="0">
                <a:solidFill>
                  <a:srgbClr val="2C1A0E"/>
                </a:solidFill>
                <a:latin typeface="Calibri" pitchFamily="34" charset="0"/>
                <a:ea typeface="Calibri" pitchFamily="34" charset="-122"/>
                <a:cs typeface="Calibri" pitchFamily="34" charset="-120"/>
              </a:rPr>
              <a:t>Une seule adresse Ollama connue de l'app (OLLAMA_BASE_URL) — pas de répartition entre plusieurs instances intégrée au code.</a:t>
            </a:r>
            <a:endParaRPr lang="en-US" sz="1450" dirty="0"/>
          </a:p>
        </p:txBody>
      </p:sp>
      <p:sp>
        <p:nvSpPr>
          <p:cNvPr id="7" name="Shape 4"/>
          <p:cNvSpPr/>
          <p:nvPr/>
        </p:nvSpPr>
        <p:spPr>
          <a:xfrm>
            <a:off x="548640" y="3744468"/>
            <a:ext cx="10881360" cy="1143000"/>
          </a:xfrm>
          <a:prstGeom prst="roundRect">
            <a:avLst>
              <a:gd name="adj" fmla="val 6400"/>
            </a:avLst>
          </a:prstGeom>
          <a:solidFill>
            <a:srgbClr val="F3E9DA"/>
          </a:solidFill>
          <a:ln/>
        </p:spPr>
      </p:sp>
      <p:sp>
        <p:nvSpPr>
          <p:cNvPr id="8" name="Text 5"/>
          <p:cNvSpPr txBox="1"/>
          <p:nvPr/>
        </p:nvSpPr>
        <p:spPr>
          <a:xfrm>
            <a:off x="868680" y="3881628"/>
            <a:ext cx="1828800" cy="274320"/>
          </a:xfrm>
          <a:prstGeom prst="rect">
            <a:avLst/>
          </a:prstGeom>
          <a:noFill/>
          <a:ln/>
        </p:spPr>
        <p:txBody>
          <a:bodyPr wrap="square" lIns="0" tIns="0" rIns="0" bIns="0" rtlCol="0" anchor="ctr"/>
          <a:lstStyle/>
          <a:p>
            <a:pPr indent="0" marL="0">
              <a:buNone/>
            </a:pPr>
            <a:r>
              <a:rPr lang="en-US" sz="1000" b="1" spc="100" kern="0" dirty="0">
                <a:solidFill>
                  <a:srgbClr val="B5813F"/>
                </a:solidFill>
                <a:latin typeface="Calibri" pitchFamily="34" charset="0"/>
                <a:ea typeface="Calibri" pitchFamily="34" charset="-122"/>
                <a:cs typeface="Calibri" pitchFamily="34" charset="-120"/>
              </a:rPr>
              <a:t>POURQUOI</a:t>
            </a:r>
            <a:endParaRPr lang="en-US" sz="1000" dirty="0"/>
          </a:p>
        </p:txBody>
      </p:sp>
      <p:sp>
        <p:nvSpPr>
          <p:cNvPr id="9" name="Text 6"/>
          <p:cNvSpPr txBox="1"/>
          <p:nvPr/>
        </p:nvSpPr>
        <p:spPr>
          <a:xfrm>
            <a:off x="868680" y="4128516"/>
            <a:ext cx="10241280" cy="685800"/>
          </a:xfrm>
          <a:prstGeom prst="rect">
            <a:avLst/>
          </a:prstGeom>
          <a:noFill/>
          <a:ln/>
        </p:spPr>
        <p:txBody>
          <a:bodyPr wrap="square" lIns="0" tIns="0" rIns="0" bIns="0" rtlCol="0" anchor="ctr"/>
          <a:lstStyle/>
          <a:p>
            <a:pPr indent="0" marL="0">
              <a:lnSpc>
                <a:spcPct val="110000"/>
              </a:lnSpc>
              <a:buNone/>
            </a:pPr>
            <a:r>
              <a:rPr lang="en-US" sz="1250" dirty="0">
                <a:solidFill>
                  <a:srgbClr val="2C1A0E"/>
                </a:solidFill>
                <a:latin typeface="Calibri" pitchFamily="34" charset="0"/>
                <a:ea typeface="Calibri" pitchFamily="34" charset="-122"/>
                <a:cs typeface="Calibri" pitchFamily="34" charset="-120"/>
              </a:rPr>
              <a:t>Ce modèle n'est appelé qu'une fois PAR TYPE de document, jamais par document — le débit réel est probablement déjà faible ; OLLAMA_NUM_PARALLEL permet à une seule instance d'absorber plusieurs requêtes de front avant d'envisager plusieurs conteneurs. Si le besoin apparaît vraiment : même mécanisme que pour app/frontend (plusieurs adresses dans dynamic.yml.template) — aucun changement de code Java.</a:t>
            </a:r>
            <a:endParaRPr lang="en-US" sz="1250" dirty="0"/>
          </a:p>
        </p:txBody>
      </p:sp>
      <p:sp>
        <p:nvSpPr>
          <p:cNvPr id="10" name="Text 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11" name="Text 8"/>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640080" y="2331720"/>
            <a:ext cx="914400" cy="91440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749808" y="2441448"/>
            <a:ext cx="694944" cy="694944"/>
          </a:xfrm>
          <a:prstGeom prst="rect">
            <a:avLst/>
          </a:prstGeom>
        </p:spPr>
      </p:pic>
      <p:sp>
        <p:nvSpPr>
          <p:cNvPr id="4" name="Text 1"/>
          <p:cNvSpPr txBox="1"/>
          <p:nvPr/>
        </p:nvSpPr>
        <p:spPr>
          <a:xfrm>
            <a:off x="1737360" y="2395728"/>
            <a:ext cx="8229600" cy="365760"/>
          </a:xfrm>
          <a:prstGeom prst="rect">
            <a:avLst/>
          </a:prstGeom>
          <a:noFill/>
          <a:ln/>
        </p:spPr>
        <p:txBody>
          <a:bodyPr wrap="square" lIns="0" tIns="0" rIns="0" bIns="0" rtlCol="0" anchor="ctr"/>
          <a:lstStyle/>
          <a:p>
            <a:pPr indent="0" marL="0">
              <a:buNone/>
            </a:pPr>
            <a:r>
              <a:rPr lang="en-US" sz="1200" spc="200" kern="0" dirty="0">
                <a:solidFill>
                  <a:srgbClr val="D9AE6C"/>
                </a:solidFill>
                <a:latin typeface="Calibri" pitchFamily="34" charset="0"/>
                <a:ea typeface="Calibri" pitchFamily="34" charset="-122"/>
                <a:cs typeface="Calibri" pitchFamily="34" charset="-120"/>
              </a:rPr>
              <a:t>BILAN</a:t>
            </a:r>
            <a:endParaRPr lang="en-US" sz="1200" dirty="0"/>
          </a:p>
        </p:txBody>
      </p:sp>
      <p:sp>
        <p:nvSpPr>
          <p:cNvPr id="5" name="Text 2"/>
          <p:cNvSpPr txBox="1"/>
          <p:nvPr/>
        </p:nvSpPr>
        <p:spPr>
          <a:xfrm>
            <a:off x="1719072" y="274320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Tableau récapitulatif</a:t>
            </a:r>
            <a:endParaRPr lang="en-US" sz="38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7"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471830"/>
            <a:ext cx="382219" cy="382219"/>
          </a:xfrm>
          <a:prstGeom prst="rect">
            <a:avLst/>
          </a:prstGeom>
        </p:spPr>
      </p:pic>
      <p:sp>
        <p:nvSpPr>
          <p:cNvPr id="4" name="Text 1"/>
          <p:cNvSpPr txBox="1"/>
          <p:nvPr/>
        </p:nvSpPr>
        <p:spPr>
          <a:xfrm>
            <a:off x="1170432" y="365760"/>
            <a:ext cx="8229600" cy="502920"/>
          </a:xfrm>
          <a:prstGeom prst="rect">
            <a:avLst/>
          </a:prstGeom>
          <a:noFill/>
          <a:ln/>
        </p:spPr>
        <p:txBody>
          <a:bodyPr wrap="square" lIns="0" tIns="0" rIns="0" bIns="0" rtlCol="0" anchor="ctr"/>
          <a:lstStyle/>
          <a:p>
            <a:pPr indent="0" marL="0">
              <a:buNone/>
            </a:pPr>
            <a:r>
              <a:rPr lang="en-US" sz="2600" b="1" dirty="0">
                <a:solidFill>
                  <a:srgbClr val="2C1A0E"/>
                </a:solidFill>
                <a:latin typeface="Cambria" pitchFamily="34" charset="0"/>
                <a:ea typeface="Cambria" pitchFamily="34" charset="-122"/>
                <a:cs typeface="Cambria" pitchFamily="34" charset="-120"/>
              </a:rPr>
              <a:t>Tableau récapitulatif</a:t>
            </a:r>
            <a:endParaRPr lang="en-US" sz="2600" dirty="0"/>
          </a:p>
        </p:txBody>
      </p:sp>
      <p:sp>
        <p:nvSpPr>
          <p:cNvPr id="5" name="Text 2"/>
          <p:cNvSpPr txBox="1"/>
          <p:nvPr/>
        </p:nvSpPr>
        <p:spPr>
          <a:xfrm>
            <a:off x="10607040" y="438912"/>
            <a:ext cx="1097280" cy="365760"/>
          </a:xfrm>
          <a:prstGeom prst="rect">
            <a:avLst/>
          </a:prstGeom>
          <a:noFill/>
          <a:ln/>
        </p:spPr>
        <p:txBody>
          <a:bodyPr wrap="square" lIns="0" tIns="0" rIns="0" bIns="0" rtlCol="0" anchor="ctr"/>
          <a:lstStyle/>
          <a:p>
            <a:pPr algn="r" indent="0" marL="0">
              <a:buNone/>
            </a:pPr>
            <a:r>
              <a:rPr lang="en-US" sz="1100" dirty="0">
                <a:solidFill>
                  <a:srgbClr val="7C6552"/>
                </a:solidFill>
                <a:latin typeface="Calibri" pitchFamily="34" charset="0"/>
                <a:ea typeface="Calibri" pitchFamily="34" charset="-122"/>
                <a:cs typeface="Calibri" pitchFamily="34" charset="-120"/>
              </a:rPr>
              <a:t>1 / 3</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74552" cy="914400"/>
        </p:xfrm>
        <a:graphic>
          <a:graphicData uri="http://schemas.openxmlformats.org/drawingml/2006/table">
            <a:tbl>
              <a:tblPr/>
              <a:tblGrid>
                <a:gridCol w="2651760"/>
                <a:gridCol w="5239512"/>
                <a:gridCol w="33832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Fonctionnalité</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Pourquoi — problème résolu</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Limite connue</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Authentification &amp; sessions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Empêcher un accès obsolète (rôle, mot de passe, UO ou compte changés) de survivre jusqu'à l'expiration d'un JWT valable plusieurs heures.</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Hiérarchie d'UO &amp; transfert</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Représenter des départements/filiales avec des périmètres de documents distincts, pas une organisation plate.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Suppression d'utilisateur à deux temps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Éviter qu'une erreur humaine ou un admin malveillant supprime un compte de façon instantanée et irréversible.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A34E12"/>
                          </a:solidFill>
                          <a:latin typeface="Calibri" pitchFamily="34" charset="0"/>
                          <a:ea typeface="Calibri" pitchFamily="34" charset="-122"/>
                          <a:cs typeface="Calibri" pitchFamily="34" charset="-120"/>
                        </a:rPr>
                        <a:t>Un compte jamais connecté est supprimé immédiatement, sans délai de grâce.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Protection du dernier administrateur</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Empêcher qu'une organisation ou une UO se retrouve sans administrateur par erreur de manipulation.</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Upload en deux phases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Éviter d'archiver définitivement un document avec des métadonnées fausses ou incomplètes.</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Conversion universelle vers PDF/A-3b</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Garantir la lisibilité à long terme, indépendamment de tout logiciel propriétaire.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Extraction assistée par IA</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Éviter la ressaisie manuelle de chaque champ — le modèle apprend une fois par type.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A34E12"/>
                          </a:solidFill>
                          <a:latin typeface="Calibri" pitchFamily="34" charset="0"/>
                          <a:ea typeface="Calibri" pitchFamily="34" charset="-122"/>
                          <a:cs typeface="Calibri" pitchFamily="34" charset="-120"/>
                        </a:rPr>
                        <a:t>Dépend de la qualité du premier document du type ; une règle mal apprise affecte les suivants.</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Import en lot (jusqu'à 10 000 fichiers)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Rendre praticable l'archivage rétroactif de milliers de documents déjà numérisés.</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Import depuis un lien web</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Archiver des documents déjà en ligne sans les télécharger manuellement.</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471830"/>
            <a:ext cx="382219" cy="382219"/>
          </a:xfrm>
          <a:prstGeom prst="rect">
            <a:avLst/>
          </a:prstGeom>
        </p:spPr>
      </p:pic>
      <p:sp>
        <p:nvSpPr>
          <p:cNvPr id="4" name="Text 1"/>
          <p:cNvSpPr txBox="1"/>
          <p:nvPr/>
        </p:nvSpPr>
        <p:spPr>
          <a:xfrm>
            <a:off x="1170432" y="365760"/>
            <a:ext cx="8229600" cy="502920"/>
          </a:xfrm>
          <a:prstGeom prst="rect">
            <a:avLst/>
          </a:prstGeom>
          <a:noFill/>
          <a:ln/>
        </p:spPr>
        <p:txBody>
          <a:bodyPr wrap="square" lIns="0" tIns="0" rIns="0" bIns="0" rtlCol="0" anchor="ctr"/>
          <a:lstStyle/>
          <a:p>
            <a:pPr indent="0" marL="0">
              <a:buNone/>
            </a:pPr>
            <a:r>
              <a:rPr lang="en-US" sz="2600" b="1" dirty="0">
                <a:solidFill>
                  <a:srgbClr val="2C1A0E"/>
                </a:solidFill>
                <a:latin typeface="Cambria" pitchFamily="34" charset="0"/>
                <a:ea typeface="Cambria" pitchFamily="34" charset="-122"/>
                <a:cs typeface="Cambria" pitchFamily="34" charset="-120"/>
              </a:rPr>
              <a:t>Tableau récapitulatif</a:t>
            </a:r>
            <a:endParaRPr lang="en-US" sz="2600" dirty="0"/>
          </a:p>
        </p:txBody>
      </p:sp>
      <p:sp>
        <p:nvSpPr>
          <p:cNvPr id="5" name="Text 2"/>
          <p:cNvSpPr txBox="1"/>
          <p:nvPr/>
        </p:nvSpPr>
        <p:spPr>
          <a:xfrm>
            <a:off x="10607040" y="438912"/>
            <a:ext cx="1097280" cy="365760"/>
          </a:xfrm>
          <a:prstGeom prst="rect">
            <a:avLst/>
          </a:prstGeom>
          <a:noFill/>
          <a:ln/>
        </p:spPr>
        <p:txBody>
          <a:bodyPr wrap="square" lIns="0" tIns="0" rIns="0" bIns="0" rtlCol="0" anchor="ctr"/>
          <a:lstStyle/>
          <a:p>
            <a:pPr algn="r" indent="0" marL="0">
              <a:buNone/>
            </a:pPr>
            <a:r>
              <a:rPr lang="en-US" sz="1100" dirty="0">
                <a:solidFill>
                  <a:srgbClr val="7C6552"/>
                </a:solidFill>
                <a:latin typeface="Calibri" pitchFamily="34" charset="0"/>
                <a:ea typeface="Calibri" pitchFamily="34" charset="-122"/>
                <a:cs typeface="Calibri" pitchFamily="34" charset="-120"/>
              </a:rPr>
              <a:t>2 / 3</a:t>
            </a:r>
            <a:endParaRPr lang="en-US" sz="11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74552" cy="914400"/>
        </p:xfrm>
        <a:graphic>
          <a:graphicData uri="http://schemas.openxmlformats.org/drawingml/2006/table">
            <a:tbl>
              <a:tblPr/>
              <a:tblGrid>
                <a:gridCol w="2651760"/>
                <a:gridCol w="5239512"/>
                <a:gridCol w="33832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Fonctionnalité</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Pourquoi — problème résolu</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Limite connue</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Détection de doublons (hash original)</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Éviter qu'un même fichier soit archivé deux fois dans la même UO.</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A34E12"/>
                          </a:solidFill>
                          <a:latin typeface="Calibri" pitchFamily="34" charset="0"/>
                          <a:ea typeface="Calibri" pitchFamily="34" charset="-122"/>
                          <a:cs typeface="Calibri" pitchFamily="34" charset="-120"/>
                        </a:rPr>
                        <a:t>Hash exact seulement — un contenu réuploadé après conversion de format n'est pas détecté (vérifié).</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Second hash SHA-256 (PDF/A)</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Fournir une empreinte stable du fichier réellement conservé, vérifiable après coup.</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Signature PKI (HSM)</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Prouver nommément QUI a archivé le document, pas seulement QUE l'organisation l'a fait.</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Horodatage &amp; ancrage blockchain</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Prouver la date d'existence via une source indépendante de MadeArchive.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A34E12"/>
                          </a:solidFill>
                          <a:latin typeface="Calibri" pitchFamily="34" charset="0"/>
                          <a:ea typeface="Calibri" pitchFamily="34" charset="-122"/>
                          <a:cs typeface="Calibri" pitchFamily="34" charset="-120"/>
                        </a:rPr>
                        <a:t>Ancrage blockchain optionnel, par document — pas systématique.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Attestation publique avec QR code</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Permettre à un tiers sans compte de vérifier l'authenticité d'un document.</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Contrôle de fixité périodique</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Détecter une corruption de stockage avant qu'un utilisateur ne l'ouvre.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Miniatures PDF en cache serveur</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Éviter de retélécharger et rasteriser le PDF complet à chaque affichage de grille.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A34E12"/>
                          </a:solidFill>
                          <a:latin typeface="Calibri" pitchFamily="34" charset="0"/>
                          <a:ea typeface="Calibri" pitchFamily="34" charset="-122"/>
                          <a:cs typeface="Calibri" pitchFamily="34" charset="-120"/>
                        </a:rPr>
                        <a:t>Génération à la demande — le tout premier affichage paie le coût de génération.</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Recherche hybride (Meilisearch → BD)</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Recherche plein texte rapide sans laisser un moteur externe faire autorité sur les droits d'accès.</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A34E12"/>
                          </a:solidFill>
                          <a:latin typeface="Calibri" pitchFamily="34" charset="0"/>
                          <a:ea typeface="Calibri" pitchFamily="34" charset="-122"/>
                          <a:cs typeface="Calibri" pitchFamily="34" charset="-120"/>
                        </a:rPr>
                        <a:t>Pagination imprécise sur la recherche textuelle (totalPages toujours à 1).</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Documents accessibles / Mes documents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Séparer "ce que j'ai archivé" de "ce à quoi j'ai droit".</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ellipse">
            <a:avLst/>
          </a:prstGeom>
          <a:solidFill>
            <a:srgbClr val="B5813F"/>
          </a:solidFill>
          <a:ln/>
        </p:spPr>
      </p:sp>
      <p:pic>
        <p:nvPicPr>
          <p:cNvPr id="3" name="Image 0" descr="preencoded.png">    </p:cNvPr>
          <p:cNvPicPr>
            <a:picLocks noChangeAspect="1"/>
          </p:cNvPicPr>
          <p:nvPr/>
        </p:nvPicPr>
        <p:blipFill>
          <a:blip r:embed="rId1"/>
          <a:stretch>
            <a:fillRect/>
          </a:stretch>
        </p:blipFill>
        <p:spPr>
          <a:xfrm>
            <a:off x="608990" y="471830"/>
            <a:ext cx="382219" cy="382219"/>
          </a:xfrm>
          <a:prstGeom prst="rect">
            <a:avLst/>
          </a:prstGeom>
        </p:spPr>
      </p:pic>
      <p:sp>
        <p:nvSpPr>
          <p:cNvPr id="4" name="Text 1"/>
          <p:cNvSpPr txBox="1"/>
          <p:nvPr/>
        </p:nvSpPr>
        <p:spPr>
          <a:xfrm>
            <a:off x="1170432" y="365760"/>
            <a:ext cx="8229600" cy="502920"/>
          </a:xfrm>
          <a:prstGeom prst="rect">
            <a:avLst/>
          </a:prstGeom>
          <a:noFill/>
          <a:ln/>
        </p:spPr>
        <p:txBody>
          <a:bodyPr wrap="square" lIns="0" tIns="0" rIns="0" bIns="0" rtlCol="0" anchor="ctr"/>
          <a:lstStyle/>
          <a:p>
            <a:pPr indent="0" marL="0">
              <a:buNone/>
            </a:pPr>
            <a:r>
              <a:rPr lang="en-US" sz="2600" b="1" dirty="0">
                <a:solidFill>
                  <a:srgbClr val="2C1A0E"/>
                </a:solidFill>
                <a:latin typeface="Cambria" pitchFamily="34" charset="0"/>
                <a:ea typeface="Cambria" pitchFamily="34" charset="-122"/>
                <a:cs typeface="Cambria" pitchFamily="34" charset="-120"/>
              </a:rPr>
              <a:t>Tableau récapitulatif</a:t>
            </a:r>
            <a:endParaRPr lang="en-US" sz="2600" dirty="0"/>
          </a:p>
        </p:txBody>
      </p:sp>
      <p:sp>
        <p:nvSpPr>
          <p:cNvPr id="5" name="Text 2"/>
          <p:cNvSpPr txBox="1"/>
          <p:nvPr/>
        </p:nvSpPr>
        <p:spPr>
          <a:xfrm>
            <a:off x="10607040" y="438912"/>
            <a:ext cx="1097280" cy="365760"/>
          </a:xfrm>
          <a:prstGeom prst="rect">
            <a:avLst/>
          </a:prstGeom>
          <a:noFill/>
          <a:ln/>
        </p:spPr>
        <p:txBody>
          <a:bodyPr wrap="square" lIns="0" tIns="0" rIns="0" bIns="0" rtlCol="0" anchor="ctr"/>
          <a:lstStyle/>
          <a:p>
            <a:pPr algn="r" indent="0" marL="0">
              <a:buNone/>
            </a:pPr>
            <a:r>
              <a:rPr lang="en-US" sz="1100" dirty="0">
                <a:solidFill>
                  <a:srgbClr val="7C6552"/>
                </a:solidFill>
                <a:latin typeface="Calibri" pitchFamily="34" charset="0"/>
                <a:ea typeface="Calibri" pitchFamily="34" charset="-122"/>
                <a:cs typeface="Calibri" pitchFamily="34" charset="-120"/>
              </a:rPr>
              <a:t>3 / 3</a:t>
            </a:r>
            <a:endParaRPr lang="en-US" sz="11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74552" cy="914400"/>
        </p:xfrm>
        <a:graphic>
          <a:graphicData uri="http://schemas.openxmlformats.org/drawingml/2006/table">
            <a:tbl>
              <a:tblPr/>
              <a:tblGrid>
                <a:gridCol w="2651760"/>
                <a:gridCol w="5239512"/>
                <a:gridCol w="33832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Fonctionnalité</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Pourquoi — problème résolu</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Limite connue</a:t>
                      </a:r>
                      <a:endParaRPr lang="en-US" sz="10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2C1A0E"/>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Projets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Représenter un dossier réel qui regroupe plusieurs types de documents liés.</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Emplacements physiques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Conserver la traçabilité de l'original papier quand la numérisation ne dispense pas de le garder.</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Groupes d'accès privés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Restreindre un document/projet sensible à une liste nominative, pas un rôle entier.</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Corbeille &amp; rétention (3 jours)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Éviter qu'une suppression de document soit instantanée et sans recours.</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Export administratif</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Permettre à une institution de récupérer tous ses documents en clair pour changer d'outil.</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Journal d'audit</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Tracer qui a fait quoi, sur quel document, dans quelle UO.</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3E9DA"/>
                    </a:solidFill>
                  </a:tcPr>
                </a:tc>
              </a:tr>
              <a:tr h="0">
                <a:tc>
                  <a:txBody>
                    <a:bodyPr/>
                    <a:lstStyle/>
                    <a:p>
                      <a:pPr indent="0" marL="0">
                        <a:buNone/>
                      </a:pPr>
                      <a:r>
                        <a:rPr lang="en-US" sz="1000" b="1" dirty="0">
                          <a:solidFill>
                            <a:srgbClr val="2C1A0E"/>
                          </a:solidFill>
                          <a:latin typeface="Calibri" pitchFamily="34" charset="0"/>
                          <a:ea typeface="Calibri" pitchFamily="34" charset="-122"/>
                          <a:cs typeface="Calibri" pitchFamily="34" charset="-120"/>
                        </a:rPr>
                        <a:t>Notifications</a:t>
                      </a:r>
                      <a:endParaRPr lang="en-US" sz="100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dirty="0">
                          <a:solidFill>
                            <a:srgbClr val="2C1A0E"/>
                          </a:solidFill>
                          <a:latin typeface="Calibri" pitchFamily="34" charset="0"/>
                          <a:ea typeface="Calibri" pitchFamily="34" charset="-122"/>
                          <a:cs typeface="Calibri" pitchFamily="34" charset="-120"/>
                        </a:rPr>
                        <a:t>Informer un utilisateur des événements qui le concernent.</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c>
                  <a:txBody>
                    <a:bodyPr/>
                    <a:lstStyle/>
                    <a:p>
                      <a:pPr indent="0" marL="0">
                        <a:buNone/>
                      </a:pPr>
                      <a:r>
                        <a:rPr lang="en-US" sz="950" i="1" dirty="0">
                          <a:solidFill>
                            <a:srgbClr val="3E7A52"/>
                          </a:solidFill>
                          <a:latin typeface="Calibri" pitchFamily="34" charset="0"/>
                          <a:ea typeface="Calibri" pitchFamily="34" charset="-122"/>
                          <a:cs typeface="Calibri" pitchFamily="34" charset="-120"/>
                        </a:rPr>
                        <a:t>Aucune limite majeure identifiée</a:t>
                      </a:r>
                      <a:endParaRPr lang="en-US" sz="950" dirty="0">
                        <a:latin typeface="Calibri" charset="0"/>
                        <a:ea typeface="Calibri" charset="0"/>
                        <a:cs typeface="Calibri" charset="0"/>
                      </a:endParaRPr>
                    </a:p>
                  </a:txBody>
                  <a:tcPr marL="76200" marR="76200" marT="50800" marB="50800" anchor="t">
                    <a:lnL w="9525" cap="flat" cmpd="sng" algn="ctr">
                      <a:solidFill>
                        <a:srgbClr val="E8D9C5"/>
                      </a:solidFill>
                      <a:prstDash val="solid"/>
                      <a:round/>
                      <a:headEnd type="none" w="med" len="med"/>
                      <a:tailEnd type="none" w="med" len="med"/>
                    </a:lnL>
                    <a:lnR w="9525" cap="flat" cmpd="sng" algn="ctr">
                      <a:solidFill>
                        <a:srgbClr val="E8D9C5"/>
                      </a:solidFill>
                      <a:prstDash val="solid"/>
                      <a:round/>
                      <a:headEnd type="none" w="med" len="med"/>
                      <a:tailEnd type="none" w="med" len="med"/>
                    </a:lnR>
                    <a:lnT w="9525" cap="flat" cmpd="sng" algn="ctr">
                      <a:solidFill>
                        <a:srgbClr val="E8D9C5"/>
                      </a:solidFill>
                      <a:prstDash val="solid"/>
                      <a:round/>
                      <a:headEnd type="none" w="med" len="med"/>
                      <a:tailEnd type="none" w="med" len="med"/>
                    </a:lnT>
                    <a:lnB w="9525" cap="flat" cmpd="sng" algn="ctr">
                      <a:solidFill>
                        <a:srgbClr val="E8D9C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7C6552"/>
                </a:solidFill>
                <a:latin typeface="Calibri" pitchFamily="34" charset="0"/>
                <a:ea typeface="Calibri" pitchFamily="34" charset="-122"/>
                <a:cs typeface="Calibri" pitchFamily="34" charset="-120"/>
              </a:rPr>
              <a:t>MadeArchive — Documentation technique</a:t>
            </a:r>
            <a:endParaRPr lang="en-US" sz="900" dirty="0"/>
          </a:p>
        </p:txBody>
      </p:sp>
      <p:sp>
        <p:nvSpPr>
          <p:cNvPr id="8" name="Text 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7C6552"/>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MadeArchive — Documentation technique</dc:title>
  <dc:subject>PptxGenJS Presentation</dc:subject>
  <dc:creator>MadeArchive</dc:creator>
  <cp:lastModifiedBy>MadeArchive</cp:lastModifiedBy>
  <cp:revision>1</cp:revision>
  <dcterms:created xsi:type="dcterms:W3CDTF">2026-09-07T23:36:40Z</dcterms:created>
  <dcterms:modified xsi:type="dcterms:W3CDTF">2026-09-07T23:36:40Z</dcterms:modified>
</cp:coreProperties>
</file>