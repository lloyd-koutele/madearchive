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640080"/>
            <a:ext cx="822960" cy="82296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38835" y="738835"/>
            <a:ext cx="625450" cy="625450"/>
          </a:xfrm>
          <a:prstGeom prst="rect">
            <a:avLst/>
          </a:prstGeom>
        </p:spPr>
      </p:pic>
      <p:sp>
        <p:nvSpPr>
          <p:cNvPr id="4" name="Text 1"/>
          <p:cNvSpPr txBox="1"/>
          <p:nvPr/>
        </p:nvSpPr>
        <p:spPr>
          <a:xfrm>
            <a:off x="548640" y="246888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MadeArchive</a:t>
            </a:r>
            <a:endParaRPr lang="en-US" sz="5400" dirty="0"/>
          </a:p>
        </p:txBody>
      </p:sp>
      <p:sp>
        <p:nvSpPr>
          <p:cNvPr id="5" name="Text 2"/>
          <p:cNvSpPr txBox="1"/>
          <p:nvPr/>
        </p:nvSpPr>
        <p:spPr>
          <a:xfrm>
            <a:off x="566928" y="3520440"/>
            <a:ext cx="9144000" cy="548640"/>
          </a:xfrm>
          <a:prstGeom prst="rect">
            <a:avLst/>
          </a:prstGeom>
          <a:noFill/>
          <a:ln/>
        </p:spPr>
        <p:txBody>
          <a:bodyPr wrap="square" lIns="0" tIns="0" rIns="0" bIns="0" rtlCol="0" anchor="ctr"/>
          <a:lstStyle/>
          <a:p>
            <a:pPr indent="0" marL="0">
              <a:buNone/>
            </a:pPr>
            <a:r>
              <a:rPr lang="en-US" sz="2200" dirty="0">
                <a:solidFill>
                  <a:srgbClr val="D9AE6C"/>
                </a:solidFill>
                <a:latin typeface="Calibri" pitchFamily="34" charset="0"/>
                <a:ea typeface="Calibri" pitchFamily="34" charset="-122"/>
                <a:cs typeface="Calibri" pitchFamily="34" charset="-120"/>
              </a:rPr>
              <a:t>Documentation technique</a:t>
            </a:r>
            <a:endParaRPr lang="en-US" sz="2200" dirty="0"/>
          </a:p>
        </p:txBody>
      </p:sp>
      <p:sp>
        <p:nvSpPr>
          <p:cNvPr id="6" name="Text 3"/>
          <p:cNvSpPr txBox="1"/>
          <p:nvPr/>
        </p:nvSpPr>
        <p:spPr>
          <a:xfrm>
            <a:off x="566928" y="4114800"/>
            <a:ext cx="7863840" cy="731520"/>
          </a:xfrm>
          <a:prstGeom prst="rect">
            <a:avLst/>
          </a:prstGeom>
          <a:noFill/>
          <a:ln/>
        </p:spPr>
        <p:txBody>
          <a:bodyPr wrap="square" lIns="0" tIns="0" rIns="0" bIns="0" rtlCol="0" anchor="ctr"/>
          <a:lstStyle/>
          <a:p>
            <a:pPr indent="0" marL="0">
              <a:buNone/>
            </a:pPr>
            <a:r>
              <a:rPr lang="en-US" sz="1300" dirty="0">
                <a:solidFill>
                  <a:srgbClr val="D9C8B4"/>
                </a:solidFill>
                <a:latin typeface="Calibri" pitchFamily="34" charset="0"/>
                <a:ea typeface="Calibri" pitchFamily="34" charset="-122"/>
                <a:cs typeface="Calibri" pitchFamily="34" charset="-120"/>
              </a:rPr>
              <a:t>Fonctionnalités, justification de chaque choix, et limites connues — reflète l'état réel de l'implémentation, pas une intention.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73152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Vue d'ensemble</a:t>
            </a:r>
            <a:endParaRPr lang="en-US" sz="3000" dirty="0"/>
          </a:p>
        </p:txBody>
      </p:sp>
      <p:sp>
        <p:nvSpPr>
          <p:cNvPr id="5" name="Text 2"/>
          <p:cNvSpPr txBox="1"/>
          <p:nvPr/>
        </p:nvSpPr>
        <p:spPr>
          <a:xfrm>
            <a:off x="1280160" y="1417320"/>
            <a:ext cx="8778240" cy="2926080"/>
          </a:xfrm>
          <a:prstGeom prst="rect">
            <a:avLst/>
          </a:prstGeom>
          <a:noFill/>
          <a:ln/>
        </p:spPr>
        <p:txBody>
          <a:bodyPr wrap="square" lIns="0" tIns="0" rIns="0" bIns="0" rtlCol="0" anchor="ctr"/>
          <a:lstStyle/>
          <a:p>
            <a:pPr indent="0" marL="0">
              <a:lnSpc>
                <a:spcPct val="115000"/>
              </a:lnSpc>
              <a:spcAft>
                <a:spcPts val="1000"/>
              </a:spcAft>
              <a:buNone/>
            </a:pPr>
            <a:r>
              <a:rPr lang="en-US" sz="1600" b="1" dirty="0">
                <a:solidFill>
                  <a:srgbClr val="2C1A0E"/>
                </a:solidFill>
                <a:latin typeface="Calibri" pitchFamily="34" charset="0"/>
                <a:ea typeface="Calibri" pitchFamily="34" charset="-122"/>
                <a:cs typeface="Calibri" pitchFamily="34" charset="-120"/>
              </a:rPr>
              <a:t>Une plateforme d'archivage institutionnel à valeur probante.</a:t>
            </a:r>
            <a:endParaRPr lang="en-US" sz="1600" dirty="0"/>
          </a:p>
          <a:p>
            <a:pPr indent="0" marL="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Chaque document numérisé (facture, contrat, correspondance…) suit le même principe : prouver, des années plus tard, qu'il n'a pas été altéré depuis son archivage.</a:t>
            </a:r>
            <a:endParaRPr lang="en-US" sz="1600" dirty="0"/>
          </a:p>
          <a:p>
            <a:pPr indent="0" marL="0">
              <a:lnSpc>
                <a:spcPct val="115000"/>
              </a:lnSpc>
              <a:spcAft>
                <a:spcPts val="1000"/>
              </a:spcAft>
              <a:buNone/>
            </a:pPr>
            <a:r>
              <a:rPr lang="en-US" sz="1600" dirty="0">
                <a:solidFill>
                  <a:srgbClr val="2C1A0E"/>
                </a:solidFill>
                <a:latin typeface="Calibri" pitchFamily="34" charset="0"/>
                <a:ea typeface="Calibri" pitchFamily="34" charset="-122"/>
                <a:cs typeface="Calibri" pitchFamily="34" charset="-120"/>
              </a:rPr>
              <a:t>PostgreSQL reste la seule source de vérité — Meilisearch n'intervient que pour la recherche plein texte, MinIO ne stocke que le PDF/A final, chiffré.</a:t>
            </a:r>
            <a:endParaRPr lang="en-US" sz="1600" dirty="0"/>
          </a:p>
          <a:p>
            <a:pPr indent="0" marL="0">
              <a:lnSpc>
                <a:spcPct val="115000"/>
              </a:lnSpc>
              <a:buNone/>
            </a:pPr>
            <a:r>
              <a:rPr lang="en-US" sz="1600" dirty="0">
                <a:solidFill>
                  <a:srgbClr val="2C1A0E"/>
                </a:solidFill>
                <a:latin typeface="Calibri" pitchFamily="34" charset="0"/>
                <a:ea typeface="Calibri" pitchFamily="34" charset="-122"/>
                <a:cs typeface="Calibri" pitchFamily="34" charset="-120"/>
              </a:rPr>
              <a:t>L'organisation est hiérarchique : des Unités Organisationnelles (UO) emboîtées, chacune avec ses éditeurs, ses types de documents et ses règles d'accès public/privé.</a:t>
            </a:r>
            <a:endParaRPr lang="en-US" sz="1600" dirty="0"/>
          </a:p>
        </p:txBody>
      </p:sp>
      <p:sp>
        <p:nvSpPr>
          <p:cNvPr id="6" name="Shape 3"/>
          <p:cNvSpPr/>
          <p:nvPr/>
        </p:nvSpPr>
        <p:spPr>
          <a:xfrm>
            <a:off x="548640" y="4617720"/>
            <a:ext cx="10881360" cy="1417320"/>
          </a:xfrm>
          <a:prstGeom prst="roundRect">
            <a:avLst>
              <a:gd name="adj" fmla="val 7742"/>
            </a:avLst>
          </a:prstGeom>
          <a:solidFill>
            <a:srgbClr val="F3E9DA"/>
          </a:solidFill>
          <a:ln/>
        </p:spPr>
      </p:sp>
      <p:sp>
        <p:nvSpPr>
          <p:cNvPr id="7" name="Text 4"/>
          <p:cNvSpPr txBox="1"/>
          <p:nvPr/>
        </p:nvSpPr>
        <p:spPr>
          <a:xfrm>
            <a:off x="86868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PostgreSQL</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source de vérité</a:t>
            </a:r>
            <a:endParaRPr lang="en-US" sz="1400" dirty="0"/>
          </a:p>
        </p:txBody>
      </p:sp>
      <p:sp>
        <p:nvSpPr>
          <p:cNvPr id="8" name="Text 5"/>
          <p:cNvSpPr txBox="1"/>
          <p:nvPr/>
        </p:nvSpPr>
        <p:spPr>
          <a:xfrm>
            <a:off x="434340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Meilisearch</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recherche plein texte uniquement</a:t>
            </a:r>
            <a:endParaRPr lang="en-US" sz="1400" dirty="0"/>
          </a:p>
        </p:txBody>
      </p:sp>
      <p:sp>
        <p:nvSpPr>
          <p:cNvPr id="9" name="Text 6"/>
          <p:cNvSpPr txBox="1"/>
          <p:nvPr/>
        </p:nvSpPr>
        <p:spPr>
          <a:xfrm>
            <a:off x="7818120" y="4828032"/>
            <a:ext cx="3291840" cy="1005840"/>
          </a:xfrm>
          <a:prstGeom prst="rect">
            <a:avLst/>
          </a:prstGeom>
          <a:noFill/>
          <a:ln/>
        </p:spPr>
        <p:txBody>
          <a:bodyPr wrap="square" lIns="0" tIns="0" rIns="0" bIns="0" rtlCol="0" anchor="ctr"/>
          <a:lstStyle/>
          <a:p>
            <a:pPr indent="0" marL="0">
              <a:buNone/>
            </a:pPr>
            <a:r>
              <a:rPr lang="en-US" sz="1400" b="1" dirty="0">
                <a:solidFill>
                  <a:srgbClr val="2C1A0E"/>
                </a:solidFill>
                <a:latin typeface="Calibri" pitchFamily="34" charset="0"/>
                <a:ea typeface="Calibri" pitchFamily="34" charset="-122"/>
                <a:cs typeface="Calibri" pitchFamily="34" charset="-120"/>
              </a:rPr>
              <a:t>MinIO</a:t>
            </a:r>
            <a:endParaRPr lang="en-US" sz="1400" dirty="0"/>
          </a:p>
          <a:p>
            <a:pPr indent="0" marL="0">
              <a:buNone/>
            </a:pPr>
            <a:r>
              <a:rPr lang="en-US" sz="1100" dirty="0">
                <a:solidFill>
                  <a:srgbClr val="7C6552"/>
                </a:solidFill>
                <a:latin typeface="Calibri" pitchFamily="34" charset="0"/>
                <a:ea typeface="Calibri" pitchFamily="34" charset="-122"/>
                <a:cs typeface="Calibri" pitchFamily="34" charset="-120"/>
              </a:rPr>
              <a:t>PDF/A final, chiffré, seul fichier conservé</a:t>
            </a:r>
            <a:endParaRPr lang="en-US" sz="140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82296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Rôles &amp; permissions</a:t>
            </a:r>
            <a:endParaRPr lang="en-US" sz="3000" dirty="0"/>
          </a:p>
        </p:txBody>
      </p:sp>
      <p:sp>
        <p:nvSpPr>
          <p:cNvPr id="5" name="Text 2"/>
          <p:cNvSpPr txBox="1"/>
          <p:nvPr/>
        </p:nvSpPr>
        <p:spPr>
          <a:xfrm>
            <a:off x="1280160" y="1170432"/>
            <a:ext cx="9692640" cy="502920"/>
          </a:xfrm>
          <a:prstGeom prst="rect">
            <a:avLst/>
          </a:prstGeom>
          <a:noFill/>
          <a:ln/>
        </p:spPr>
        <p:txBody>
          <a:bodyPr wrap="square" lIns="0" tIns="0" rIns="0" bIns="0" rtlCol="0" anchor="ctr"/>
          <a:lstStyle/>
          <a:p>
            <a:pPr indent="0" marL="0">
              <a:buNone/>
            </a:pPr>
            <a:r>
              <a:rPr lang="en-US" sz="1350" dirty="0">
                <a:solidFill>
                  <a:srgbClr val="7C6552"/>
                </a:solidFill>
                <a:latin typeface="Calibri" pitchFamily="34" charset="0"/>
                <a:ea typeface="Calibri" pitchFamily="34" charset="-122"/>
                <a:cs typeface="Calibri" pitchFamily="34" charset="-120"/>
              </a:rPr>
              <a:t>Quatre rôles, hérités en cascade — ADMIN ⊃ ADMIN_UO ⊃ EDITOR ⊃ USER. Un rôle supérieur hérite automatiquement de tous les droits des rôles inférieurs.</a:t>
            </a:r>
            <a:endParaRPr lang="en-US" sz="1350" dirty="0"/>
          </a:p>
        </p:txBody>
      </p:sp>
      <p:sp>
        <p:nvSpPr>
          <p:cNvPr id="6" name="Shape 3"/>
          <p:cNvSpPr/>
          <p:nvPr/>
        </p:nvSpPr>
        <p:spPr>
          <a:xfrm>
            <a:off x="548640" y="1874520"/>
            <a:ext cx="5394960" cy="1783080"/>
          </a:xfrm>
          <a:prstGeom prst="roundRect">
            <a:avLst>
              <a:gd name="adj" fmla="val 5128"/>
            </a:avLst>
          </a:prstGeom>
          <a:solidFill>
            <a:srgbClr val="F3E9DA"/>
          </a:solidFill>
          <a:ln/>
        </p:spPr>
      </p:sp>
      <p:sp>
        <p:nvSpPr>
          <p:cNvPr id="7" name="Text 4"/>
          <p:cNvSpPr txBox="1"/>
          <p:nvPr/>
        </p:nvSpPr>
        <p:spPr>
          <a:xfrm>
            <a:off x="868680" y="207568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ADMIN</a:t>
            </a:r>
            <a:endParaRPr lang="en-US" sz="1500" dirty="0"/>
          </a:p>
        </p:txBody>
      </p:sp>
      <p:sp>
        <p:nvSpPr>
          <p:cNvPr id="8" name="Text 5"/>
          <p:cNvSpPr txBox="1"/>
          <p:nvPr/>
        </p:nvSpPr>
        <p:spPr>
          <a:xfrm>
            <a:off x="868680" y="249631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Autorité sur toute l'organisation, toutes UO confondues. Seul rôle à voir un document privé dont il n'est pas membre (export). Gère les UO racines.</a:t>
            </a:r>
            <a:endParaRPr lang="en-US" sz="1200" dirty="0"/>
          </a:p>
        </p:txBody>
      </p:sp>
      <p:sp>
        <p:nvSpPr>
          <p:cNvPr id="9" name="Shape 6"/>
          <p:cNvSpPr/>
          <p:nvPr/>
        </p:nvSpPr>
        <p:spPr>
          <a:xfrm>
            <a:off x="6035040" y="1874520"/>
            <a:ext cx="5394960" cy="1783080"/>
          </a:xfrm>
          <a:prstGeom prst="roundRect">
            <a:avLst>
              <a:gd name="adj" fmla="val 5128"/>
            </a:avLst>
          </a:prstGeom>
          <a:solidFill>
            <a:srgbClr val="F3E9DA"/>
          </a:solidFill>
          <a:ln/>
        </p:spPr>
      </p:sp>
      <p:sp>
        <p:nvSpPr>
          <p:cNvPr id="10" name="Text 7"/>
          <p:cNvSpPr txBox="1"/>
          <p:nvPr/>
        </p:nvSpPr>
        <p:spPr>
          <a:xfrm>
            <a:off x="6355080" y="207568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ADMIN_UO</a:t>
            </a:r>
            <a:endParaRPr lang="en-US" sz="1500" dirty="0"/>
          </a:p>
        </p:txBody>
      </p:sp>
      <p:sp>
        <p:nvSpPr>
          <p:cNvPr id="11" name="Text 8"/>
          <p:cNvSpPr txBox="1"/>
          <p:nvPr/>
        </p:nvSpPr>
        <p:spPr>
          <a:xfrm>
            <a:off x="6355080" y="249631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Autorité restreinte à son UO et ses UO descendantes — membres, emplacements physiques, audit et corbeille sur son périmètre.</a:t>
            </a:r>
            <a:endParaRPr lang="en-US" sz="1200" dirty="0"/>
          </a:p>
        </p:txBody>
      </p:sp>
      <p:sp>
        <p:nvSpPr>
          <p:cNvPr id="12" name="Shape 9"/>
          <p:cNvSpPr/>
          <p:nvPr/>
        </p:nvSpPr>
        <p:spPr>
          <a:xfrm>
            <a:off x="548640" y="3794760"/>
            <a:ext cx="5394960" cy="1783080"/>
          </a:xfrm>
          <a:prstGeom prst="roundRect">
            <a:avLst>
              <a:gd name="adj" fmla="val 5128"/>
            </a:avLst>
          </a:prstGeom>
          <a:solidFill>
            <a:srgbClr val="F3E9DA"/>
          </a:solidFill>
          <a:ln/>
        </p:spPr>
      </p:sp>
      <p:sp>
        <p:nvSpPr>
          <p:cNvPr id="13" name="Text 10"/>
          <p:cNvSpPr txBox="1"/>
          <p:nvPr/>
        </p:nvSpPr>
        <p:spPr>
          <a:xfrm>
            <a:off x="868680" y="399592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EDITOR</a:t>
            </a:r>
            <a:endParaRPr lang="en-US" sz="1500" dirty="0"/>
          </a:p>
        </p:txBody>
      </p:sp>
      <p:sp>
        <p:nvSpPr>
          <p:cNvPr id="14" name="Text 11"/>
          <p:cNvSpPr txBox="1"/>
          <p:nvPr/>
        </p:nvSpPr>
        <p:spPr>
          <a:xfrm>
            <a:off x="868680" y="441655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Seul rôle habilité à archiver — nécessite une clé PKI active. Gère ses documents, ses projets, et leur confidentialité.</a:t>
            </a:r>
            <a:endParaRPr lang="en-US" sz="1200" dirty="0"/>
          </a:p>
        </p:txBody>
      </p:sp>
      <p:sp>
        <p:nvSpPr>
          <p:cNvPr id="15" name="Shape 12"/>
          <p:cNvSpPr/>
          <p:nvPr/>
        </p:nvSpPr>
        <p:spPr>
          <a:xfrm>
            <a:off x="6035040" y="3794760"/>
            <a:ext cx="5394960" cy="1783080"/>
          </a:xfrm>
          <a:prstGeom prst="roundRect">
            <a:avLst>
              <a:gd name="adj" fmla="val 5128"/>
            </a:avLst>
          </a:prstGeom>
          <a:solidFill>
            <a:srgbClr val="F3E9DA"/>
          </a:solidFill>
          <a:ln/>
        </p:spPr>
      </p:sp>
      <p:sp>
        <p:nvSpPr>
          <p:cNvPr id="16" name="Text 13"/>
          <p:cNvSpPr txBox="1"/>
          <p:nvPr/>
        </p:nvSpPr>
        <p:spPr>
          <a:xfrm>
            <a:off x="6355080" y="3995928"/>
            <a:ext cx="4754880" cy="365760"/>
          </a:xfrm>
          <a:prstGeom prst="rect">
            <a:avLst/>
          </a:prstGeom>
          <a:noFill/>
          <a:ln/>
        </p:spPr>
        <p:txBody>
          <a:bodyPr wrap="square" lIns="0" tIns="0" rIns="0" bIns="0" rtlCol="0" anchor="ctr"/>
          <a:lstStyle/>
          <a:p>
            <a:pPr indent="0" marL="0">
              <a:buNone/>
            </a:pPr>
            <a:r>
              <a:rPr lang="en-US" sz="1500" b="1" dirty="0">
                <a:solidFill>
                  <a:srgbClr val="B5813F"/>
                </a:solidFill>
                <a:latin typeface="Courier New" pitchFamily="34" charset="0"/>
                <a:ea typeface="Courier New" pitchFamily="34" charset="-122"/>
                <a:cs typeface="Courier New" pitchFamily="34" charset="-120"/>
              </a:rPr>
              <a:t>USER</a:t>
            </a:r>
            <a:endParaRPr lang="en-US" sz="1500" dirty="0"/>
          </a:p>
        </p:txBody>
      </p:sp>
      <p:sp>
        <p:nvSpPr>
          <p:cNvPr id="17" name="Text 14"/>
          <p:cNvSpPr txBox="1"/>
          <p:nvPr/>
        </p:nvSpPr>
        <p:spPr>
          <a:xfrm>
            <a:off x="6355080" y="4416552"/>
            <a:ext cx="4754880" cy="1051560"/>
          </a:xfrm>
          <a:prstGeom prst="rect">
            <a:avLst/>
          </a:prstGeom>
          <a:noFill/>
          <a:ln/>
        </p:spPr>
        <p:txBody>
          <a:bodyPr wrap="square" lIns="0" tIns="0" rIns="0" bIns="0" rtlCol="0" anchor="ctr"/>
          <a:lstStyle/>
          <a:p>
            <a:pPr indent="0" marL="0">
              <a:lnSpc>
                <a:spcPct val="112000"/>
              </a:lnSpc>
              <a:buNone/>
            </a:pPr>
            <a:r>
              <a:rPr lang="en-US" sz="1200" dirty="0">
                <a:solidFill>
                  <a:srgbClr val="2C1A0E"/>
                </a:solidFill>
                <a:latin typeface="Calibri" pitchFamily="34" charset="0"/>
                <a:ea typeface="Calibri" pitchFamily="34" charset="-122"/>
                <a:cs typeface="Calibri" pitchFamily="34" charset="-120"/>
              </a:rPr>
              <a:t>Le plancher de la hiérarchie — consultation des documents publics de son UO, ou privés s'il est membre du groupe d'accès.</a:t>
            </a:r>
            <a:endParaRPr lang="en-US" sz="1200" dirty="0"/>
          </a:p>
        </p:txBody>
      </p:sp>
      <p:sp>
        <p:nvSpPr>
          <p:cNvPr id="18" name="Text 1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9" name="Text 1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16671" y="570951"/>
            <a:ext cx="430865" cy="430865"/>
          </a:xfrm>
          <a:prstGeom prst="rect">
            <a:avLst/>
          </a:prstGeom>
        </p:spPr>
      </p:pic>
      <p:sp>
        <p:nvSpPr>
          <p:cNvPr id="4" name="Text 1"/>
          <p:cNvSpPr txBox="1"/>
          <p:nvPr/>
        </p:nvSpPr>
        <p:spPr>
          <a:xfrm>
            <a:off x="1234440" y="475488"/>
            <a:ext cx="9144000" cy="640080"/>
          </a:xfrm>
          <a:prstGeom prst="rect">
            <a:avLst/>
          </a:prstGeom>
          <a:noFill/>
          <a:ln/>
        </p:spPr>
        <p:txBody>
          <a:bodyPr wrap="square" lIns="0" tIns="0" rIns="0" bIns="0" rtlCol="0" anchor="ctr"/>
          <a:lstStyle/>
          <a:p>
            <a:pPr indent="0" marL="0">
              <a:buNone/>
            </a:pPr>
            <a:r>
              <a:rPr lang="en-US" sz="3000" b="1" dirty="0">
                <a:solidFill>
                  <a:srgbClr val="2C1A0E"/>
                </a:solidFill>
                <a:latin typeface="Cambria" pitchFamily="34" charset="0"/>
                <a:ea typeface="Cambria" pitchFamily="34" charset="-122"/>
                <a:cs typeface="Cambria" pitchFamily="34" charset="-120"/>
              </a:rPr>
              <a:t>Cycle de vie d'un document</a:t>
            </a:r>
            <a:endParaRPr lang="en-US" sz="3000" dirty="0"/>
          </a:p>
        </p:txBody>
      </p:sp>
      <p:sp>
        <p:nvSpPr>
          <p:cNvPr id="5" name="Text 2"/>
          <p:cNvSpPr txBox="1"/>
          <p:nvPr/>
        </p:nvSpPr>
        <p:spPr>
          <a:xfrm>
            <a:off x="1280160" y="1170432"/>
            <a:ext cx="9692640" cy="411480"/>
          </a:xfrm>
          <a:prstGeom prst="rect">
            <a:avLst/>
          </a:prstGeom>
          <a:noFill/>
          <a:ln/>
        </p:spPr>
        <p:txBody>
          <a:bodyPr wrap="square" lIns="0" tIns="0" rIns="0" bIns="0" rtlCol="0" anchor="ctr"/>
          <a:lstStyle/>
          <a:p>
            <a:pPr indent="0" marL="0">
              <a:buNone/>
            </a:pPr>
            <a:r>
              <a:rPr lang="en-US" sz="1350" dirty="0">
                <a:solidFill>
                  <a:srgbClr val="7C6552"/>
                </a:solidFill>
                <a:latin typeface="Calibri" pitchFamily="34" charset="0"/>
                <a:ea typeface="Calibri" pitchFamily="34" charset="-122"/>
                <a:cs typeface="Calibri" pitchFamily="34" charset="-120"/>
              </a:rPr>
              <a:t>Six statuts possibles : PENDING → ACTIVE / ACTIVE_WARNING → CORRUPTED → CORBEILLE → DELETED.</a:t>
            </a:r>
            <a:endParaRPr lang="en-US" sz="1350" dirty="0"/>
          </a:p>
        </p:txBody>
      </p:sp>
      <p:sp>
        <p:nvSpPr>
          <p:cNvPr id="6" name="Shape 3"/>
          <p:cNvSpPr/>
          <p:nvPr/>
        </p:nvSpPr>
        <p:spPr>
          <a:xfrm>
            <a:off x="548640" y="2788920"/>
            <a:ext cx="1755648" cy="1554480"/>
          </a:xfrm>
          <a:prstGeom prst="roundRect">
            <a:avLst>
              <a:gd name="adj" fmla="val 4706"/>
            </a:avLst>
          </a:prstGeom>
          <a:solidFill>
            <a:srgbClr val="F3E9DA"/>
          </a:solidFill>
          <a:ln/>
        </p:spPr>
      </p:sp>
      <p:sp>
        <p:nvSpPr>
          <p:cNvPr id="7" name="Text 4"/>
          <p:cNvSpPr txBox="1"/>
          <p:nvPr/>
        </p:nvSpPr>
        <p:spPr>
          <a:xfrm>
            <a:off x="685800"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1</a:t>
            </a:r>
            <a:endParaRPr lang="en-US" sz="2000" dirty="0"/>
          </a:p>
        </p:txBody>
      </p:sp>
      <p:sp>
        <p:nvSpPr>
          <p:cNvPr id="8" name="Text 5"/>
          <p:cNvSpPr txBox="1"/>
          <p:nvPr/>
        </p:nvSpPr>
        <p:spPr>
          <a:xfrm>
            <a:off x="685800"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Upload</a:t>
            </a:r>
            <a:endParaRPr lang="en-US" sz="1250" dirty="0"/>
          </a:p>
        </p:txBody>
      </p:sp>
      <p:sp>
        <p:nvSpPr>
          <p:cNvPr id="9" name="Text 6"/>
          <p:cNvSpPr txBox="1"/>
          <p:nvPr/>
        </p:nvSpPr>
        <p:spPr>
          <a:xfrm>
            <a:off x="685800"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docx, odt, jpg, pdf…</a:t>
            </a:r>
            <a:endParaRPr lang="en-US" sz="950" dirty="0"/>
          </a:p>
        </p:txBody>
      </p:sp>
      <p:sp>
        <p:nvSpPr>
          <p:cNvPr id="10" name="Text 7"/>
          <p:cNvSpPr txBox="1"/>
          <p:nvPr/>
        </p:nvSpPr>
        <p:spPr>
          <a:xfrm>
            <a:off x="2286000"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1" name="Shape 8"/>
          <p:cNvSpPr/>
          <p:nvPr/>
        </p:nvSpPr>
        <p:spPr>
          <a:xfrm>
            <a:off x="2427732" y="2788920"/>
            <a:ext cx="1755648" cy="1554480"/>
          </a:xfrm>
          <a:prstGeom prst="roundRect">
            <a:avLst>
              <a:gd name="adj" fmla="val 4706"/>
            </a:avLst>
          </a:prstGeom>
          <a:solidFill>
            <a:srgbClr val="F3E9DA"/>
          </a:solidFill>
          <a:ln/>
        </p:spPr>
      </p:sp>
      <p:sp>
        <p:nvSpPr>
          <p:cNvPr id="12" name="Text 9"/>
          <p:cNvSpPr txBox="1"/>
          <p:nvPr/>
        </p:nvSpPr>
        <p:spPr>
          <a:xfrm>
            <a:off x="2564892"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2564892"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OCR + suggestions</a:t>
            </a:r>
            <a:endParaRPr lang="en-US" sz="1250" dirty="0"/>
          </a:p>
        </p:txBody>
      </p:sp>
      <p:sp>
        <p:nvSpPr>
          <p:cNvPr id="14" name="Text 11"/>
          <p:cNvSpPr txBox="1"/>
          <p:nvPr/>
        </p:nvSpPr>
        <p:spPr>
          <a:xfrm>
            <a:off x="2564892"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métadonnées pré-remplies</a:t>
            </a:r>
            <a:endParaRPr lang="en-US" sz="950" dirty="0"/>
          </a:p>
        </p:txBody>
      </p:sp>
      <p:sp>
        <p:nvSpPr>
          <p:cNvPr id="15" name="Text 12"/>
          <p:cNvSpPr txBox="1"/>
          <p:nvPr/>
        </p:nvSpPr>
        <p:spPr>
          <a:xfrm>
            <a:off x="4165092"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16" name="Shape 13"/>
          <p:cNvSpPr/>
          <p:nvPr/>
        </p:nvSpPr>
        <p:spPr>
          <a:xfrm>
            <a:off x="4306824" y="2788920"/>
            <a:ext cx="1755648" cy="1554480"/>
          </a:xfrm>
          <a:prstGeom prst="roundRect">
            <a:avLst>
              <a:gd name="adj" fmla="val 4706"/>
            </a:avLst>
          </a:prstGeom>
          <a:solidFill>
            <a:srgbClr val="F3E9DA"/>
          </a:solidFill>
          <a:ln/>
        </p:spPr>
      </p:sp>
      <p:sp>
        <p:nvSpPr>
          <p:cNvPr id="17" name="Text 14"/>
          <p:cNvSpPr txBox="1"/>
          <p:nvPr/>
        </p:nvSpPr>
        <p:spPr>
          <a:xfrm>
            <a:off x="4443984"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3</a:t>
            </a:r>
            <a:endParaRPr lang="en-US" sz="2000" dirty="0"/>
          </a:p>
        </p:txBody>
      </p:sp>
      <p:sp>
        <p:nvSpPr>
          <p:cNvPr id="18" name="Text 15"/>
          <p:cNvSpPr txBox="1"/>
          <p:nvPr/>
        </p:nvSpPr>
        <p:spPr>
          <a:xfrm>
            <a:off x="4443984"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Conversion PDF/A-3b</a:t>
            </a:r>
            <a:endParaRPr lang="en-US" sz="1250" dirty="0"/>
          </a:p>
        </p:txBody>
      </p:sp>
      <p:sp>
        <p:nvSpPr>
          <p:cNvPr id="19" name="Text 16"/>
          <p:cNvSpPr txBox="1"/>
          <p:nvPr/>
        </p:nvSpPr>
        <p:spPr>
          <a:xfrm>
            <a:off x="4443984"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LibreOffice + PDFBox</a:t>
            </a:r>
            <a:endParaRPr lang="en-US" sz="950" dirty="0"/>
          </a:p>
        </p:txBody>
      </p:sp>
      <p:sp>
        <p:nvSpPr>
          <p:cNvPr id="20" name="Text 17"/>
          <p:cNvSpPr txBox="1"/>
          <p:nvPr/>
        </p:nvSpPr>
        <p:spPr>
          <a:xfrm>
            <a:off x="6044184"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1" name="Shape 18"/>
          <p:cNvSpPr/>
          <p:nvPr/>
        </p:nvSpPr>
        <p:spPr>
          <a:xfrm>
            <a:off x="6185916" y="2788920"/>
            <a:ext cx="1755648" cy="1554480"/>
          </a:xfrm>
          <a:prstGeom prst="roundRect">
            <a:avLst>
              <a:gd name="adj" fmla="val 4706"/>
            </a:avLst>
          </a:prstGeom>
          <a:solidFill>
            <a:srgbClr val="F3E9DA"/>
          </a:solidFill>
          <a:ln/>
        </p:spPr>
      </p:sp>
      <p:sp>
        <p:nvSpPr>
          <p:cNvPr id="22" name="Text 19"/>
          <p:cNvSpPr txBox="1"/>
          <p:nvPr/>
        </p:nvSpPr>
        <p:spPr>
          <a:xfrm>
            <a:off x="6323076"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4</a:t>
            </a:r>
            <a:endParaRPr lang="en-US" sz="2000" dirty="0"/>
          </a:p>
        </p:txBody>
      </p:sp>
      <p:sp>
        <p:nvSpPr>
          <p:cNvPr id="23" name="Text 20"/>
          <p:cNvSpPr txBox="1"/>
          <p:nvPr/>
        </p:nvSpPr>
        <p:spPr>
          <a:xfrm>
            <a:off x="6323076"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Signature PKI</a:t>
            </a:r>
            <a:endParaRPr lang="en-US" sz="1250" dirty="0"/>
          </a:p>
        </p:txBody>
      </p:sp>
      <p:sp>
        <p:nvSpPr>
          <p:cNvPr id="24" name="Text 21"/>
          <p:cNvSpPr txBox="1"/>
          <p:nvPr/>
        </p:nvSpPr>
        <p:spPr>
          <a:xfrm>
            <a:off x="6323076"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clé HSM de l'éditeur</a:t>
            </a:r>
            <a:endParaRPr lang="en-US" sz="950" dirty="0"/>
          </a:p>
        </p:txBody>
      </p:sp>
      <p:sp>
        <p:nvSpPr>
          <p:cNvPr id="25" name="Text 22"/>
          <p:cNvSpPr txBox="1"/>
          <p:nvPr/>
        </p:nvSpPr>
        <p:spPr>
          <a:xfrm>
            <a:off x="7923276"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26" name="Shape 23"/>
          <p:cNvSpPr/>
          <p:nvPr/>
        </p:nvSpPr>
        <p:spPr>
          <a:xfrm>
            <a:off x="8065008" y="2788920"/>
            <a:ext cx="1755648" cy="1554480"/>
          </a:xfrm>
          <a:prstGeom prst="roundRect">
            <a:avLst>
              <a:gd name="adj" fmla="val 4706"/>
            </a:avLst>
          </a:prstGeom>
          <a:solidFill>
            <a:srgbClr val="F3E9DA"/>
          </a:solidFill>
          <a:ln/>
        </p:spPr>
      </p:sp>
      <p:sp>
        <p:nvSpPr>
          <p:cNvPr id="27" name="Text 24"/>
          <p:cNvSpPr txBox="1"/>
          <p:nvPr/>
        </p:nvSpPr>
        <p:spPr>
          <a:xfrm>
            <a:off x="8202168" y="2898648"/>
            <a:ext cx="548640" cy="365760"/>
          </a:xfrm>
          <a:prstGeom prst="rect">
            <a:avLst/>
          </a:prstGeom>
          <a:noFill/>
          <a:ln/>
        </p:spPr>
        <p:txBody>
          <a:bodyPr wrap="square" lIns="0" tIns="0" rIns="0" bIns="0" rtlCol="0" anchor="ctr"/>
          <a:lstStyle/>
          <a:p>
            <a:pPr indent="0" marL="0">
              <a:buNone/>
            </a:pPr>
            <a:r>
              <a:rPr lang="en-US" sz="2000" b="1" dirty="0">
                <a:solidFill>
                  <a:srgbClr val="B5813F"/>
                </a:solidFill>
                <a:latin typeface="Cambria" pitchFamily="34" charset="0"/>
                <a:ea typeface="Cambria" pitchFamily="34" charset="-122"/>
                <a:cs typeface="Cambria" pitchFamily="34" charset="-120"/>
              </a:rPr>
              <a:t>5</a:t>
            </a:r>
            <a:endParaRPr lang="en-US" sz="2000" dirty="0"/>
          </a:p>
        </p:txBody>
      </p:sp>
      <p:sp>
        <p:nvSpPr>
          <p:cNvPr id="28" name="Text 25"/>
          <p:cNvSpPr txBox="1"/>
          <p:nvPr/>
        </p:nvSpPr>
        <p:spPr>
          <a:xfrm>
            <a:off x="8202168"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2C1A0E"/>
                </a:solidFill>
                <a:latin typeface="Calibri" pitchFamily="34" charset="0"/>
                <a:ea typeface="Calibri" pitchFamily="34" charset="-122"/>
                <a:cs typeface="Calibri" pitchFamily="34" charset="-120"/>
              </a:rPr>
              <a:t>Chiffrement</a:t>
            </a:r>
            <a:endParaRPr lang="en-US" sz="1250" dirty="0"/>
          </a:p>
        </p:txBody>
      </p:sp>
      <p:sp>
        <p:nvSpPr>
          <p:cNvPr id="29" name="Text 26"/>
          <p:cNvSpPr txBox="1"/>
          <p:nvPr/>
        </p:nvSpPr>
        <p:spPr>
          <a:xfrm>
            <a:off x="8202168" y="3886200"/>
            <a:ext cx="1481328" cy="384048"/>
          </a:xfrm>
          <a:prstGeom prst="rect">
            <a:avLst/>
          </a:prstGeom>
          <a:noFill/>
          <a:ln/>
        </p:spPr>
        <p:txBody>
          <a:bodyPr wrap="square" lIns="0" tIns="0" rIns="0" bIns="0" rtlCol="0" anchor="ctr"/>
          <a:lstStyle/>
          <a:p>
            <a:pPr indent="0" marL="0">
              <a:buNone/>
            </a:pPr>
            <a:r>
              <a:rPr lang="en-US" sz="950" dirty="0">
                <a:solidFill>
                  <a:srgbClr val="7C6552"/>
                </a:solidFill>
                <a:latin typeface="Calibri" pitchFamily="34" charset="0"/>
                <a:ea typeface="Calibri" pitchFamily="34" charset="-122"/>
                <a:cs typeface="Calibri" pitchFamily="34" charset="-120"/>
              </a:rPr>
              <a:t>AES-256-GCM</a:t>
            </a:r>
            <a:endParaRPr lang="en-US" sz="950" dirty="0"/>
          </a:p>
        </p:txBody>
      </p:sp>
      <p:sp>
        <p:nvSpPr>
          <p:cNvPr id="30" name="Text 27"/>
          <p:cNvSpPr txBox="1"/>
          <p:nvPr/>
        </p:nvSpPr>
        <p:spPr>
          <a:xfrm>
            <a:off x="9802368" y="3364992"/>
            <a:ext cx="397764" cy="365760"/>
          </a:xfrm>
          <a:prstGeom prst="rect">
            <a:avLst/>
          </a:prstGeom>
          <a:noFill/>
          <a:ln/>
        </p:spPr>
        <p:txBody>
          <a:bodyPr wrap="square" lIns="0" tIns="0" rIns="0" bIns="0" rtlCol="0" anchor="ctr"/>
          <a:lstStyle/>
          <a:p>
            <a:pPr algn="ctr" indent="0" marL="0">
              <a:buNone/>
            </a:pPr>
            <a:r>
              <a:rPr lang="en-US" sz="1600" dirty="0">
                <a:solidFill>
                  <a:srgbClr val="7C6552"/>
                </a:solidFill>
                <a:latin typeface="Calibri" pitchFamily="34" charset="0"/>
                <a:ea typeface="Calibri" pitchFamily="34" charset="-122"/>
                <a:cs typeface="Calibri" pitchFamily="34" charset="-120"/>
              </a:rPr>
              <a:t>→</a:t>
            </a:r>
            <a:endParaRPr lang="en-US" sz="1600" dirty="0"/>
          </a:p>
        </p:txBody>
      </p:sp>
      <p:sp>
        <p:nvSpPr>
          <p:cNvPr id="31" name="Shape 28"/>
          <p:cNvSpPr/>
          <p:nvPr/>
        </p:nvSpPr>
        <p:spPr>
          <a:xfrm>
            <a:off x="9944100" y="2788920"/>
            <a:ext cx="1755648" cy="1554480"/>
          </a:xfrm>
          <a:prstGeom prst="roundRect">
            <a:avLst>
              <a:gd name="adj" fmla="val 4706"/>
            </a:avLst>
          </a:prstGeom>
          <a:solidFill>
            <a:srgbClr val="B5813F"/>
          </a:solidFill>
          <a:ln/>
        </p:spPr>
      </p:sp>
      <p:sp>
        <p:nvSpPr>
          <p:cNvPr id="32" name="Text 29"/>
          <p:cNvSpPr txBox="1"/>
          <p:nvPr/>
        </p:nvSpPr>
        <p:spPr>
          <a:xfrm>
            <a:off x="10081260" y="2898648"/>
            <a:ext cx="54864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3" name="Text 30"/>
          <p:cNvSpPr txBox="1"/>
          <p:nvPr/>
        </p:nvSpPr>
        <p:spPr>
          <a:xfrm>
            <a:off x="10081260" y="3355848"/>
            <a:ext cx="1481328" cy="594360"/>
          </a:xfrm>
          <a:prstGeom prst="rect">
            <a:avLst/>
          </a:prstGeom>
          <a:noFill/>
          <a:ln/>
        </p:spPr>
        <p:txBody>
          <a:bodyPr wrap="square" lIns="0" tIns="0" rIns="0" bIns="0" rtlCol="0" anchor="ctr"/>
          <a:lstStyle/>
          <a:p>
            <a:pP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Archivage MinIO</a:t>
            </a:r>
            <a:endParaRPr lang="en-US" sz="1250" dirty="0"/>
          </a:p>
        </p:txBody>
      </p:sp>
      <p:sp>
        <p:nvSpPr>
          <p:cNvPr id="34" name="Text 31"/>
          <p:cNvSpPr txBox="1"/>
          <p:nvPr/>
        </p:nvSpPr>
        <p:spPr>
          <a:xfrm>
            <a:off x="10081260" y="3886200"/>
            <a:ext cx="1481328" cy="384048"/>
          </a:xfrm>
          <a:prstGeom prst="rect">
            <a:avLst/>
          </a:prstGeom>
          <a:noFill/>
          <a:ln/>
        </p:spPr>
        <p:txBody>
          <a:bodyPr wrap="square" lIns="0" tIns="0" rIns="0" bIns="0" rtlCol="0" anchor="ctr"/>
          <a:lstStyle/>
          <a:p>
            <a:pPr indent="0" marL="0">
              <a:buNone/>
            </a:pPr>
            <a:r>
              <a:rPr lang="en-US" sz="950" dirty="0">
                <a:solidFill>
                  <a:srgbClr val="F3E9DA"/>
                </a:solidFill>
                <a:latin typeface="Calibri" pitchFamily="34" charset="0"/>
                <a:ea typeface="Calibri" pitchFamily="34" charset="-122"/>
                <a:cs typeface="Calibri" pitchFamily="34" charset="-120"/>
              </a:rPr>
              <a:t>statut ACTIVE</a:t>
            </a:r>
            <a:endParaRPr lang="en-US" sz="950" dirty="0"/>
          </a:p>
        </p:txBody>
      </p:sp>
      <p:sp>
        <p:nvSpPr>
          <p:cNvPr id="35" name="Text 32"/>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36" name="Text 33"/>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1</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Identité &amp; organisation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AUTHENTIFICATION &amp; SESSIONS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JWT + invalidation serveur immédiate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Connexion par JWT (access + refresh token).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session peut être invalidée immédiatement côté serveur — changement de rôle, de mot de passe, transfert d'UO, ou suppression de compte.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L'utilisateur voit un message avant d'être déconnecté, jamais une coupure silencieuse.</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JWT reste valide jusqu'à expiration par nature — sans ce mécanisme, un utilisateur transféré, rétrogradé ou supprimé garderait un accès complet avec ses anciens droits pendant des heures.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UNITÉS ORGANISATIONNELLES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Hiérarchie d'UO &amp; transfert d'utilisateurs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UO s'emboîtent en arbre (une UO racine, des UO filles).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utilisateur appartient à une seule UO active à la fois.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transférer désactive son ancienne appartenance et déconnecte sa session en cours.</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institution réelle a des départements/filiales avec des périmètres de documents distincts — la visibilité publique reste bornée à l'UO du propriétaire et ses descendantes, jamais à l'organisation entière par défaut.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Suppression à deux temps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désactive immédiatement le compte (mot de passe invalidé, clé PKI révoquée si éditeur).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Délai de grâce de 2 jours avant la purge définitive — annulable entre-temps.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Exception : un compte jamais connecté est supprimé immédiatement (rien à protéger).</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suppression instantanée et irréversible expose à l'erreur humaine ou à un admin malveillant détruisant des comptes sans recours. Le délai de grâce laisse le temps d'annuler.</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UTILISATEURS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Protection du dernier administrateur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toute action de gestion</a:t>
            </a:r>
            <a:endParaRPr lang="en-US" sz="1050" dirty="0"/>
          </a:p>
        </p:txBody>
      </p:sp>
      <p:sp>
        <p:nvSpPr>
          <p:cNvPr id="7" name="Text 4"/>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Impossible de désactiver, rétrograder ou supprimer le dernier compte ADMIN — ou le dernier ADMIN_UO d'une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ADMIN_UO ne peut jamais agir sur un compte ADMIN ou ADMIN_UO.</a:t>
            </a:r>
            <a:endParaRPr lang="en-US" sz="1450" dirty="0"/>
          </a:p>
        </p:txBody>
      </p:sp>
      <p:sp>
        <p:nvSpPr>
          <p:cNvPr id="8" name="Shape 5"/>
          <p:cNvSpPr/>
          <p:nvPr/>
        </p:nvSpPr>
        <p:spPr>
          <a:xfrm>
            <a:off x="548640" y="4082796"/>
            <a:ext cx="10881360" cy="868680"/>
          </a:xfrm>
          <a:prstGeom prst="roundRect">
            <a:avLst>
              <a:gd name="adj" fmla="val 8421"/>
            </a:avLst>
          </a:prstGeom>
          <a:solidFill>
            <a:srgbClr val="F3E9DA"/>
          </a:solidFill>
          <a:ln/>
        </p:spPr>
      </p:sp>
      <p:sp>
        <p:nvSpPr>
          <p:cNvPr id="9" name="Text 6"/>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cette garde, une erreur de manipulation peut rendre l'organisation entière — ou une UO — sans administrateur, donc ingérable.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2</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Archivage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Upload en deux phases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1 (aperçu) : conversion, OCR, métadonnées suggérées — rien n'est encore écrit en base.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Phase 2 (finalisation) : l'éditeur valide/corrige, et seulement alors le document est signé, chiffré et stocké.</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Séparer aperçu et finalisation évite d'archiver un document avec des métadonnées fausses ou incomplètes — l'éditeur voit et corrige avant que l'archivage devienne définitif.</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PIPELINE D'ARCHIVAGE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Conversion universelle vers PDF/A-3b</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Word, Excel, PowerPoint, OpenDocument, images, texte — tout passe par un conteneur LibreOffice dédié (Gotenberg).</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PDF obtenu est ensuite marqué PDF/A-3b (norme d'archivage à long terme) via PDFBox.</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format bureautique dépend d'un logiciel pour rester lisible dans 20 ans. Le PDF/A est un format normalisé pensé pour l'archivage pérenne, indépendant de toute application propriétaire.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EXTRACTION ASSISTÉE PAR IA</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Génération automatique de règles d'extraction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Ollama / Qwen</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Au premier document d'un type, un LLM local (Qwen via Ollama) génère des règles regex à partir du texte OCR.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Combinées à une extraction positionnelle (le libellé du champ retrouvé directement sur le document).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Les documents suivants du même type profitent des règles apprises, sans nouvel appel au modèle.</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ça, chaque champ de chaque document serait ressaisi manuellement — le modèle apprend une fois par type, le gain se répète ensuite gratuitement.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Archivage d'un même type par lot</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Jusqu'à 10 000 fichiers en une seule sélection (dossier entier), tous du même type.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fichier est traité indépendamment — une erreur n'interrompt pas le lot.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Aperçu avant archivage : retirer un fichier du lot sans le supprimer du disque.</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archivage rétroactif porte souvent sur des milliers de documents déjà numérisés — les traiter un par un serait impraticable.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IMPORT EN LOT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Import depuis un lien web</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Télécharge les fichiers depuis une page web (liens directs, ou navigation assistée par un navigateur headless).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Applique ensuite exactement le même traitement OCR que l'import local.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DÉTECTION DE DOUBLONS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Hash SHA-256 du fichier original, scopé par UO</a:t>
            </a:r>
            <a:endParaRPr lang="en-US" sz="2400" dirty="0"/>
          </a:p>
        </p:txBody>
      </p:sp>
      <p:sp>
        <p:nvSpPr>
          <p:cNvPr id="6" name="Text 3"/>
          <p:cNvSpPr txBox="1"/>
          <p:nvPr/>
        </p:nvSpPr>
        <p:spPr>
          <a:xfrm>
            <a:off x="548640" y="1938528"/>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SHA-256 calculé sur les octets bruts de l'original, avant toute conversion.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Contrainte unique en base (original_sha256 + uo_id) — une même UO ne peut archiver deux fois le même fichier.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Deux UO différentes peuvent archiver le même fichier sans conflit.</a:t>
            </a:r>
            <a:endParaRPr lang="en-US" sz="1450" dirty="0"/>
          </a:p>
        </p:txBody>
      </p:sp>
      <p:sp>
        <p:nvSpPr>
          <p:cNvPr id="7" name="Shape 4"/>
          <p:cNvSpPr/>
          <p:nvPr/>
        </p:nvSpPr>
        <p:spPr>
          <a:xfrm>
            <a:off x="548640" y="3611880"/>
            <a:ext cx="10881360" cy="868680"/>
          </a:xfrm>
          <a:prstGeom prst="roundRect">
            <a:avLst>
              <a:gd name="adj" fmla="val 8421"/>
            </a:avLst>
          </a:prstGeom>
          <a:solidFill>
            <a:srgbClr val="F3E9DA"/>
          </a:solidFill>
          <a:ln/>
        </p:spPr>
      </p:sp>
      <p:sp>
        <p:nvSpPr>
          <p:cNvPr id="8" name="Text 5"/>
          <p:cNvSpPr txBox="1"/>
          <p:nvPr/>
        </p:nvSpPr>
        <p:spPr>
          <a:xfrm>
            <a:off x="868680" y="374904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995928"/>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Le fichier original n'est jamais conservé en stockage (seul le PDF/A l'est) — son hash est la seule trace permettant de reconnaître qu'il a déjà été vu.</a:t>
            </a:r>
            <a:endParaRPr lang="en-US" sz="1250" dirty="0"/>
          </a:p>
        </p:txBody>
      </p:sp>
      <p:sp>
        <p:nvSpPr>
          <p:cNvPr id="10" name="Shape 7"/>
          <p:cNvSpPr/>
          <p:nvPr/>
        </p:nvSpPr>
        <p:spPr>
          <a:xfrm>
            <a:off x="548640" y="4736592"/>
            <a:ext cx="10881360" cy="1234440"/>
          </a:xfrm>
          <a:prstGeom prst="roundRect">
            <a:avLst>
              <a:gd name="adj" fmla="val 5926"/>
            </a:avLst>
          </a:prstGeom>
          <a:solidFill>
            <a:srgbClr val="FBE6D6"/>
          </a:solidFill>
          <a:ln/>
        </p:spPr>
      </p:sp>
      <p:sp>
        <p:nvSpPr>
          <p:cNvPr id="11" name="Text 8"/>
          <p:cNvSpPr txBox="1"/>
          <p:nvPr/>
        </p:nvSpPr>
        <p:spPr>
          <a:xfrm>
            <a:off x="868680" y="487375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20640"/>
            <a:ext cx="10241280" cy="77724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hash exact ne détecte que des octets identiques. Le même contenu réuploadé après conversion de format externe (ex. le .docx déjà archivé, réexporté en .pdf, puis réuploadé) produit un hash différent et n'est pas détecté — vérifié en conditions réelles. Corriger ça demanderait une comparaison de contenu, pas un hash ; mis de côté pour l'instant.</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3</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Preuve &amp; vérification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Second hash SHA-256, sur le PDF/A archivé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Calculé sur le PDF/A final, en clair, avant chiffrement.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C'est celui qui compte une fois l'original jeté — recalculé pour vérifier qu'aucun bit n'a changé.</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Signature PKI (HSM)</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 actif</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Le hash du PDF/A est signé avec la clé privée personnelle de l'éditeur qui archive.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Clé conservée dans un HSM (module de sécurité matériel, simulé ici par un fichier keystore) — elle n'en sort jamais, seule la signature en ressort.</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La signature identifie nommément QUI a archivé le document et engage sa responsabilité — sans clé personnelle, impossible de prouver que "quelqu'un dans l'organisation" a signé, jamais qui précisément.</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PREUVE D'INTÉGRITÉ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Horodatage &amp; ancrage blockchain (optionnel)</a:t>
            </a:r>
            <a:endParaRPr lang="en-US" sz="2400" dirty="0"/>
          </a:p>
        </p:txBody>
      </p:sp>
      <p:sp>
        <p:nvSpPr>
          <p:cNvPr id="6" name="Text 3"/>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horodatage authentifie la date de la signature.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Niveau d'intégrité BLOCKCHAIN (au choix, pas systématique) : le hash est en plus enregistré sur la blockchain Polygon.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Preuve d'existence à une date donnée, publique et infalsifiable, indépendante de MadeArchive.</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VÉRIFICATION PUBLIQUE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Attestation d'archivage avec QR code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public, sans authentification</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PDF généré à la demande, avec l'empreinte SHA-256 du document et ses métadonnées à l'archivage.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QR code vers un lien de vérification public, accessible par jeton — jamais par l'UUID réel du document.</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tiers (auditeur, partenaire, autorité) doit pouvoir vérifier l'authenticité d'un document sans compte MadeArchive, sans que le lien expose l'identifiant interne.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CONTRÔLE DE FIXITÉ</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Vérification périodique automatique</a:t>
            </a:r>
            <a:endParaRPr lang="en-US" sz="2400" dirty="0"/>
          </a:p>
        </p:txBody>
      </p:sp>
      <p:sp>
        <p:nvSpPr>
          <p:cNvPr id="6" name="Text 3"/>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Une tâche planifiée retélécharge chaque PDF/A, le déchiffre, recalcule son SHA-256.</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Comparé à la valeur enregistrée à l'archivage — un écart marque le document CORRUPTED.</a:t>
            </a:r>
            <a:endParaRPr lang="en-US" sz="1450" dirty="0"/>
          </a:p>
        </p:txBody>
      </p:sp>
      <p:sp>
        <p:nvSpPr>
          <p:cNvPr id="7" name="Shape 4"/>
          <p:cNvSpPr/>
          <p:nvPr/>
        </p:nvSpPr>
        <p:spPr>
          <a:xfrm>
            <a:off x="548640" y="3945636"/>
            <a:ext cx="10881360" cy="1143000"/>
          </a:xfrm>
          <a:prstGeom prst="roundRect">
            <a:avLst>
              <a:gd name="adj" fmla="val 6400"/>
            </a:avLst>
          </a:prstGeom>
          <a:solidFill>
            <a:srgbClr val="F3E9DA"/>
          </a:solidFill>
          <a:ln/>
        </p:spPr>
      </p:sp>
      <p:sp>
        <p:nvSpPr>
          <p:cNvPr id="8" name="Text 5"/>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Sans contrôle actif, une corruption de stockage (disque, bit-rot, incident MinIO) ne serait découverte que le jour où quelqu'un tente d'ouvrir le document — potentiellement des années plus tard.</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4</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Consultation</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MINIATURES PDF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Génération et mise en cache côté serveur</a:t>
            </a:r>
            <a:endParaRPr lang="en-US" sz="2400" dirty="0"/>
          </a:p>
        </p:txBody>
      </p:sp>
      <p:sp>
        <p:nvSpPr>
          <p:cNvPr id="6" name="Text 3"/>
          <p:cNvSpPr txBox="1"/>
          <p:nvPr/>
        </p:nvSpPr>
        <p:spPr>
          <a:xfrm>
            <a:off x="548640" y="2235708"/>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première page est rasterisée une seule fois par PDFBox côté serveur.</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Mise en cache chiffrée, puis simplement relue à chaque affichage suivant.</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L'ancienne approche (PDF entier + pdf.js côté client) coûtait un téléchargement + déchiffrement + rendu complet à CHAQUE affichage, par CHAQUE utilisateur — ingérable dès que le catalogue grandit.</a:t>
            </a:r>
            <a:endParaRPr lang="en-US" sz="1250" dirty="0"/>
          </a:p>
        </p:txBody>
      </p:sp>
      <p:sp>
        <p:nvSpPr>
          <p:cNvPr id="10" name="Shape 7"/>
          <p:cNvSpPr/>
          <p:nvPr/>
        </p:nvSpPr>
        <p:spPr>
          <a:xfrm>
            <a:off x="548640" y="4759452"/>
            <a:ext cx="10881360" cy="914400"/>
          </a:xfrm>
          <a:prstGeom prst="roundRect">
            <a:avLst>
              <a:gd name="adj" fmla="val 8000"/>
            </a:avLst>
          </a:prstGeom>
          <a:solidFill>
            <a:srgbClr val="FBE6D6"/>
          </a:solidFill>
          <a:ln/>
        </p:spPr>
      </p:sp>
      <p:sp>
        <p:nvSpPr>
          <p:cNvPr id="11" name="Text 8"/>
          <p:cNvSpPr txBox="1"/>
          <p:nvPr/>
        </p:nvSpPr>
        <p:spPr>
          <a:xfrm>
            <a:off x="868680" y="489661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43500"/>
            <a:ext cx="10241280" cy="4572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Génération à la demande (lazy) — le tout premier affichage d'un document jamais vu paie le coût de génération ; pas de génération proactive à l'archivage.</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RECHERCHE HYBRIDE</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Meilisearch (IDs) → PostgreSQL (données)</a:t>
            </a:r>
            <a:endParaRPr lang="en-US" sz="2400" dirty="0"/>
          </a:p>
        </p:txBody>
      </p:sp>
      <p:sp>
        <p:nvSpPr>
          <p:cNvPr id="6" name="Text 3"/>
          <p:cNvSpPr txBox="1"/>
          <p:nvPr/>
        </p:nvSpPr>
        <p:spPr>
          <a:xfrm>
            <a:off x="548640" y="2235708"/>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retourne des identifiants pertinents ; PostgreSQL charge ensuite les données complètes — jamais l'inverse.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Meilisearch ne fait jamais autorité sur le contenu ou les droits d'accès.</a:t>
            </a:r>
            <a:endParaRPr lang="en-US" sz="1450" dirty="0"/>
          </a:p>
        </p:txBody>
      </p:sp>
      <p:sp>
        <p:nvSpPr>
          <p:cNvPr id="7" name="Shape 4"/>
          <p:cNvSpPr/>
          <p:nvPr/>
        </p:nvSpPr>
        <p:spPr>
          <a:xfrm>
            <a:off x="548640" y="3360420"/>
            <a:ext cx="10881360" cy="1143000"/>
          </a:xfrm>
          <a:prstGeom prst="roundRect">
            <a:avLst>
              <a:gd name="adj" fmla="val 6400"/>
            </a:avLst>
          </a:prstGeom>
          <a:solidFill>
            <a:srgbClr val="F3E9DA"/>
          </a:solidFill>
          <a:ln/>
        </p:spPr>
      </p:sp>
      <p:sp>
        <p:nvSpPr>
          <p:cNvPr id="8" name="Text 5"/>
          <p:cNvSpPr txBox="1"/>
          <p:nvPr/>
        </p:nvSpPr>
        <p:spPr>
          <a:xfrm>
            <a:off x="868680" y="3497580"/>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3744468"/>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PostgreSQL reste la seule source de vérité pour la sécurité (statut, propriétaire, confidentialité) — un moteur de recherche externe ne doit jamais décider seul qui voit quoi.</a:t>
            </a:r>
            <a:endParaRPr lang="en-US" sz="1250" dirty="0"/>
          </a:p>
        </p:txBody>
      </p:sp>
      <p:sp>
        <p:nvSpPr>
          <p:cNvPr id="10" name="Shape 7"/>
          <p:cNvSpPr/>
          <p:nvPr/>
        </p:nvSpPr>
        <p:spPr>
          <a:xfrm>
            <a:off x="548640" y="4759452"/>
            <a:ext cx="10881360" cy="914400"/>
          </a:xfrm>
          <a:prstGeom prst="roundRect">
            <a:avLst>
              <a:gd name="adj" fmla="val 8000"/>
            </a:avLst>
          </a:prstGeom>
          <a:solidFill>
            <a:srgbClr val="FBE6D6"/>
          </a:solidFill>
          <a:ln/>
        </p:spPr>
      </p:sp>
      <p:sp>
        <p:nvSpPr>
          <p:cNvPr id="11" name="Text 8"/>
          <p:cNvSpPr txBox="1"/>
          <p:nvPr/>
        </p:nvSpPr>
        <p:spPr>
          <a:xfrm>
            <a:off x="868680" y="4896612"/>
            <a:ext cx="2743200" cy="274320"/>
          </a:xfrm>
          <a:prstGeom prst="rect">
            <a:avLst/>
          </a:prstGeom>
          <a:noFill/>
          <a:ln/>
        </p:spPr>
        <p:txBody>
          <a:bodyPr wrap="square" lIns="0" tIns="0" rIns="0" bIns="0" rtlCol="0" anchor="ctr"/>
          <a:lstStyle/>
          <a:p>
            <a:pPr indent="0" marL="0">
              <a:buNone/>
            </a:pPr>
            <a:r>
              <a:rPr lang="en-US" sz="1000" b="1" spc="100" kern="0" dirty="0">
                <a:solidFill>
                  <a:srgbClr val="A34E12"/>
                </a:solidFill>
                <a:latin typeface="Calibri" pitchFamily="34" charset="0"/>
                <a:ea typeface="Calibri" pitchFamily="34" charset="-122"/>
                <a:cs typeface="Calibri" pitchFamily="34" charset="-120"/>
              </a:rPr>
              <a:t>LIMITE CONNUE</a:t>
            </a:r>
            <a:endParaRPr lang="en-US" sz="1000" dirty="0"/>
          </a:p>
        </p:txBody>
      </p:sp>
      <p:sp>
        <p:nvSpPr>
          <p:cNvPr id="12" name="Text 9"/>
          <p:cNvSpPr txBox="1"/>
          <p:nvPr/>
        </p:nvSpPr>
        <p:spPr>
          <a:xfrm>
            <a:off x="868680" y="5143500"/>
            <a:ext cx="10241280" cy="4572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Sur la branche recherche textuelle, la pagination retourne toujours totalPages = 1 — imprécis dès qu'une recherche dépasse une page de résultats.</a:t>
            </a:r>
            <a:endParaRPr lang="en-US" sz="1250" dirty="0"/>
          </a:p>
        </p:txBody>
      </p:sp>
      <p:sp>
        <p:nvSpPr>
          <p:cNvPr id="13" name="Text 10"/>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4" name="Text 11"/>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DOCUMENTS ACCESSIBLES &amp; MES DOCUMENTS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Listes paginées, filtrables par date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246120"/>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"Mes documents" (ce que j'ai uploadé, par type) et "Documents accessibles" (tout ce à quoi j'ai droit).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Toutes deux paginées côté SQL — jamais un chargement complet envoyé au client.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Filtres par titre, type, accès, statut et plage de dates.</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5</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Organisation du contenu</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PROJETS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Regroupement de documents par affaire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EDITOR (écriture)</a:t>
            </a:r>
            <a:endParaRPr lang="en-US" sz="1050" dirty="0"/>
          </a:p>
        </p:txBody>
      </p:sp>
      <p:sp>
        <p:nvSpPr>
          <p:cNvPr id="7" name="Text 4"/>
          <p:cNvSpPr txBox="1"/>
          <p:nvPr/>
        </p:nvSpPr>
        <p:spPr>
          <a:xfrm>
            <a:off x="548640" y="254660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projet définit les types de documents attendus.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Peut être privé — visible à ses seuls membres, sans exception même pour un admin.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Entièrement piloté par son créateur.</a:t>
            </a:r>
            <a:endParaRPr lang="en-US" sz="1450" dirty="0"/>
          </a:p>
        </p:txBody>
      </p:sp>
      <p:sp>
        <p:nvSpPr>
          <p:cNvPr id="8" name="Shape 5"/>
          <p:cNvSpPr/>
          <p:nvPr/>
        </p:nvSpPr>
        <p:spPr>
          <a:xfrm>
            <a:off x="548640" y="4219956"/>
            <a:ext cx="10881360" cy="1143000"/>
          </a:xfrm>
          <a:prstGeom prst="roundRect">
            <a:avLst>
              <a:gd name="adj" fmla="val 6400"/>
            </a:avLst>
          </a:prstGeom>
          <a:solidFill>
            <a:srgbClr val="F3E9DA"/>
          </a:solidFill>
          <a:ln/>
        </p:spPr>
      </p:sp>
      <p:sp>
        <p:nvSpPr>
          <p:cNvPr id="9" name="Text 6"/>
          <p:cNvSpPr txBox="1"/>
          <p:nvPr/>
        </p:nvSpPr>
        <p:spPr>
          <a:xfrm>
            <a:off x="868680" y="435711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60400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 dossier papier réel (une affaire, un marché) regroupe plusieurs types de documents liés — le classement par type seul ne suffit pas à représenter cette relation.</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EMPLACEMENTS PHYSIQUES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Localisation de l'original papier</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 (gestion)</a:t>
            </a:r>
            <a:endParaRPr lang="en-US" sz="1050" dirty="0"/>
          </a:p>
        </p:txBody>
      </p:sp>
      <p:sp>
        <p:nvSpPr>
          <p:cNvPr id="7" name="Text 4"/>
          <p:cNvSpPr txBox="1"/>
          <p:nvPr/>
        </p:nvSpPr>
        <p:spPr>
          <a:xfrm>
            <a:off x="548640" y="282092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arbre de localisation (bâtiment → salle → rayon → carton…).</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numérisé peut y être rattaché pour retrouver l'original papier.</a:t>
            </a:r>
            <a:endParaRPr lang="en-US" sz="1450" dirty="0"/>
          </a:p>
        </p:txBody>
      </p:sp>
      <p:sp>
        <p:nvSpPr>
          <p:cNvPr id="8" name="Shape 5"/>
          <p:cNvSpPr/>
          <p:nvPr/>
        </p:nvSpPr>
        <p:spPr>
          <a:xfrm>
            <a:off x="548640" y="3945636"/>
            <a:ext cx="10881360" cy="1143000"/>
          </a:xfrm>
          <a:prstGeom prst="roundRect">
            <a:avLst>
              <a:gd name="adj" fmla="val 6400"/>
            </a:avLst>
          </a:prstGeom>
          <a:solidFill>
            <a:srgbClr val="F3E9DA"/>
          </a:solidFill>
          <a:ln/>
        </p:spPr>
      </p:sp>
      <p:sp>
        <p:nvSpPr>
          <p:cNvPr id="9" name="Text 6"/>
          <p:cNvSpPr txBox="1"/>
          <p:nvPr/>
        </p:nvSpPr>
        <p:spPr>
          <a:xfrm>
            <a:off x="868680" y="408279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329684"/>
            <a:ext cx="10241280" cy="68580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Numériser n'élimine pas toujours l'obligation légale de conserver l'original papier — sans cette traçabilité, l'original redevient introuvable dans un dépôt d'archives.</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GROUPES D'ACCÈS PRIVÉS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Liste nominative pour un document ou projet privé</a:t>
            </a:r>
            <a:endParaRPr lang="en-US" sz="2400" dirty="0"/>
          </a:p>
        </p:txBody>
      </p:sp>
      <p:sp>
        <p:nvSpPr>
          <p:cNvPr id="6" name="Text 3"/>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Un document ou projet privé n'est visible qu'à une liste explicite de membres.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Gérée par un éditeur y ayant lui-même accès — jamais par un rôle seul.</a:t>
            </a:r>
            <a:endParaRPr lang="en-US" sz="1450" dirty="0"/>
          </a:p>
        </p:txBody>
      </p:sp>
      <p:sp>
        <p:nvSpPr>
          <p:cNvPr id="7" name="Text 4"/>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5"/>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PARTIE 6</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Cycle de vie &amp; gouvernance</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CORBEILLE &amp; RÉTENTION</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Délai de grâce de 3 jours avant purge définitive</a:t>
            </a:r>
            <a:endParaRPr lang="en-US" sz="2400" dirty="0"/>
          </a:p>
        </p:txBody>
      </p:sp>
      <p:sp>
        <p:nvSpPr>
          <p:cNvPr id="6" name="Text 3"/>
          <p:cNvSpPr txBox="1"/>
          <p:nvPr/>
        </p:nvSpPr>
        <p:spPr>
          <a:xfrm>
            <a:off x="548640" y="2958084"/>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Envoyer un document à la corbeille (n'importe lequel, pas seulement un corrompu) le rend restaurable pendant 3 jours.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La suppression réellement définitive est exécutée par une tâche planifiée.</a:t>
            </a:r>
            <a:endParaRPr lang="en-US" sz="1450" dirty="0"/>
          </a:p>
        </p:txBody>
      </p:sp>
      <p:sp>
        <p:nvSpPr>
          <p:cNvPr id="7" name="Shape 4"/>
          <p:cNvSpPr/>
          <p:nvPr/>
        </p:nvSpPr>
        <p:spPr>
          <a:xfrm>
            <a:off x="548640" y="4082796"/>
            <a:ext cx="10881360" cy="868680"/>
          </a:xfrm>
          <a:prstGeom prst="roundRect">
            <a:avLst>
              <a:gd name="adj" fmla="val 8421"/>
            </a:avLst>
          </a:prstGeom>
          <a:solidFill>
            <a:srgbClr val="F3E9DA"/>
          </a:solidFill>
          <a:ln/>
        </p:spPr>
      </p:sp>
      <p:sp>
        <p:nvSpPr>
          <p:cNvPr id="8" name="Text 5"/>
          <p:cNvSpPr txBox="1"/>
          <p:nvPr/>
        </p:nvSpPr>
        <p:spPr>
          <a:xfrm>
            <a:off x="868680" y="421995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9" name="Text 6"/>
          <p:cNvSpPr txBox="1"/>
          <p:nvPr/>
        </p:nvSpPr>
        <p:spPr>
          <a:xfrm>
            <a:off x="868680" y="446684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Même logique que pour les utilisateurs — une suppression instantanée et sans recours expose à l'erreur humaine sur un document potentiellement irremplaçable.</a:t>
            </a:r>
            <a:endParaRPr lang="en-US" sz="1250" dirty="0"/>
          </a:p>
        </p:txBody>
      </p:sp>
      <p:sp>
        <p:nvSpPr>
          <p:cNvPr id="10" name="Text 7"/>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1" name="Text 8"/>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EXPORT ADMINISTRATIF</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Export en masse pour migration</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a:t>
            </a:r>
            <a:endParaRPr lang="en-US" sz="1050" dirty="0"/>
          </a:p>
        </p:txBody>
      </p:sp>
      <p:sp>
        <p:nvSpPr>
          <p:cNvPr id="7" name="Text 4"/>
          <p:cNvSpPr txBox="1"/>
          <p:nvPr/>
        </p:nvSpPr>
        <p:spPr>
          <a:xfrm>
            <a:off x="548640" y="2683764"/>
            <a:ext cx="10881360" cy="141732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Génère une archive ZIP avec les documents déchiffrés d'une ou plusieurs UO.</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Pensé pour une migration ou un changement de système, pas un usage courant.</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ZIP temporaire, purgé automatiquement après un délai de rétention.</a:t>
            </a:r>
            <a:endParaRPr lang="en-US" sz="1450" dirty="0"/>
          </a:p>
        </p:txBody>
      </p:sp>
      <p:sp>
        <p:nvSpPr>
          <p:cNvPr id="8" name="Shape 5"/>
          <p:cNvSpPr/>
          <p:nvPr/>
        </p:nvSpPr>
        <p:spPr>
          <a:xfrm>
            <a:off x="548640" y="4357116"/>
            <a:ext cx="10881360" cy="868680"/>
          </a:xfrm>
          <a:prstGeom prst="roundRect">
            <a:avLst>
              <a:gd name="adj" fmla="val 8421"/>
            </a:avLst>
          </a:prstGeom>
          <a:solidFill>
            <a:srgbClr val="F3E9DA"/>
          </a:solidFill>
          <a:ln/>
        </p:spPr>
      </p:sp>
      <p:sp>
        <p:nvSpPr>
          <p:cNvPr id="9" name="Text 6"/>
          <p:cNvSpPr txBox="1"/>
          <p:nvPr/>
        </p:nvSpPr>
        <p:spPr>
          <a:xfrm>
            <a:off x="868680" y="4494276"/>
            <a:ext cx="1828800" cy="274320"/>
          </a:xfrm>
          <a:prstGeom prst="rect">
            <a:avLst/>
          </a:prstGeom>
          <a:noFill/>
          <a:ln/>
        </p:spPr>
        <p:txBody>
          <a:bodyPr wrap="square" lIns="0" tIns="0" rIns="0" bIns="0" rtlCol="0" anchor="ctr"/>
          <a:lstStyle/>
          <a:p>
            <a:pPr indent="0" marL="0">
              <a:buNone/>
            </a:pPr>
            <a:r>
              <a:rPr lang="en-US" sz="1000" b="1" spc="100" kern="0" dirty="0">
                <a:solidFill>
                  <a:srgbClr val="B5813F"/>
                </a:solidFill>
                <a:latin typeface="Calibri" pitchFamily="34" charset="0"/>
                <a:ea typeface="Calibri" pitchFamily="34" charset="-122"/>
                <a:cs typeface="Calibri" pitchFamily="34" charset="-120"/>
              </a:rPr>
              <a:t>POURQUOI</a:t>
            </a:r>
            <a:endParaRPr lang="en-US" sz="1000" dirty="0"/>
          </a:p>
        </p:txBody>
      </p:sp>
      <p:sp>
        <p:nvSpPr>
          <p:cNvPr id="10" name="Text 7"/>
          <p:cNvSpPr txBox="1"/>
          <p:nvPr/>
        </p:nvSpPr>
        <p:spPr>
          <a:xfrm>
            <a:off x="868680" y="4741164"/>
            <a:ext cx="10241280" cy="411480"/>
          </a:xfrm>
          <a:prstGeom prst="rect">
            <a:avLst/>
          </a:prstGeom>
          <a:noFill/>
          <a:ln/>
        </p:spPr>
        <p:txBody>
          <a:bodyPr wrap="square" lIns="0" tIns="0" rIns="0" bIns="0" rtlCol="0" anchor="ctr"/>
          <a:lstStyle/>
          <a:p>
            <a:pPr indent="0" marL="0">
              <a:lnSpc>
                <a:spcPct val="110000"/>
              </a:lnSpc>
              <a:buNone/>
            </a:pPr>
            <a:r>
              <a:rPr lang="en-US" sz="1250" dirty="0">
                <a:solidFill>
                  <a:srgbClr val="2C1A0E"/>
                </a:solidFill>
                <a:latin typeface="Calibri" pitchFamily="34" charset="0"/>
                <a:ea typeface="Calibri" pitchFamily="34" charset="-122"/>
                <a:cs typeface="Calibri" pitchFamily="34" charset="-120"/>
              </a:rPr>
              <a:t>Une institution qui change d'outil d'archivage doit pouvoir récupérer l'intégralité de ses documents en clair, sans dépendre indéfiniment de MadeArchive.</a:t>
            </a:r>
            <a:endParaRPr lang="en-US" sz="1250" dirty="0"/>
          </a:p>
        </p:txBody>
      </p:sp>
      <p:sp>
        <p:nvSpPr>
          <p:cNvPr id="11" name="Text 8"/>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12" name="Text 9"/>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JOURNAL D'AUDIT</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Traçabilité de toute action sensible</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ADMIN, ADMIN_UO (scopé)</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Archivage, suppression, transfert d'UO, génération d'attestation, consultation publique…</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Chaque entrée porte son acteur, sa cible et l'UO concernée.</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0292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563270"/>
            <a:ext cx="382219" cy="382219"/>
          </a:xfrm>
          <a:prstGeom prst="rect">
            <a:avLst/>
          </a:prstGeom>
        </p:spPr>
      </p:pic>
      <p:sp>
        <p:nvSpPr>
          <p:cNvPr id="4" name="Text 1"/>
          <p:cNvSpPr txBox="1"/>
          <p:nvPr/>
        </p:nvSpPr>
        <p:spPr>
          <a:xfrm>
            <a:off x="1170432" y="457200"/>
            <a:ext cx="8229600" cy="274320"/>
          </a:xfrm>
          <a:prstGeom prst="rect">
            <a:avLst/>
          </a:prstGeom>
          <a:noFill/>
          <a:ln/>
        </p:spPr>
        <p:txBody>
          <a:bodyPr wrap="square" lIns="0" tIns="0" rIns="0" bIns="0" rtlCol="0" anchor="ctr"/>
          <a:lstStyle/>
          <a:p>
            <a:pPr indent="0" marL="0">
              <a:buNone/>
            </a:pPr>
            <a:r>
              <a:rPr lang="en-US" sz="1100" spc="150" kern="0" dirty="0">
                <a:solidFill>
                  <a:srgbClr val="B5813F"/>
                </a:solidFill>
                <a:latin typeface="Calibri" pitchFamily="34" charset="0"/>
                <a:ea typeface="Calibri" pitchFamily="34" charset="-122"/>
                <a:cs typeface="Calibri" pitchFamily="34" charset="-120"/>
              </a:rPr>
              <a:t>NOTIFICATIONS</a:t>
            </a:r>
            <a:endParaRPr lang="en-US" sz="1100" dirty="0"/>
          </a:p>
        </p:txBody>
      </p:sp>
      <p:sp>
        <p:nvSpPr>
          <p:cNvPr id="5" name="Text 2"/>
          <p:cNvSpPr txBox="1"/>
          <p:nvPr/>
        </p:nvSpPr>
        <p:spPr>
          <a:xfrm>
            <a:off x="1152144" y="713232"/>
            <a:ext cx="9692640" cy="594360"/>
          </a:xfrm>
          <a:prstGeom prst="rect">
            <a:avLst/>
          </a:prstGeom>
          <a:noFill/>
          <a:ln/>
        </p:spPr>
        <p:txBody>
          <a:bodyPr wrap="square" lIns="0" tIns="0" rIns="0" bIns="0" rtlCol="0" anchor="ctr"/>
          <a:lstStyle/>
          <a:p>
            <a:pPr indent="0" marL="0">
              <a:buNone/>
            </a:pPr>
            <a:r>
              <a:rPr lang="en-US" sz="2400" b="1" dirty="0">
                <a:solidFill>
                  <a:srgbClr val="2C1A0E"/>
                </a:solidFill>
                <a:latin typeface="Cambria" pitchFamily="34" charset="0"/>
                <a:ea typeface="Cambria" pitchFamily="34" charset="-122"/>
                <a:cs typeface="Cambria" pitchFamily="34" charset="-120"/>
              </a:rPr>
              <a:t>Alertes internes</a:t>
            </a:r>
            <a:endParaRPr lang="en-US" sz="2400" dirty="0"/>
          </a:p>
        </p:txBody>
      </p:sp>
      <p:sp>
        <p:nvSpPr>
          <p:cNvPr id="6" name="Text 3"/>
          <p:cNvSpPr txBox="1"/>
          <p:nvPr/>
        </p:nvSpPr>
        <p:spPr>
          <a:xfrm>
            <a:off x="1170432" y="1280160"/>
            <a:ext cx="7315200" cy="274320"/>
          </a:xfrm>
          <a:prstGeom prst="rect">
            <a:avLst/>
          </a:prstGeom>
          <a:noFill/>
          <a:ln/>
        </p:spPr>
        <p:txBody>
          <a:bodyPr wrap="square" lIns="0" tIns="0" rIns="0" bIns="0" rtlCol="0" anchor="ctr"/>
          <a:lstStyle/>
          <a:p>
            <a:pPr indent="0" marL="0">
              <a:buNone/>
            </a:pPr>
            <a:r>
              <a:rPr lang="en-US" sz="1050" dirty="0">
                <a:solidFill>
                  <a:srgbClr val="7C6552"/>
                </a:solidFill>
                <a:latin typeface="Courier New" pitchFamily="34" charset="0"/>
                <a:ea typeface="Courier New" pitchFamily="34" charset="-122"/>
                <a:cs typeface="Courier New" pitchFamily="34" charset="-120"/>
              </a:rPr>
              <a:t>tous rôles</a:t>
            </a:r>
            <a:endParaRPr lang="en-US" sz="1050" dirty="0"/>
          </a:p>
        </p:txBody>
      </p:sp>
      <p:sp>
        <p:nvSpPr>
          <p:cNvPr id="7" name="Text 4"/>
          <p:cNvSpPr txBox="1"/>
          <p:nvPr/>
        </p:nvSpPr>
        <p:spPr>
          <a:xfrm>
            <a:off x="548640" y="3520440"/>
            <a:ext cx="10881360" cy="86868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File de notifications par utilisateur, lues/non lues.</a:t>
            </a:r>
            <a:endParaRPr lang="en-US" sz="1450" dirty="0"/>
          </a:p>
          <a:p>
            <a:pPr marL="342900" indent="-342900">
              <a:lnSpc>
                <a:spcPct val="115000"/>
              </a:lnSpc>
              <a:spcAft>
                <a:spcPts val="800"/>
              </a:spcAft>
              <a:buSzPct val="100000"/>
              <a:buChar char="•"/>
            </a:pPr>
            <a:r>
              <a:rPr lang="en-US" sz="1450" dirty="0">
                <a:solidFill>
                  <a:srgbClr val="2C1A0E"/>
                </a:solidFill>
                <a:latin typeface="Calibri" pitchFamily="34" charset="0"/>
                <a:ea typeface="Calibri" pitchFamily="34" charset="-122"/>
                <a:cs typeface="Calibri" pitchFamily="34" charset="-120"/>
              </a:rPr>
              <a:t>Pour les événements qui le concernent directement.</a:t>
            </a:r>
            <a:endParaRPr lang="en-US" sz="1450" dirty="0"/>
          </a:p>
        </p:txBody>
      </p:sp>
      <p:sp>
        <p:nvSpPr>
          <p:cNvPr id="8" name="Text 5"/>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9" name="Text 6"/>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C1A0E"/>
        </a:solidFill>
      </p:bgPr>
    </p:bg>
    <p:spTree>
      <p:nvGrpSpPr>
        <p:cNvPr id="1" name=""/>
        <p:cNvGrpSpPr/>
        <p:nvPr/>
      </p:nvGrpSpPr>
      <p:grpSpPr>
        <a:xfrm>
          <a:off x="0" y="0"/>
          <a:ext cx="0" cy="0"/>
          <a:chOff x="0" y="0"/>
          <a:chExt cx="0" cy="0"/>
        </a:xfrm>
      </p:grpSpPr>
      <p:sp>
        <p:nvSpPr>
          <p:cNvPr id="2" name="Shape 0"/>
          <p:cNvSpPr/>
          <p:nvPr/>
        </p:nvSpPr>
        <p:spPr>
          <a:xfrm>
            <a:off x="640080" y="2331720"/>
            <a:ext cx="914400" cy="91440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749808" y="2441448"/>
            <a:ext cx="694944" cy="694944"/>
          </a:xfrm>
          <a:prstGeom prst="rect">
            <a:avLst/>
          </a:prstGeom>
        </p:spPr>
      </p:pic>
      <p:sp>
        <p:nvSpPr>
          <p:cNvPr id="4" name="Text 1"/>
          <p:cNvSpPr txBox="1"/>
          <p:nvPr/>
        </p:nvSpPr>
        <p:spPr>
          <a:xfrm>
            <a:off x="1737360" y="2395728"/>
            <a:ext cx="8229600" cy="365760"/>
          </a:xfrm>
          <a:prstGeom prst="rect">
            <a:avLst/>
          </a:prstGeom>
          <a:noFill/>
          <a:ln/>
        </p:spPr>
        <p:txBody>
          <a:bodyPr wrap="square" lIns="0" tIns="0" rIns="0" bIns="0" rtlCol="0" anchor="ctr"/>
          <a:lstStyle/>
          <a:p>
            <a:pPr indent="0" marL="0">
              <a:buNone/>
            </a:pPr>
            <a:r>
              <a:rPr lang="en-US" sz="1200" spc="200" kern="0" dirty="0">
                <a:solidFill>
                  <a:srgbClr val="D9AE6C"/>
                </a:solidFill>
                <a:latin typeface="Calibri" pitchFamily="34" charset="0"/>
                <a:ea typeface="Calibri" pitchFamily="34" charset="-122"/>
                <a:cs typeface="Calibri" pitchFamily="34" charset="-120"/>
              </a:rPr>
              <a:t>BILAN</a:t>
            </a:r>
            <a:endParaRPr lang="en-US" sz="1200" dirty="0"/>
          </a:p>
        </p:txBody>
      </p:sp>
      <p:sp>
        <p:nvSpPr>
          <p:cNvPr id="5" name="Text 2"/>
          <p:cNvSpPr txBox="1"/>
          <p:nvPr/>
        </p:nvSpPr>
        <p:spPr>
          <a:xfrm>
            <a:off x="1719072" y="2743200"/>
            <a:ext cx="960120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Tableau récapitulatif</a:t>
            </a:r>
            <a:endParaRPr lang="en-US" sz="3800" dirty="0"/>
          </a:p>
        </p:txBody>
      </p:sp>
      <p:sp>
        <p:nvSpPr>
          <p:cNvPr id="6"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7"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1 / 3</a:t>
            </a:r>
            <a:endParaRPr lang="en-US" sz="1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Authentification &amp; sessions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Empêcher un accès obsolète (rôle, mot de passe, UO ou compte changés) de survivre jusqu'à l'expiration d'un JWT valable plusieurs heures.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Hiérarchie d'UO &amp; transfert</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Représenter des départements/filiales avec des périmètres de documents distincts, pas une organisation plate.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Suppression d'utilisateur à deux temps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qu'une erreur humaine ou un admin malveillant supprime un compte de façon instantanée et irréversible.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Un compte jamais connecté est supprimé immédiatement, sans délai de grâce.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Protection du dernier administrateur</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Empêcher qu'une organisation ou une UO se retrouve sans administrateur par erreur de manipulation.</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Upload en deux phases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d'archiver définitivement un document avec des métadonnées fausses ou incomplètes.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Conversion universelle vers PDF/A-3b</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Garantir la lisibilité à long terme, indépendamment de tout logiciel propriétaire.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Extraction assistée par IA</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la ressaisie manuelle de chaque champ — le modèle apprend une fois par type.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Dépend de la qualité du premier document du type ; une règle mal apprise affecte les suivants.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Import en lot (jusqu'à 10 000 fichiers)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Rendre praticable l'archivage rétroactif de milliers de documents déjà numérisés.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Import depuis un lien web</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Archiver des documents déjà en ligne sans les télécharger manuellement.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2 / 3</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Détection de doublons (hash original)</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 même fichier soit archivé deux fois dans la même UO.</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Hash exact seulement — un contenu réuploadé après conversion de format n'est pas détecté (vérifié).</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Second hash SHA-256 (PDF/A)</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Fournir une empreinte stable du fichier réellement conservé, vérifiable après coup.</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Signature PKI (HSM)</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Prouver nommément QUI a archivé le document, pas seulement QUE l'organisation l'a fait.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Horodatage &amp; ancrage blockchain</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Prouver la date d'existence via une source indépendante de MadeArchive.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Ancrage blockchain optionnel, par document — pas systématique.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Attestation publique avec QR code</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Permettre à un tiers sans compte de vérifier l'authenticité d'un document.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Contrôle de fixité périodique</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Détecter une corruption de stockage avant qu'un utilisateur ne l'ouvre.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Miniatures PDF en cache serveur</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de retélécharger et rasteriser le PDF complet à chaque affichage de grille.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Génération à la demande — le tout premier affichage paie le coût de génération.</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Recherche hybride (Meilisearch → BD)</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Recherche plein texte rapide sans laisser un moteur externe faire autorité sur les droits d'accès.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A34E12"/>
                          </a:solidFill>
                          <a:latin typeface="Calibri" pitchFamily="34" charset="0"/>
                          <a:ea typeface="Calibri" pitchFamily="34" charset="-122"/>
                          <a:cs typeface="Calibri" pitchFamily="34" charset="-120"/>
                        </a:rPr>
                        <a:t>Pagination imprécise sur la recherche textuelle (totalPages toujours à 1).</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Documents accessibles / Mes documents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Séparer "ce que j'ai archivé" de "ce à quoi j'ai droit".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502920" cy="502920"/>
          </a:xfrm>
          <a:prstGeom prst="ellipse">
            <a:avLst/>
          </a:prstGeom>
          <a:solidFill>
            <a:srgbClr val="B5813F"/>
          </a:solidFill>
          <a:ln/>
        </p:spPr>
      </p:sp>
      <p:pic>
        <p:nvPicPr>
          <p:cNvPr id="3" name="Image 0" descr="preencoded.png">    </p:cNvPr>
          <p:cNvPicPr>
            <a:picLocks noChangeAspect="1"/>
          </p:cNvPicPr>
          <p:nvPr/>
        </p:nvPicPr>
        <p:blipFill>
          <a:blip r:embed="rId1"/>
          <a:stretch>
            <a:fillRect/>
          </a:stretch>
        </p:blipFill>
        <p:spPr>
          <a:xfrm>
            <a:off x="608990" y="471830"/>
            <a:ext cx="382219" cy="382219"/>
          </a:xfrm>
          <a:prstGeom prst="rect">
            <a:avLst/>
          </a:prstGeom>
        </p:spPr>
      </p:pic>
      <p:sp>
        <p:nvSpPr>
          <p:cNvPr id="4" name="Text 1"/>
          <p:cNvSpPr txBox="1"/>
          <p:nvPr/>
        </p:nvSpPr>
        <p:spPr>
          <a:xfrm>
            <a:off x="1170432" y="365760"/>
            <a:ext cx="8229600" cy="502920"/>
          </a:xfrm>
          <a:prstGeom prst="rect">
            <a:avLst/>
          </a:prstGeom>
          <a:noFill/>
          <a:ln/>
        </p:spPr>
        <p:txBody>
          <a:bodyPr wrap="square" lIns="0" tIns="0" rIns="0" bIns="0" rtlCol="0" anchor="ctr"/>
          <a:lstStyle/>
          <a:p>
            <a:pPr indent="0" marL="0">
              <a:buNone/>
            </a:pPr>
            <a:r>
              <a:rPr lang="en-US" sz="2600" b="1" dirty="0">
                <a:solidFill>
                  <a:srgbClr val="2C1A0E"/>
                </a:solidFill>
                <a:latin typeface="Cambria" pitchFamily="34" charset="0"/>
                <a:ea typeface="Cambria" pitchFamily="34" charset="-122"/>
                <a:cs typeface="Cambria" pitchFamily="34" charset="-120"/>
              </a:rPr>
              <a:t>Tableau récapitulatif</a:t>
            </a:r>
            <a:endParaRPr lang="en-US" sz="2600" dirty="0"/>
          </a:p>
        </p:txBody>
      </p:sp>
      <p:sp>
        <p:nvSpPr>
          <p:cNvPr id="5" name="Text 2"/>
          <p:cNvSpPr txBox="1"/>
          <p:nvPr/>
        </p:nvSpPr>
        <p:spPr>
          <a:xfrm>
            <a:off x="10607040" y="438912"/>
            <a:ext cx="1097280" cy="365760"/>
          </a:xfrm>
          <a:prstGeom prst="rect">
            <a:avLst/>
          </a:prstGeom>
          <a:noFill/>
          <a:ln/>
        </p:spPr>
        <p:txBody>
          <a:bodyPr wrap="square" lIns="0" tIns="0" rIns="0" bIns="0" rtlCol="0" anchor="ctr"/>
          <a:lstStyle/>
          <a:p>
            <a:pPr algn="r" indent="0" marL="0">
              <a:buNone/>
            </a:pPr>
            <a:r>
              <a:rPr lang="en-US" sz="1100" dirty="0">
                <a:solidFill>
                  <a:srgbClr val="7C6552"/>
                </a:solidFill>
                <a:latin typeface="Calibri" pitchFamily="34" charset="0"/>
                <a:ea typeface="Calibri" pitchFamily="34" charset="-122"/>
                <a:cs typeface="Calibri" pitchFamily="34" charset="-120"/>
              </a:rPr>
              <a:t>3 / 3</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2651760"/>
                <a:gridCol w="5239512"/>
                <a:gridCol w="33832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Fonctionnalité</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Pourquoi — problème résolu</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Limite connue</a:t>
                      </a:r>
                      <a:endParaRPr lang="en-US" sz="10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2C1A0E"/>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Projets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Représenter un dossier réel qui regroupe plusieurs types de documents liés.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Emplacements physiques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Conserver la traçabilité de l'original papier quand la numérisation ne dispense pas de le garder.</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Groupes d'accès privés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Restreindre un document/projet sensible à une liste nominative, pas un rôle entier.</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Corbeille &amp; rétention (3 jours)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Éviter qu'une suppression de document soit instantanée et sans recours.</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Export administratif</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Permettre à une institution de récupérer tous ses documents en clair pour changer d'outil.</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Journal d'audit</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Tracer qui a fait quoi, sur quel document, dans quelle UO.</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3E9DA"/>
                    </a:solidFill>
                  </a:tcPr>
                </a:tc>
              </a:tr>
              <a:tr h="0">
                <a:tc>
                  <a:txBody>
                    <a:bodyPr/>
                    <a:lstStyle/>
                    <a:p>
                      <a:pPr indent="0" marL="0">
                        <a:buNone/>
                      </a:pPr>
                      <a:r>
                        <a:rPr lang="en-US" sz="1000" b="1" dirty="0">
                          <a:solidFill>
                            <a:srgbClr val="2C1A0E"/>
                          </a:solidFill>
                          <a:latin typeface="Calibri" pitchFamily="34" charset="0"/>
                          <a:ea typeface="Calibri" pitchFamily="34" charset="-122"/>
                          <a:cs typeface="Calibri" pitchFamily="34" charset="-120"/>
                        </a:rPr>
                        <a:t>Notifications</a:t>
                      </a:r>
                      <a:endParaRPr lang="en-US" sz="100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dirty="0">
                          <a:solidFill>
                            <a:srgbClr val="2C1A0E"/>
                          </a:solidFill>
                          <a:latin typeface="Calibri" pitchFamily="34" charset="0"/>
                          <a:ea typeface="Calibri" pitchFamily="34" charset="-122"/>
                          <a:cs typeface="Calibri" pitchFamily="34" charset="-120"/>
                        </a:rPr>
                        <a:t>Informer un utilisateur des événements qui le concernent.</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c>
                  <a:txBody>
                    <a:bodyPr/>
                    <a:lstStyle/>
                    <a:p>
                      <a:pPr indent="0" marL="0">
                        <a:buNone/>
                      </a:pPr>
                      <a:r>
                        <a:rPr lang="en-US" sz="950" i="1" dirty="0">
                          <a:solidFill>
                            <a:srgbClr val="3E7A52"/>
                          </a:solidFill>
                          <a:latin typeface="Calibri" pitchFamily="34" charset="0"/>
                          <a:ea typeface="Calibri" pitchFamily="34" charset="-122"/>
                          <a:cs typeface="Calibri" pitchFamily="34" charset="-120"/>
                        </a:rPr>
                        <a:t>Aucune limite majeure identifiée</a:t>
                      </a:r>
                      <a:endParaRPr lang="en-US" sz="950" dirty="0">
                        <a:latin typeface="Calibri" charset="0"/>
                        <a:ea typeface="Calibri" charset="0"/>
                        <a:cs typeface="Calibri" charset="0"/>
                      </a:endParaRPr>
                    </a:p>
                  </a:txBody>
                  <a:tcPr marL="76200" marR="76200" marT="50800" marB="50800" anchor="t">
                    <a:lnL w="9525" cap="flat" cmpd="sng" algn="ctr">
                      <a:solidFill>
                        <a:srgbClr val="E8D9C5"/>
                      </a:solidFill>
                      <a:prstDash val="solid"/>
                      <a:round/>
                      <a:headEnd type="none" w="med" len="med"/>
                      <a:tailEnd type="none" w="med" len="med"/>
                    </a:lnL>
                    <a:lnR w="9525" cap="flat" cmpd="sng" algn="ctr">
                      <a:solidFill>
                        <a:srgbClr val="E8D9C5"/>
                      </a:solidFill>
                      <a:prstDash val="solid"/>
                      <a:round/>
                      <a:headEnd type="none" w="med" len="med"/>
                      <a:tailEnd type="none" w="med" len="med"/>
                    </a:lnR>
                    <a:lnT w="9525" cap="flat" cmpd="sng" algn="ctr">
                      <a:solidFill>
                        <a:srgbClr val="E8D9C5"/>
                      </a:solidFill>
                      <a:prstDash val="solid"/>
                      <a:round/>
                      <a:headEnd type="none" w="med" len="med"/>
                      <a:tailEnd type="none" w="med" len="med"/>
                    </a:lnT>
                    <a:lnB w="9525" cap="flat" cmpd="sng" algn="ctr">
                      <a:solidFill>
                        <a:srgbClr val="E8D9C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7200" y="6510528"/>
            <a:ext cx="7315200" cy="274320"/>
          </a:xfrm>
          <a:prstGeom prst="rect">
            <a:avLst/>
          </a:prstGeom>
          <a:noFill/>
          <a:ln/>
        </p:spPr>
        <p:txBody>
          <a:bodyPr wrap="square" lIns="0" tIns="0" rIns="0" bIns="0" rtlCol="0" anchor="ctr"/>
          <a:lstStyle/>
          <a:p>
            <a:pPr indent="0" marL="0">
              <a:buNone/>
            </a:pPr>
            <a:r>
              <a:rPr lang="en-US" sz="900" dirty="0">
                <a:solidFill>
                  <a:srgbClr val="7C6552"/>
                </a:solidFill>
                <a:latin typeface="Calibri" pitchFamily="34" charset="0"/>
                <a:ea typeface="Calibri" pitchFamily="34" charset="-122"/>
                <a:cs typeface="Calibri" pitchFamily="34" charset="-120"/>
              </a:rPr>
              <a:t>MadeArchive — Documentation technique</a:t>
            </a:r>
            <a:endParaRPr lang="en-US" sz="900" dirty="0"/>
          </a:p>
        </p:txBody>
      </p:sp>
      <p:sp>
        <p:nvSpPr>
          <p:cNvPr id="8" name="Text 4"/>
          <p:cNvSpPr txBox="1"/>
          <p:nvPr/>
        </p:nvSpPr>
        <p:spPr>
          <a:xfrm>
            <a:off x="11338560" y="6510528"/>
            <a:ext cx="457200" cy="274320"/>
          </a:xfrm>
          <a:prstGeom prst="rect">
            <a:avLst/>
          </a:prstGeom>
          <a:noFill/>
          <a:ln/>
        </p:spPr>
        <p:txBody>
          <a:bodyPr wrap="square" lIns="0" tIns="0" rIns="0" bIns="0" rtlCol="0" anchor="ctr"/>
          <a:lstStyle/>
          <a:p>
            <a:pPr algn="r" indent="0" marL="0">
              <a:buNone/>
            </a:pPr>
            <a:r>
              <a:rPr lang="en-US" sz="900" dirty="0">
                <a:solidFill>
                  <a:srgbClr val="7C655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MadeArchive — Documentation technique</dc:title>
  <dc:subject>PptxGenJS Presentation</dc:subject>
  <dc:creator>MadeArchive</dc:creator>
  <cp:lastModifiedBy>MadeArchive</cp:lastModifiedBy>
  <cp:revision>1</cp:revision>
  <dcterms:created xsi:type="dcterms:W3CDTF">2026-09-07T19:05:58Z</dcterms:created>
  <dcterms:modified xsi:type="dcterms:W3CDTF">2026-09-07T19:05:58Z</dcterms:modified>
</cp:coreProperties>
</file>