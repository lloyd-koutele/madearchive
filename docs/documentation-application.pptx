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300" r:id="rId42"/>
    <p:sldId id="301" r:id="rId43"/>
    <p:sldId id="303" r:id="rId44"/>
    <p:sldId id="307" r:id="rId45"/>
    <p:sldId id="308" r:id="rId46"/>
    <p:sldId id="309" r:id="rId47"/>
    <p:sldId id="310"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34"/>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62670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640080"/>
            <a:ext cx="822960" cy="82296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38835" y="738835"/>
            <a:ext cx="625450" cy="625450"/>
          </a:xfrm>
          <a:prstGeom prst="rect">
            <a:avLst/>
          </a:prstGeom>
        </p:spPr>
      </p:pic>
      <p:sp>
        <p:nvSpPr>
          <p:cNvPr id="4" name="Text 1"/>
          <p:cNvSpPr txBox="1"/>
          <p:nvPr/>
        </p:nvSpPr>
        <p:spPr>
          <a:xfrm>
            <a:off x="548640" y="2468880"/>
            <a:ext cx="10058400" cy="118872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MadeArchive</a:t>
            </a:r>
            <a:endParaRPr lang="en-US" sz="5400" dirty="0"/>
          </a:p>
        </p:txBody>
      </p:sp>
      <p:sp>
        <p:nvSpPr>
          <p:cNvPr id="5" name="Text 2"/>
          <p:cNvSpPr txBox="1"/>
          <p:nvPr/>
        </p:nvSpPr>
        <p:spPr>
          <a:xfrm>
            <a:off x="566928" y="3520440"/>
            <a:ext cx="9144000" cy="548640"/>
          </a:xfrm>
          <a:prstGeom prst="rect">
            <a:avLst/>
          </a:prstGeom>
          <a:noFill/>
          <a:ln/>
        </p:spPr>
        <p:txBody>
          <a:bodyPr wrap="square" lIns="0" tIns="0" rIns="0" bIns="0" rtlCol="0" anchor="ctr"/>
          <a:lstStyle/>
          <a:p>
            <a:pPr marL="0" indent="0">
              <a:buNone/>
            </a:pPr>
            <a:r>
              <a:rPr lang="en-US" sz="2200" dirty="0">
                <a:solidFill>
                  <a:srgbClr val="D9AE6C"/>
                </a:solidFill>
                <a:latin typeface="Calibri" pitchFamily="34" charset="0"/>
                <a:ea typeface="Calibri" pitchFamily="34" charset="-122"/>
                <a:cs typeface="Calibri" pitchFamily="34" charset="-120"/>
              </a:rPr>
              <a:t>Documentation technique</a:t>
            </a:r>
            <a:endParaRPr lang="en-US" sz="2200" dirty="0"/>
          </a:p>
        </p:txBody>
      </p:sp>
      <p:sp>
        <p:nvSpPr>
          <p:cNvPr id="6" name="Text 3"/>
          <p:cNvSpPr txBox="1"/>
          <p:nvPr/>
        </p:nvSpPr>
        <p:spPr>
          <a:xfrm>
            <a:off x="566928" y="4114800"/>
            <a:ext cx="7863840" cy="731520"/>
          </a:xfrm>
          <a:prstGeom prst="rect">
            <a:avLst/>
          </a:prstGeom>
          <a:noFill/>
          <a:ln/>
        </p:spPr>
        <p:txBody>
          <a:bodyPr wrap="square" lIns="0" tIns="0" rIns="0" bIns="0" rtlCol="0" anchor="ctr"/>
          <a:lstStyle/>
          <a:p>
            <a:pPr marL="0" indent="0">
              <a:buNone/>
            </a:pPr>
            <a:r>
              <a:rPr lang="en-US" sz="1300" dirty="0">
                <a:solidFill>
                  <a:srgbClr val="D9C8B4"/>
                </a:solidFill>
                <a:latin typeface="Calibri" pitchFamily="34" charset="0"/>
                <a:ea typeface="Calibri" pitchFamily="34" charset="-122"/>
                <a:cs typeface="Calibri" pitchFamily="34" charset="-120"/>
              </a:rPr>
              <a:t>Fonctionnalités, justification de chaque choix, et limites connues — reflète l'état réel de l'implémentation, pas une intention.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16671" y="570951"/>
            <a:ext cx="430865" cy="430865"/>
          </a:xfrm>
          <a:prstGeom prst="rect">
            <a:avLst/>
          </a:prstGeom>
        </p:spPr>
      </p:pic>
      <p:sp>
        <p:nvSpPr>
          <p:cNvPr id="4" name="Text 1"/>
          <p:cNvSpPr txBox="1"/>
          <p:nvPr/>
        </p:nvSpPr>
        <p:spPr>
          <a:xfrm>
            <a:off x="1234440" y="475488"/>
            <a:ext cx="7315200" cy="640080"/>
          </a:xfrm>
          <a:prstGeom prst="rect">
            <a:avLst/>
          </a:prstGeom>
          <a:noFill/>
          <a:ln/>
        </p:spPr>
        <p:txBody>
          <a:bodyPr wrap="square" lIns="0" tIns="0" rIns="0" bIns="0" rtlCol="0" anchor="ctr"/>
          <a:lstStyle/>
          <a:p>
            <a:pPr marL="0" indent="0">
              <a:buNone/>
            </a:pPr>
            <a:r>
              <a:rPr lang="en-US" sz="3000" b="1" dirty="0">
                <a:solidFill>
                  <a:srgbClr val="2C1A0E"/>
                </a:solidFill>
                <a:latin typeface="Cambria" pitchFamily="34" charset="0"/>
                <a:ea typeface="Cambria" pitchFamily="34" charset="-122"/>
                <a:cs typeface="Cambria" pitchFamily="34" charset="-120"/>
              </a:rPr>
              <a:t>Vue d'ensemble</a:t>
            </a:r>
            <a:endParaRPr lang="en-US" sz="3000" dirty="0"/>
          </a:p>
        </p:txBody>
      </p:sp>
      <p:sp>
        <p:nvSpPr>
          <p:cNvPr id="5" name="Text 2"/>
          <p:cNvSpPr txBox="1"/>
          <p:nvPr/>
        </p:nvSpPr>
        <p:spPr>
          <a:xfrm>
            <a:off x="1280160" y="1417320"/>
            <a:ext cx="8778240" cy="2926080"/>
          </a:xfrm>
          <a:prstGeom prst="rect">
            <a:avLst/>
          </a:prstGeom>
          <a:noFill/>
          <a:ln/>
        </p:spPr>
        <p:txBody>
          <a:bodyPr wrap="square" lIns="0" tIns="0" rIns="0" bIns="0" rtlCol="0" anchor="ctr"/>
          <a:lstStyle/>
          <a:p>
            <a:pPr marL="0" indent="0">
              <a:lnSpc>
                <a:spcPct val="115000"/>
              </a:lnSpc>
              <a:spcAft>
                <a:spcPts val="1000"/>
              </a:spcAft>
              <a:buNone/>
            </a:pPr>
            <a:r>
              <a:rPr lang="en-US" sz="1600" b="1" dirty="0">
                <a:solidFill>
                  <a:srgbClr val="2C1A0E"/>
                </a:solidFill>
                <a:latin typeface="Calibri" pitchFamily="34" charset="0"/>
                <a:ea typeface="Calibri" pitchFamily="34" charset="-122"/>
                <a:cs typeface="Calibri" pitchFamily="34" charset="-120"/>
              </a:rPr>
              <a:t>Une plateforme d'archivage institutionnel à valeur probante.</a:t>
            </a:r>
            <a:endParaRPr lang="en-US" sz="1600" dirty="0"/>
          </a:p>
          <a:p>
            <a:pPr marL="0" indent="0">
              <a:lnSpc>
                <a:spcPct val="115000"/>
              </a:lnSpc>
              <a:spcAft>
                <a:spcPts val="1000"/>
              </a:spcAft>
              <a:buNone/>
            </a:pPr>
            <a:r>
              <a:rPr lang="en-US" sz="1600" dirty="0">
                <a:solidFill>
                  <a:srgbClr val="2C1A0E"/>
                </a:solidFill>
                <a:latin typeface="Calibri" pitchFamily="34" charset="0"/>
                <a:ea typeface="Calibri" pitchFamily="34" charset="-122"/>
                <a:cs typeface="Calibri" pitchFamily="34" charset="-120"/>
              </a:rPr>
              <a:t>Chaque document numérisé (facture, contrat, correspondance…) suit le même principe : prouver, des années plus tard, qu'il n'a pas été altéré depuis son archivage.</a:t>
            </a:r>
            <a:endParaRPr lang="en-US" sz="1600" dirty="0"/>
          </a:p>
          <a:p>
            <a:pPr marL="0" indent="0">
              <a:lnSpc>
                <a:spcPct val="115000"/>
              </a:lnSpc>
              <a:buNone/>
            </a:pPr>
            <a:r>
              <a:rPr lang="en-US" sz="1600" dirty="0" err="1">
                <a:solidFill>
                  <a:srgbClr val="2C1A0E"/>
                </a:solidFill>
                <a:latin typeface="Calibri" pitchFamily="34" charset="0"/>
                <a:ea typeface="Calibri" pitchFamily="34" charset="-122"/>
                <a:cs typeface="Calibri" pitchFamily="34" charset="-120"/>
              </a:rPr>
              <a:t>L'organisation</a:t>
            </a:r>
            <a:r>
              <a:rPr lang="en-US" sz="1600" dirty="0">
                <a:solidFill>
                  <a:srgbClr val="2C1A0E"/>
                </a:solidFill>
                <a:latin typeface="Calibri" pitchFamily="34" charset="0"/>
                <a:ea typeface="Calibri" pitchFamily="34" charset="-122"/>
                <a:cs typeface="Calibri" pitchFamily="34" charset="-120"/>
              </a:rPr>
              <a:t> est hiérarchique : des Unités Organisationnelles (UO) emboîtées, chacune avec </a:t>
            </a:r>
            <a:r>
              <a:rPr lang="en-US" sz="1600" dirty="0" err="1">
                <a:solidFill>
                  <a:srgbClr val="2C1A0E"/>
                </a:solidFill>
                <a:latin typeface="Calibri" pitchFamily="34" charset="0"/>
                <a:ea typeface="Calibri" pitchFamily="34" charset="-122"/>
                <a:cs typeface="Calibri" pitchFamily="34" charset="-120"/>
              </a:rPr>
              <a:t>ses</a:t>
            </a:r>
            <a:r>
              <a:rPr lang="en-US" sz="1600" dirty="0">
                <a:solidFill>
                  <a:srgbClr val="2C1A0E"/>
                </a:solidFill>
                <a:latin typeface="Calibri" pitchFamily="34" charset="0"/>
                <a:ea typeface="Calibri" pitchFamily="34" charset="-122"/>
                <a:cs typeface="Calibri" pitchFamily="34" charset="-120"/>
              </a:rPr>
              <a:t> </a:t>
            </a:r>
            <a:r>
              <a:rPr lang="en-US" sz="1600" dirty="0" err="1">
                <a:solidFill>
                  <a:srgbClr val="2C1A0E"/>
                </a:solidFill>
                <a:latin typeface="Calibri" pitchFamily="34" charset="0"/>
                <a:ea typeface="Calibri" pitchFamily="34" charset="-122"/>
                <a:cs typeface="Calibri" pitchFamily="34" charset="-120"/>
              </a:rPr>
              <a:t>utilisateurs</a:t>
            </a:r>
            <a:r>
              <a:rPr lang="en-US" sz="1600" dirty="0">
                <a:solidFill>
                  <a:srgbClr val="2C1A0E"/>
                </a:solidFill>
                <a:latin typeface="Calibri" pitchFamily="34" charset="0"/>
                <a:ea typeface="Calibri" pitchFamily="34" charset="-122"/>
                <a:cs typeface="Calibri" pitchFamily="34" charset="-120"/>
              </a:rPr>
              <a:t>, ses types de documents et ses règles d'accès public/privé.</a:t>
            </a:r>
            <a:endParaRPr lang="en-US" sz="160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16671" y="570951"/>
            <a:ext cx="430865" cy="430865"/>
          </a:xfrm>
          <a:prstGeom prst="rect">
            <a:avLst/>
          </a:prstGeom>
        </p:spPr>
      </p:pic>
      <p:sp>
        <p:nvSpPr>
          <p:cNvPr id="4" name="Text 1"/>
          <p:cNvSpPr txBox="1"/>
          <p:nvPr/>
        </p:nvSpPr>
        <p:spPr>
          <a:xfrm>
            <a:off x="1234440" y="475488"/>
            <a:ext cx="8229600" cy="640080"/>
          </a:xfrm>
          <a:prstGeom prst="rect">
            <a:avLst/>
          </a:prstGeom>
          <a:noFill/>
          <a:ln/>
        </p:spPr>
        <p:txBody>
          <a:bodyPr wrap="square" lIns="0" tIns="0" rIns="0" bIns="0" rtlCol="0" anchor="ctr"/>
          <a:lstStyle/>
          <a:p>
            <a:pPr marL="0" indent="0">
              <a:buNone/>
            </a:pPr>
            <a:r>
              <a:rPr lang="en-US" sz="3000" b="1" dirty="0">
                <a:solidFill>
                  <a:srgbClr val="2C1A0E"/>
                </a:solidFill>
                <a:latin typeface="Cambria" pitchFamily="34" charset="0"/>
                <a:ea typeface="Cambria" pitchFamily="34" charset="-122"/>
                <a:cs typeface="Cambria" pitchFamily="34" charset="-120"/>
              </a:rPr>
              <a:t>Rôles &amp; permissions</a:t>
            </a:r>
            <a:endParaRPr lang="en-US" sz="3000" dirty="0"/>
          </a:p>
        </p:txBody>
      </p:sp>
      <p:sp>
        <p:nvSpPr>
          <p:cNvPr id="5" name="Text 2"/>
          <p:cNvSpPr txBox="1"/>
          <p:nvPr/>
        </p:nvSpPr>
        <p:spPr>
          <a:xfrm>
            <a:off x="1280160" y="1170432"/>
            <a:ext cx="9692640" cy="502920"/>
          </a:xfrm>
          <a:prstGeom prst="rect">
            <a:avLst/>
          </a:prstGeom>
          <a:noFill/>
          <a:ln/>
        </p:spPr>
        <p:txBody>
          <a:bodyPr wrap="square" lIns="0" tIns="0" rIns="0" bIns="0" rtlCol="0" anchor="ctr"/>
          <a:lstStyle/>
          <a:p>
            <a:pPr marL="0" indent="0">
              <a:buNone/>
            </a:pPr>
            <a:r>
              <a:rPr lang="en-US" sz="1350" dirty="0">
                <a:solidFill>
                  <a:srgbClr val="7C6552"/>
                </a:solidFill>
                <a:latin typeface="Calibri" pitchFamily="34" charset="0"/>
                <a:ea typeface="Calibri" pitchFamily="34" charset="-122"/>
                <a:cs typeface="Calibri" pitchFamily="34" charset="-120"/>
              </a:rPr>
              <a:t>Quatre rôles, hérités en cascade — ADMIN, ADMIN_UO, EDITOR et USER. </a:t>
            </a:r>
            <a:endParaRPr lang="en-US" sz="1350" dirty="0"/>
          </a:p>
        </p:txBody>
      </p:sp>
      <p:sp>
        <p:nvSpPr>
          <p:cNvPr id="6" name="Shape 3"/>
          <p:cNvSpPr/>
          <p:nvPr/>
        </p:nvSpPr>
        <p:spPr>
          <a:xfrm>
            <a:off x="548640" y="1874520"/>
            <a:ext cx="5394960" cy="1783080"/>
          </a:xfrm>
          <a:prstGeom prst="roundRect">
            <a:avLst>
              <a:gd name="adj" fmla="val 5128"/>
            </a:avLst>
          </a:prstGeom>
          <a:solidFill>
            <a:srgbClr val="F3E9DA"/>
          </a:solidFill>
          <a:ln/>
        </p:spPr>
      </p:sp>
      <p:sp>
        <p:nvSpPr>
          <p:cNvPr id="7" name="Text 4"/>
          <p:cNvSpPr txBox="1"/>
          <p:nvPr/>
        </p:nvSpPr>
        <p:spPr>
          <a:xfrm>
            <a:off x="868680" y="2075688"/>
            <a:ext cx="4754880" cy="365760"/>
          </a:xfrm>
          <a:prstGeom prst="rect">
            <a:avLst/>
          </a:prstGeom>
          <a:noFill/>
          <a:ln/>
        </p:spPr>
        <p:txBody>
          <a:bodyPr wrap="square" lIns="0" tIns="0" rIns="0" bIns="0" rtlCol="0" anchor="ctr"/>
          <a:lstStyle/>
          <a:p>
            <a:pPr marL="0" indent="0">
              <a:buNone/>
            </a:pPr>
            <a:r>
              <a:rPr lang="en-US" sz="1500" b="1" dirty="0">
                <a:solidFill>
                  <a:srgbClr val="B5813F"/>
                </a:solidFill>
                <a:latin typeface="Courier New" pitchFamily="34" charset="0"/>
                <a:ea typeface="Courier New" pitchFamily="34" charset="-122"/>
                <a:cs typeface="Courier New" pitchFamily="34" charset="-120"/>
              </a:rPr>
              <a:t>ADMIN</a:t>
            </a:r>
            <a:endParaRPr lang="en-US" sz="1500" dirty="0"/>
          </a:p>
        </p:txBody>
      </p:sp>
      <p:sp>
        <p:nvSpPr>
          <p:cNvPr id="8" name="Text 5"/>
          <p:cNvSpPr txBox="1"/>
          <p:nvPr/>
        </p:nvSpPr>
        <p:spPr>
          <a:xfrm>
            <a:off x="868680" y="2496312"/>
            <a:ext cx="4754880" cy="1051560"/>
          </a:xfrm>
          <a:prstGeom prst="rect">
            <a:avLst/>
          </a:prstGeom>
          <a:noFill/>
          <a:ln/>
        </p:spPr>
        <p:txBody>
          <a:bodyPr wrap="square" lIns="0" tIns="0" rIns="0" bIns="0" rtlCol="0" anchor="ctr"/>
          <a:lstStyle/>
          <a:p>
            <a:pPr marL="0" indent="0">
              <a:lnSpc>
                <a:spcPct val="112000"/>
              </a:lnSpc>
              <a:buNone/>
            </a:pPr>
            <a:r>
              <a:rPr lang="en-US" sz="1200" dirty="0">
                <a:solidFill>
                  <a:srgbClr val="2C1A0E"/>
                </a:solidFill>
                <a:latin typeface="Calibri" pitchFamily="34" charset="0"/>
                <a:ea typeface="Calibri" pitchFamily="34" charset="-122"/>
                <a:cs typeface="Calibri" pitchFamily="34" charset="-120"/>
              </a:rPr>
              <a:t>Autorité sur toute l'organisation, toutes UO confondues. </a:t>
            </a:r>
            <a:r>
              <a:rPr lang="en-US" sz="1200" dirty="0" err="1">
                <a:solidFill>
                  <a:srgbClr val="2C1A0E"/>
                </a:solidFill>
                <a:latin typeface="Calibri" pitchFamily="34" charset="0"/>
                <a:ea typeface="Calibri" pitchFamily="34" charset="-122"/>
                <a:cs typeface="Calibri" pitchFamily="34" charset="-120"/>
              </a:rPr>
              <a:t>Gère</a:t>
            </a:r>
            <a:r>
              <a:rPr lang="en-US" sz="1200" dirty="0">
                <a:solidFill>
                  <a:srgbClr val="2C1A0E"/>
                </a:solidFill>
                <a:latin typeface="Calibri" pitchFamily="34" charset="0"/>
                <a:ea typeface="Calibri" pitchFamily="34" charset="-122"/>
                <a:cs typeface="Calibri" pitchFamily="34" charset="-120"/>
              </a:rPr>
              <a:t> les UO racines.</a:t>
            </a:r>
            <a:endParaRPr lang="en-US" sz="1200" dirty="0"/>
          </a:p>
        </p:txBody>
      </p:sp>
      <p:sp>
        <p:nvSpPr>
          <p:cNvPr id="9" name="Shape 6"/>
          <p:cNvSpPr/>
          <p:nvPr/>
        </p:nvSpPr>
        <p:spPr>
          <a:xfrm>
            <a:off x="6035040" y="1874520"/>
            <a:ext cx="5394960" cy="1783080"/>
          </a:xfrm>
          <a:prstGeom prst="roundRect">
            <a:avLst>
              <a:gd name="adj" fmla="val 5128"/>
            </a:avLst>
          </a:prstGeom>
          <a:solidFill>
            <a:srgbClr val="F3E9DA"/>
          </a:solidFill>
          <a:ln/>
        </p:spPr>
      </p:sp>
      <p:sp>
        <p:nvSpPr>
          <p:cNvPr id="10" name="Text 7"/>
          <p:cNvSpPr txBox="1"/>
          <p:nvPr/>
        </p:nvSpPr>
        <p:spPr>
          <a:xfrm>
            <a:off x="6355080" y="2075688"/>
            <a:ext cx="4754880" cy="365760"/>
          </a:xfrm>
          <a:prstGeom prst="rect">
            <a:avLst/>
          </a:prstGeom>
          <a:noFill/>
          <a:ln/>
        </p:spPr>
        <p:txBody>
          <a:bodyPr wrap="square" lIns="0" tIns="0" rIns="0" bIns="0" rtlCol="0" anchor="ctr"/>
          <a:lstStyle/>
          <a:p>
            <a:pPr marL="0" indent="0">
              <a:buNone/>
            </a:pPr>
            <a:r>
              <a:rPr lang="en-US" sz="1500" b="1" dirty="0">
                <a:solidFill>
                  <a:srgbClr val="B5813F"/>
                </a:solidFill>
                <a:latin typeface="Courier New" pitchFamily="34" charset="0"/>
                <a:ea typeface="Courier New" pitchFamily="34" charset="-122"/>
                <a:cs typeface="Courier New" pitchFamily="34" charset="-120"/>
              </a:rPr>
              <a:t>ADMIN_UO</a:t>
            </a:r>
            <a:endParaRPr lang="en-US" sz="1500" dirty="0"/>
          </a:p>
        </p:txBody>
      </p:sp>
      <p:sp>
        <p:nvSpPr>
          <p:cNvPr id="11" name="Text 8"/>
          <p:cNvSpPr txBox="1"/>
          <p:nvPr/>
        </p:nvSpPr>
        <p:spPr>
          <a:xfrm>
            <a:off x="6355080" y="2496312"/>
            <a:ext cx="4754880" cy="1051560"/>
          </a:xfrm>
          <a:prstGeom prst="rect">
            <a:avLst/>
          </a:prstGeom>
          <a:noFill/>
          <a:ln/>
        </p:spPr>
        <p:txBody>
          <a:bodyPr wrap="square" lIns="0" tIns="0" rIns="0" bIns="0" rtlCol="0" anchor="ctr"/>
          <a:lstStyle/>
          <a:p>
            <a:pPr marL="0" indent="0">
              <a:lnSpc>
                <a:spcPct val="112000"/>
              </a:lnSpc>
              <a:buNone/>
            </a:pPr>
            <a:r>
              <a:rPr lang="en-US" sz="1200" dirty="0">
                <a:solidFill>
                  <a:srgbClr val="2C1A0E"/>
                </a:solidFill>
                <a:latin typeface="Calibri" pitchFamily="34" charset="0"/>
                <a:ea typeface="Calibri" pitchFamily="34" charset="-122"/>
                <a:cs typeface="Calibri" pitchFamily="34" charset="-120"/>
              </a:rPr>
              <a:t>Autorité restreinte à son UO et ses UO descendants. </a:t>
            </a:r>
            <a:r>
              <a:rPr lang="en-US" sz="1200" dirty="0" err="1">
                <a:solidFill>
                  <a:srgbClr val="2C1A0E"/>
                </a:solidFill>
                <a:latin typeface="Calibri" pitchFamily="34" charset="0"/>
                <a:ea typeface="Calibri" pitchFamily="34" charset="-122"/>
                <a:cs typeface="Calibri" pitchFamily="34" charset="-120"/>
              </a:rPr>
              <a:t>Gère</a:t>
            </a:r>
            <a:r>
              <a:rPr lang="en-US" sz="1200" dirty="0">
                <a:solidFill>
                  <a:srgbClr val="2C1A0E"/>
                </a:solidFill>
                <a:latin typeface="Calibri" pitchFamily="34" charset="0"/>
                <a:ea typeface="Calibri" pitchFamily="34" charset="-122"/>
                <a:cs typeface="Calibri" pitchFamily="34" charset="-120"/>
              </a:rPr>
              <a:t> les </a:t>
            </a:r>
            <a:r>
              <a:rPr lang="en-US" sz="1200" dirty="0" err="1">
                <a:solidFill>
                  <a:srgbClr val="2C1A0E"/>
                </a:solidFill>
                <a:latin typeface="Calibri" pitchFamily="34" charset="0"/>
                <a:ea typeface="Calibri" pitchFamily="34" charset="-122"/>
                <a:cs typeface="Calibri" pitchFamily="34" charset="-120"/>
              </a:rPr>
              <a:t>utilisateurs</a:t>
            </a:r>
            <a:r>
              <a:rPr lang="en-US" sz="1200" dirty="0">
                <a:solidFill>
                  <a:srgbClr val="2C1A0E"/>
                </a:solidFill>
                <a:latin typeface="Calibri" pitchFamily="34" charset="0"/>
                <a:ea typeface="Calibri" pitchFamily="34" charset="-122"/>
                <a:cs typeface="Calibri" pitchFamily="34" charset="-120"/>
              </a:rPr>
              <a:t>, type de document emplacements physiques, audit et corbeille sur son périmètre.</a:t>
            </a:r>
            <a:endParaRPr lang="en-US" sz="1200" dirty="0"/>
          </a:p>
        </p:txBody>
      </p:sp>
      <p:sp>
        <p:nvSpPr>
          <p:cNvPr id="12" name="Shape 9"/>
          <p:cNvSpPr/>
          <p:nvPr/>
        </p:nvSpPr>
        <p:spPr>
          <a:xfrm>
            <a:off x="548640" y="3794760"/>
            <a:ext cx="5394960" cy="1783080"/>
          </a:xfrm>
          <a:prstGeom prst="roundRect">
            <a:avLst>
              <a:gd name="adj" fmla="val 5128"/>
            </a:avLst>
          </a:prstGeom>
          <a:solidFill>
            <a:srgbClr val="F3E9DA"/>
          </a:solidFill>
          <a:ln/>
        </p:spPr>
      </p:sp>
      <p:sp>
        <p:nvSpPr>
          <p:cNvPr id="13" name="Text 10"/>
          <p:cNvSpPr txBox="1"/>
          <p:nvPr/>
        </p:nvSpPr>
        <p:spPr>
          <a:xfrm>
            <a:off x="868680" y="3995928"/>
            <a:ext cx="4754880" cy="365760"/>
          </a:xfrm>
          <a:prstGeom prst="rect">
            <a:avLst/>
          </a:prstGeom>
          <a:noFill/>
          <a:ln/>
        </p:spPr>
        <p:txBody>
          <a:bodyPr wrap="square" lIns="0" tIns="0" rIns="0" bIns="0" rtlCol="0" anchor="ctr"/>
          <a:lstStyle/>
          <a:p>
            <a:pPr marL="0" indent="0">
              <a:buNone/>
            </a:pPr>
            <a:r>
              <a:rPr lang="en-US" sz="1500" b="1" dirty="0">
                <a:solidFill>
                  <a:srgbClr val="B5813F"/>
                </a:solidFill>
                <a:latin typeface="Courier New" pitchFamily="34" charset="0"/>
                <a:ea typeface="Courier New" pitchFamily="34" charset="-122"/>
                <a:cs typeface="Courier New" pitchFamily="34" charset="-120"/>
              </a:rPr>
              <a:t>EDITOR</a:t>
            </a:r>
            <a:endParaRPr lang="en-US" sz="1500" dirty="0"/>
          </a:p>
        </p:txBody>
      </p:sp>
      <p:sp>
        <p:nvSpPr>
          <p:cNvPr id="14" name="Text 11"/>
          <p:cNvSpPr txBox="1"/>
          <p:nvPr/>
        </p:nvSpPr>
        <p:spPr>
          <a:xfrm>
            <a:off x="868680" y="4416552"/>
            <a:ext cx="4754880" cy="1051560"/>
          </a:xfrm>
          <a:prstGeom prst="rect">
            <a:avLst/>
          </a:prstGeom>
          <a:noFill/>
          <a:ln/>
        </p:spPr>
        <p:txBody>
          <a:bodyPr wrap="square" lIns="0" tIns="0" rIns="0" bIns="0" rtlCol="0" anchor="ctr"/>
          <a:lstStyle/>
          <a:p>
            <a:pPr marL="0" indent="0">
              <a:lnSpc>
                <a:spcPct val="112000"/>
              </a:lnSpc>
              <a:buNone/>
            </a:pPr>
            <a:r>
              <a:rPr lang="en-US" sz="1200" dirty="0">
                <a:solidFill>
                  <a:srgbClr val="2C1A0E"/>
                </a:solidFill>
                <a:latin typeface="Calibri" pitchFamily="34" charset="0"/>
                <a:ea typeface="Calibri" pitchFamily="34" charset="-122"/>
                <a:cs typeface="Calibri" pitchFamily="34" charset="-120"/>
              </a:rPr>
              <a:t>Seul rôle habilité à archiver, nécessite une clé PKI active. Gère ses documents, ses projets, et leur confidentialité.</a:t>
            </a:r>
            <a:endParaRPr lang="en-US" sz="1200" dirty="0"/>
          </a:p>
        </p:txBody>
      </p:sp>
      <p:sp>
        <p:nvSpPr>
          <p:cNvPr id="15" name="Shape 12"/>
          <p:cNvSpPr/>
          <p:nvPr/>
        </p:nvSpPr>
        <p:spPr>
          <a:xfrm>
            <a:off x="6035040" y="3794760"/>
            <a:ext cx="5394960" cy="1783080"/>
          </a:xfrm>
          <a:prstGeom prst="roundRect">
            <a:avLst>
              <a:gd name="adj" fmla="val 5128"/>
            </a:avLst>
          </a:prstGeom>
          <a:solidFill>
            <a:srgbClr val="F3E9DA"/>
          </a:solidFill>
          <a:ln/>
        </p:spPr>
      </p:sp>
      <p:sp>
        <p:nvSpPr>
          <p:cNvPr id="16" name="Text 13"/>
          <p:cNvSpPr txBox="1"/>
          <p:nvPr/>
        </p:nvSpPr>
        <p:spPr>
          <a:xfrm>
            <a:off x="6355080" y="3995928"/>
            <a:ext cx="4754880" cy="365760"/>
          </a:xfrm>
          <a:prstGeom prst="rect">
            <a:avLst/>
          </a:prstGeom>
          <a:noFill/>
          <a:ln/>
        </p:spPr>
        <p:txBody>
          <a:bodyPr wrap="square" lIns="0" tIns="0" rIns="0" bIns="0" rtlCol="0" anchor="ctr"/>
          <a:lstStyle/>
          <a:p>
            <a:pPr marL="0" indent="0">
              <a:buNone/>
            </a:pPr>
            <a:r>
              <a:rPr lang="en-US" sz="1500" b="1" dirty="0">
                <a:solidFill>
                  <a:srgbClr val="B5813F"/>
                </a:solidFill>
                <a:latin typeface="Courier New" pitchFamily="34" charset="0"/>
                <a:ea typeface="Courier New" pitchFamily="34" charset="-122"/>
                <a:cs typeface="Courier New" pitchFamily="34" charset="-120"/>
              </a:rPr>
              <a:t>USER</a:t>
            </a:r>
            <a:endParaRPr lang="en-US" sz="1500" dirty="0"/>
          </a:p>
        </p:txBody>
      </p:sp>
      <p:sp>
        <p:nvSpPr>
          <p:cNvPr id="17" name="Text 14"/>
          <p:cNvSpPr txBox="1"/>
          <p:nvPr/>
        </p:nvSpPr>
        <p:spPr>
          <a:xfrm>
            <a:off x="6355080" y="4416552"/>
            <a:ext cx="4754880" cy="1051560"/>
          </a:xfrm>
          <a:prstGeom prst="rect">
            <a:avLst/>
          </a:prstGeom>
          <a:noFill/>
          <a:ln/>
        </p:spPr>
        <p:txBody>
          <a:bodyPr wrap="square" lIns="0" tIns="0" rIns="0" bIns="0" rtlCol="0" anchor="ctr"/>
          <a:lstStyle/>
          <a:p>
            <a:pPr marL="0" indent="0">
              <a:lnSpc>
                <a:spcPct val="112000"/>
              </a:lnSpc>
              <a:buNone/>
            </a:pPr>
            <a:r>
              <a:rPr lang="en-US" sz="1200" dirty="0">
                <a:solidFill>
                  <a:srgbClr val="2C1A0E"/>
                </a:solidFill>
                <a:latin typeface="Calibri" pitchFamily="34" charset="0"/>
                <a:ea typeface="Calibri" pitchFamily="34" charset="-122"/>
                <a:cs typeface="Calibri" pitchFamily="34" charset="-120"/>
              </a:rPr>
              <a:t>Le plancher de la </a:t>
            </a:r>
            <a:r>
              <a:rPr lang="en-US" sz="1200" dirty="0" err="1">
                <a:solidFill>
                  <a:srgbClr val="2C1A0E"/>
                </a:solidFill>
                <a:latin typeface="Calibri" pitchFamily="34" charset="0"/>
                <a:ea typeface="Calibri" pitchFamily="34" charset="-122"/>
                <a:cs typeface="Calibri" pitchFamily="34" charset="-120"/>
              </a:rPr>
              <a:t>hiérarchie</a:t>
            </a:r>
            <a:r>
              <a:rPr lang="en-US" sz="1200" dirty="0">
                <a:solidFill>
                  <a:srgbClr val="2C1A0E"/>
                </a:solidFill>
                <a:latin typeface="Calibri" pitchFamily="34" charset="0"/>
                <a:ea typeface="Calibri" pitchFamily="34" charset="-122"/>
                <a:cs typeface="Calibri" pitchFamily="34" charset="-120"/>
              </a:rPr>
              <a:t>, consultation des documents publics de son UO, ou privés s'il est membre du groupe d'accès.</a:t>
            </a:r>
            <a:endParaRPr lang="en-US" sz="1200" dirty="0"/>
          </a:p>
        </p:txBody>
      </p:sp>
      <p:sp>
        <p:nvSpPr>
          <p:cNvPr id="18" name="Text 15"/>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9" name="Text 16"/>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16671" y="570951"/>
            <a:ext cx="430865" cy="430865"/>
          </a:xfrm>
          <a:prstGeom prst="rect">
            <a:avLst/>
          </a:prstGeom>
        </p:spPr>
      </p:pic>
      <p:sp>
        <p:nvSpPr>
          <p:cNvPr id="4" name="Text 1"/>
          <p:cNvSpPr txBox="1"/>
          <p:nvPr/>
        </p:nvSpPr>
        <p:spPr>
          <a:xfrm>
            <a:off x="1234440" y="475488"/>
            <a:ext cx="9144000" cy="640080"/>
          </a:xfrm>
          <a:prstGeom prst="rect">
            <a:avLst/>
          </a:prstGeom>
          <a:noFill/>
          <a:ln/>
        </p:spPr>
        <p:txBody>
          <a:bodyPr wrap="square" lIns="0" tIns="0" rIns="0" bIns="0" rtlCol="0" anchor="ctr"/>
          <a:lstStyle/>
          <a:p>
            <a:pPr marL="0" indent="0">
              <a:buNone/>
            </a:pPr>
            <a:r>
              <a:rPr lang="en-US" sz="3000" b="1" dirty="0">
                <a:solidFill>
                  <a:srgbClr val="2C1A0E"/>
                </a:solidFill>
                <a:latin typeface="Cambria" pitchFamily="34" charset="0"/>
                <a:ea typeface="Cambria" pitchFamily="34" charset="-122"/>
                <a:cs typeface="Cambria" pitchFamily="34" charset="-120"/>
              </a:rPr>
              <a:t>Cycle de vie d'un document</a:t>
            </a:r>
            <a:endParaRPr lang="en-US" sz="3000" dirty="0"/>
          </a:p>
        </p:txBody>
      </p:sp>
      <p:sp>
        <p:nvSpPr>
          <p:cNvPr id="5" name="Text 2"/>
          <p:cNvSpPr txBox="1"/>
          <p:nvPr/>
        </p:nvSpPr>
        <p:spPr>
          <a:xfrm>
            <a:off x="1280160" y="1170432"/>
            <a:ext cx="9692640" cy="411480"/>
          </a:xfrm>
          <a:prstGeom prst="rect">
            <a:avLst/>
          </a:prstGeom>
          <a:noFill/>
          <a:ln/>
        </p:spPr>
        <p:txBody>
          <a:bodyPr wrap="square" lIns="0" tIns="0" rIns="0" bIns="0" rtlCol="0" anchor="ctr"/>
          <a:lstStyle/>
          <a:p>
            <a:pPr marL="0" indent="0">
              <a:buNone/>
            </a:pPr>
            <a:r>
              <a:rPr lang="en-US" sz="1350" dirty="0">
                <a:solidFill>
                  <a:srgbClr val="7C6552"/>
                </a:solidFill>
                <a:latin typeface="Calibri" pitchFamily="34" charset="0"/>
                <a:ea typeface="Calibri" pitchFamily="34" charset="-122"/>
                <a:cs typeface="Calibri" pitchFamily="34" charset="-120"/>
              </a:rPr>
              <a:t>Six statuts possibles : PENDING → ACTIVE / → CORRUPTED → CORBEILLE → DELETED.</a:t>
            </a:r>
            <a:endParaRPr lang="en-US" sz="1350" dirty="0"/>
          </a:p>
        </p:txBody>
      </p:sp>
      <p:sp>
        <p:nvSpPr>
          <p:cNvPr id="6" name="Shape 3"/>
          <p:cNvSpPr/>
          <p:nvPr/>
        </p:nvSpPr>
        <p:spPr>
          <a:xfrm>
            <a:off x="548640" y="2788920"/>
            <a:ext cx="1755648" cy="1554480"/>
          </a:xfrm>
          <a:prstGeom prst="roundRect">
            <a:avLst>
              <a:gd name="adj" fmla="val 4706"/>
            </a:avLst>
          </a:prstGeom>
          <a:solidFill>
            <a:srgbClr val="F3E9DA"/>
          </a:solidFill>
          <a:ln/>
        </p:spPr>
      </p:sp>
      <p:sp>
        <p:nvSpPr>
          <p:cNvPr id="7" name="Text 4"/>
          <p:cNvSpPr txBox="1"/>
          <p:nvPr/>
        </p:nvSpPr>
        <p:spPr>
          <a:xfrm>
            <a:off x="685800"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1</a:t>
            </a:r>
            <a:endParaRPr lang="en-US" sz="2000" dirty="0"/>
          </a:p>
        </p:txBody>
      </p:sp>
      <p:sp>
        <p:nvSpPr>
          <p:cNvPr id="8" name="Text 5"/>
          <p:cNvSpPr txBox="1"/>
          <p:nvPr/>
        </p:nvSpPr>
        <p:spPr>
          <a:xfrm>
            <a:off x="685800" y="3355848"/>
            <a:ext cx="1481328" cy="594360"/>
          </a:xfrm>
          <a:prstGeom prst="rect">
            <a:avLst/>
          </a:prstGeom>
          <a:noFill/>
          <a:ln/>
        </p:spPr>
        <p:txBody>
          <a:bodyPr wrap="square" lIns="0" tIns="0" rIns="0" bIns="0" rtlCol="0" anchor="ctr"/>
          <a:lstStyle/>
          <a:p>
            <a:pPr marL="0" indent="0">
              <a:lnSpc>
                <a:spcPct val="105000"/>
              </a:lnSpc>
              <a:buNone/>
            </a:pPr>
            <a:r>
              <a:rPr lang="en-US" sz="1250" b="1" dirty="0">
                <a:solidFill>
                  <a:srgbClr val="2C1A0E"/>
                </a:solidFill>
                <a:latin typeface="Calibri" pitchFamily="34" charset="0"/>
                <a:ea typeface="Calibri" pitchFamily="34" charset="-122"/>
                <a:cs typeface="Calibri" pitchFamily="34" charset="-120"/>
              </a:rPr>
              <a:t>Upload</a:t>
            </a:r>
            <a:endParaRPr lang="en-US" sz="1250" dirty="0"/>
          </a:p>
        </p:txBody>
      </p:sp>
      <p:sp>
        <p:nvSpPr>
          <p:cNvPr id="9" name="Text 6"/>
          <p:cNvSpPr txBox="1"/>
          <p:nvPr/>
        </p:nvSpPr>
        <p:spPr>
          <a:xfrm>
            <a:off x="685800" y="3886200"/>
            <a:ext cx="1481328" cy="384048"/>
          </a:xfrm>
          <a:prstGeom prst="rect">
            <a:avLst/>
          </a:prstGeom>
          <a:noFill/>
          <a:ln/>
        </p:spPr>
        <p:txBody>
          <a:bodyPr wrap="square" lIns="0" tIns="0" rIns="0" bIns="0" rtlCol="0" anchor="ctr"/>
          <a:lstStyle/>
          <a:p>
            <a:pPr marL="0" indent="0">
              <a:buNone/>
            </a:pPr>
            <a:r>
              <a:rPr lang="en-US" sz="950" dirty="0">
                <a:solidFill>
                  <a:srgbClr val="7C6552"/>
                </a:solidFill>
                <a:latin typeface="Calibri" pitchFamily="34" charset="0"/>
                <a:ea typeface="Calibri" pitchFamily="34" charset="-122"/>
                <a:cs typeface="Calibri" pitchFamily="34" charset="-120"/>
              </a:rPr>
              <a:t>docx, odt, jpg, pdf…</a:t>
            </a:r>
            <a:endParaRPr lang="en-US" sz="950" dirty="0"/>
          </a:p>
        </p:txBody>
      </p:sp>
      <p:sp>
        <p:nvSpPr>
          <p:cNvPr id="10" name="Text 7"/>
          <p:cNvSpPr txBox="1"/>
          <p:nvPr/>
        </p:nvSpPr>
        <p:spPr>
          <a:xfrm>
            <a:off x="2286000" y="3364992"/>
            <a:ext cx="397764" cy="365760"/>
          </a:xfrm>
          <a:prstGeom prst="rect">
            <a:avLst/>
          </a:prstGeom>
          <a:noFill/>
          <a:ln/>
        </p:spPr>
        <p:txBody>
          <a:bodyPr wrap="square" lIns="0" tIns="0" rIns="0" bIns="0" rtlCol="0" anchor="ctr"/>
          <a:lstStyle/>
          <a:p>
            <a:pPr marL="0" indent="0" algn="ctr">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2427732" y="2788920"/>
            <a:ext cx="1755648" cy="1554480"/>
          </a:xfrm>
          <a:prstGeom prst="roundRect">
            <a:avLst>
              <a:gd name="adj" fmla="val 4706"/>
            </a:avLst>
          </a:prstGeom>
          <a:solidFill>
            <a:srgbClr val="F3E9DA"/>
          </a:solidFill>
          <a:ln/>
        </p:spPr>
      </p:sp>
      <p:sp>
        <p:nvSpPr>
          <p:cNvPr id="12" name="Text 9"/>
          <p:cNvSpPr txBox="1"/>
          <p:nvPr/>
        </p:nvSpPr>
        <p:spPr>
          <a:xfrm>
            <a:off x="2564892"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2564892" y="3355848"/>
            <a:ext cx="1481328" cy="594360"/>
          </a:xfrm>
          <a:prstGeom prst="rect">
            <a:avLst/>
          </a:prstGeom>
          <a:noFill/>
          <a:ln/>
        </p:spPr>
        <p:txBody>
          <a:bodyPr wrap="square" lIns="0" tIns="0" rIns="0" bIns="0" rtlCol="0" anchor="ctr"/>
          <a:lstStyle/>
          <a:p>
            <a:pPr marL="0" indent="0">
              <a:lnSpc>
                <a:spcPct val="105000"/>
              </a:lnSpc>
              <a:buNone/>
            </a:pPr>
            <a:r>
              <a:rPr lang="en-US" sz="1250" b="1" dirty="0">
                <a:solidFill>
                  <a:srgbClr val="2C1A0E"/>
                </a:solidFill>
                <a:latin typeface="Calibri" pitchFamily="34" charset="0"/>
                <a:ea typeface="Calibri" pitchFamily="34" charset="-122"/>
                <a:cs typeface="Calibri" pitchFamily="34" charset="-120"/>
              </a:rPr>
              <a:t>OCR + suggestions</a:t>
            </a:r>
            <a:endParaRPr lang="en-US" sz="1250" dirty="0"/>
          </a:p>
        </p:txBody>
      </p:sp>
      <p:sp>
        <p:nvSpPr>
          <p:cNvPr id="14" name="Text 11"/>
          <p:cNvSpPr txBox="1"/>
          <p:nvPr/>
        </p:nvSpPr>
        <p:spPr>
          <a:xfrm>
            <a:off x="2564892" y="3886200"/>
            <a:ext cx="1481328" cy="384048"/>
          </a:xfrm>
          <a:prstGeom prst="rect">
            <a:avLst/>
          </a:prstGeom>
          <a:noFill/>
          <a:ln/>
        </p:spPr>
        <p:txBody>
          <a:bodyPr wrap="square" lIns="0" tIns="0" rIns="0" bIns="0" rtlCol="0" anchor="ctr"/>
          <a:lstStyle/>
          <a:p>
            <a:pPr marL="0" indent="0">
              <a:buNone/>
            </a:pPr>
            <a:r>
              <a:rPr lang="en-US" sz="950" dirty="0">
                <a:solidFill>
                  <a:srgbClr val="7C6552"/>
                </a:solidFill>
                <a:latin typeface="Calibri" pitchFamily="34" charset="0"/>
                <a:ea typeface="Calibri" pitchFamily="34" charset="-122"/>
                <a:cs typeface="Calibri" pitchFamily="34" charset="-120"/>
              </a:rPr>
              <a:t>métadonnées pré-remplies</a:t>
            </a:r>
            <a:endParaRPr lang="en-US" sz="950" dirty="0"/>
          </a:p>
        </p:txBody>
      </p:sp>
      <p:sp>
        <p:nvSpPr>
          <p:cNvPr id="15" name="Text 12"/>
          <p:cNvSpPr txBox="1"/>
          <p:nvPr/>
        </p:nvSpPr>
        <p:spPr>
          <a:xfrm>
            <a:off x="4165092" y="3364992"/>
            <a:ext cx="397764" cy="365760"/>
          </a:xfrm>
          <a:prstGeom prst="rect">
            <a:avLst/>
          </a:prstGeom>
          <a:noFill/>
          <a:ln/>
        </p:spPr>
        <p:txBody>
          <a:bodyPr wrap="square" lIns="0" tIns="0" rIns="0" bIns="0" rtlCol="0" anchor="ctr"/>
          <a:lstStyle/>
          <a:p>
            <a:pPr marL="0" indent="0" algn="ctr">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16" name="Shape 13"/>
          <p:cNvSpPr/>
          <p:nvPr/>
        </p:nvSpPr>
        <p:spPr>
          <a:xfrm>
            <a:off x="4306824" y="2788920"/>
            <a:ext cx="1755648" cy="1554480"/>
          </a:xfrm>
          <a:prstGeom prst="roundRect">
            <a:avLst>
              <a:gd name="adj" fmla="val 4706"/>
            </a:avLst>
          </a:prstGeom>
          <a:solidFill>
            <a:srgbClr val="F3E9DA"/>
          </a:solidFill>
          <a:ln/>
        </p:spPr>
      </p:sp>
      <p:sp>
        <p:nvSpPr>
          <p:cNvPr id="17" name="Text 14"/>
          <p:cNvSpPr txBox="1"/>
          <p:nvPr/>
        </p:nvSpPr>
        <p:spPr>
          <a:xfrm>
            <a:off x="4443984"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3</a:t>
            </a:r>
            <a:endParaRPr lang="en-US" sz="2000" dirty="0"/>
          </a:p>
        </p:txBody>
      </p:sp>
      <p:sp>
        <p:nvSpPr>
          <p:cNvPr id="18" name="Text 15"/>
          <p:cNvSpPr txBox="1"/>
          <p:nvPr/>
        </p:nvSpPr>
        <p:spPr>
          <a:xfrm>
            <a:off x="4443984" y="3355848"/>
            <a:ext cx="1481328" cy="594360"/>
          </a:xfrm>
          <a:prstGeom prst="rect">
            <a:avLst/>
          </a:prstGeom>
          <a:noFill/>
          <a:ln/>
        </p:spPr>
        <p:txBody>
          <a:bodyPr wrap="square" lIns="0" tIns="0" rIns="0" bIns="0" rtlCol="0" anchor="ctr"/>
          <a:lstStyle/>
          <a:p>
            <a:pPr marL="0" indent="0">
              <a:lnSpc>
                <a:spcPct val="105000"/>
              </a:lnSpc>
              <a:buNone/>
            </a:pPr>
            <a:r>
              <a:rPr lang="en-US" sz="1250" b="1" dirty="0">
                <a:solidFill>
                  <a:srgbClr val="2C1A0E"/>
                </a:solidFill>
                <a:latin typeface="Calibri" pitchFamily="34" charset="0"/>
                <a:ea typeface="Calibri" pitchFamily="34" charset="-122"/>
                <a:cs typeface="Calibri" pitchFamily="34" charset="-120"/>
              </a:rPr>
              <a:t>Conversion PDF/A-3b</a:t>
            </a:r>
            <a:endParaRPr lang="en-US" sz="1250" dirty="0"/>
          </a:p>
        </p:txBody>
      </p:sp>
      <p:sp>
        <p:nvSpPr>
          <p:cNvPr id="19" name="Text 16"/>
          <p:cNvSpPr txBox="1"/>
          <p:nvPr/>
        </p:nvSpPr>
        <p:spPr>
          <a:xfrm>
            <a:off x="4443984" y="3886200"/>
            <a:ext cx="1481328" cy="384048"/>
          </a:xfrm>
          <a:prstGeom prst="rect">
            <a:avLst/>
          </a:prstGeom>
          <a:noFill/>
          <a:ln/>
        </p:spPr>
        <p:txBody>
          <a:bodyPr wrap="square" lIns="0" tIns="0" rIns="0" bIns="0" rtlCol="0" anchor="ctr"/>
          <a:lstStyle/>
          <a:p>
            <a:pPr marL="0" indent="0">
              <a:buNone/>
            </a:pPr>
            <a:r>
              <a:rPr lang="en-US" sz="950" dirty="0">
                <a:solidFill>
                  <a:srgbClr val="7C6552"/>
                </a:solidFill>
                <a:latin typeface="Calibri" pitchFamily="34" charset="0"/>
                <a:ea typeface="Calibri" pitchFamily="34" charset="-122"/>
                <a:cs typeface="Calibri" pitchFamily="34" charset="-120"/>
              </a:rPr>
              <a:t>LibreOffice + PDFBox</a:t>
            </a:r>
            <a:endParaRPr lang="en-US" sz="950" dirty="0"/>
          </a:p>
        </p:txBody>
      </p:sp>
      <p:sp>
        <p:nvSpPr>
          <p:cNvPr id="20" name="Text 17"/>
          <p:cNvSpPr txBox="1"/>
          <p:nvPr/>
        </p:nvSpPr>
        <p:spPr>
          <a:xfrm>
            <a:off x="6044184" y="3364992"/>
            <a:ext cx="397764" cy="365760"/>
          </a:xfrm>
          <a:prstGeom prst="rect">
            <a:avLst/>
          </a:prstGeom>
          <a:noFill/>
          <a:ln/>
        </p:spPr>
        <p:txBody>
          <a:bodyPr wrap="square" lIns="0" tIns="0" rIns="0" bIns="0" rtlCol="0" anchor="ctr"/>
          <a:lstStyle/>
          <a:p>
            <a:pPr marL="0" indent="0" algn="ctr">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21" name="Shape 18"/>
          <p:cNvSpPr/>
          <p:nvPr/>
        </p:nvSpPr>
        <p:spPr>
          <a:xfrm>
            <a:off x="6185916" y="2788920"/>
            <a:ext cx="1755648" cy="1554480"/>
          </a:xfrm>
          <a:prstGeom prst="roundRect">
            <a:avLst>
              <a:gd name="adj" fmla="val 4706"/>
            </a:avLst>
          </a:prstGeom>
          <a:solidFill>
            <a:srgbClr val="F3E9DA"/>
          </a:solidFill>
          <a:ln/>
        </p:spPr>
      </p:sp>
      <p:sp>
        <p:nvSpPr>
          <p:cNvPr id="22" name="Text 19"/>
          <p:cNvSpPr txBox="1"/>
          <p:nvPr/>
        </p:nvSpPr>
        <p:spPr>
          <a:xfrm>
            <a:off x="6323076"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4</a:t>
            </a:r>
            <a:endParaRPr lang="en-US" sz="2000" dirty="0"/>
          </a:p>
        </p:txBody>
      </p:sp>
      <p:sp>
        <p:nvSpPr>
          <p:cNvPr id="23" name="Text 20"/>
          <p:cNvSpPr txBox="1"/>
          <p:nvPr/>
        </p:nvSpPr>
        <p:spPr>
          <a:xfrm>
            <a:off x="6323076" y="3355848"/>
            <a:ext cx="1481328" cy="594360"/>
          </a:xfrm>
          <a:prstGeom prst="rect">
            <a:avLst/>
          </a:prstGeom>
          <a:noFill/>
          <a:ln/>
        </p:spPr>
        <p:txBody>
          <a:bodyPr wrap="square" lIns="0" tIns="0" rIns="0" bIns="0" rtlCol="0" anchor="ctr"/>
          <a:lstStyle/>
          <a:p>
            <a:pPr marL="0" indent="0">
              <a:lnSpc>
                <a:spcPct val="105000"/>
              </a:lnSpc>
              <a:buNone/>
            </a:pPr>
            <a:r>
              <a:rPr lang="en-US" sz="1250" b="1" dirty="0">
                <a:solidFill>
                  <a:srgbClr val="2C1A0E"/>
                </a:solidFill>
                <a:latin typeface="Calibri" pitchFamily="34" charset="0"/>
                <a:ea typeface="Calibri" pitchFamily="34" charset="-122"/>
                <a:cs typeface="Calibri" pitchFamily="34" charset="-120"/>
              </a:rPr>
              <a:t>Signature PKI</a:t>
            </a:r>
            <a:endParaRPr lang="en-US" sz="1250" dirty="0"/>
          </a:p>
        </p:txBody>
      </p:sp>
      <p:sp>
        <p:nvSpPr>
          <p:cNvPr id="24" name="Text 21"/>
          <p:cNvSpPr txBox="1"/>
          <p:nvPr/>
        </p:nvSpPr>
        <p:spPr>
          <a:xfrm>
            <a:off x="6323076" y="3886200"/>
            <a:ext cx="1481328" cy="384048"/>
          </a:xfrm>
          <a:prstGeom prst="rect">
            <a:avLst/>
          </a:prstGeom>
          <a:noFill/>
          <a:ln/>
        </p:spPr>
        <p:txBody>
          <a:bodyPr wrap="square" lIns="0" tIns="0" rIns="0" bIns="0" rtlCol="0" anchor="ctr"/>
          <a:lstStyle/>
          <a:p>
            <a:pPr marL="0" indent="0">
              <a:buNone/>
            </a:pPr>
            <a:r>
              <a:rPr lang="en-US" sz="950" dirty="0">
                <a:solidFill>
                  <a:srgbClr val="7C6552"/>
                </a:solidFill>
                <a:latin typeface="Calibri" pitchFamily="34" charset="0"/>
                <a:ea typeface="Calibri" pitchFamily="34" charset="-122"/>
                <a:cs typeface="Calibri" pitchFamily="34" charset="-120"/>
              </a:rPr>
              <a:t>clé HSM de l'éditeur</a:t>
            </a:r>
            <a:endParaRPr lang="en-US" sz="950" dirty="0"/>
          </a:p>
        </p:txBody>
      </p:sp>
      <p:sp>
        <p:nvSpPr>
          <p:cNvPr id="25" name="Text 22"/>
          <p:cNvSpPr txBox="1"/>
          <p:nvPr/>
        </p:nvSpPr>
        <p:spPr>
          <a:xfrm>
            <a:off x="7923276" y="3364992"/>
            <a:ext cx="397764" cy="365760"/>
          </a:xfrm>
          <a:prstGeom prst="rect">
            <a:avLst/>
          </a:prstGeom>
          <a:noFill/>
          <a:ln/>
        </p:spPr>
        <p:txBody>
          <a:bodyPr wrap="square" lIns="0" tIns="0" rIns="0" bIns="0" rtlCol="0" anchor="ctr"/>
          <a:lstStyle/>
          <a:p>
            <a:pPr marL="0" indent="0" algn="ctr">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26" name="Shape 23"/>
          <p:cNvSpPr/>
          <p:nvPr/>
        </p:nvSpPr>
        <p:spPr>
          <a:xfrm>
            <a:off x="8065008" y="2788920"/>
            <a:ext cx="1755648" cy="1554480"/>
          </a:xfrm>
          <a:prstGeom prst="roundRect">
            <a:avLst>
              <a:gd name="adj" fmla="val 4706"/>
            </a:avLst>
          </a:prstGeom>
          <a:solidFill>
            <a:srgbClr val="F3E9DA"/>
          </a:solidFill>
          <a:ln/>
        </p:spPr>
      </p:sp>
      <p:sp>
        <p:nvSpPr>
          <p:cNvPr id="27" name="Text 24"/>
          <p:cNvSpPr txBox="1"/>
          <p:nvPr/>
        </p:nvSpPr>
        <p:spPr>
          <a:xfrm>
            <a:off x="8202168"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5</a:t>
            </a:r>
            <a:endParaRPr lang="en-US" sz="2000" dirty="0"/>
          </a:p>
        </p:txBody>
      </p:sp>
      <p:sp>
        <p:nvSpPr>
          <p:cNvPr id="28" name="Text 25"/>
          <p:cNvSpPr txBox="1"/>
          <p:nvPr/>
        </p:nvSpPr>
        <p:spPr>
          <a:xfrm>
            <a:off x="8202168" y="3355848"/>
            <a:ext cx="1481328" cy="594360"/>
          </a:xfrm>
          <a:prstGeom prst="rect">
            <a:avLst/>
          </a:prstGeom>
          <a:noFill/>
          <a:ln/>
        </p:spPr>
        <p:txBody>
          <a:bodyPr wrap="square" lIns="0" tIns="0" rIns="0" bIns="0" rtlCol="0" anchor="ctr"/>
          <a:lstStyle/>
          <a:p>
            <a:pPr marL="0" indent="0">
              <a:lnSpc>
                <a:spcPct val="105000"/>
              </a:lnSpc>
              <a:buNone/>
            </a:pPr>
            <a:r>
              <a:rPr lang="en-US" sz="1250" b="1" dirty="0">
                <a:solidFill>
                  <a:srgbClr val="2C1A0E"/>
                </a:solidFill>
                <a:latin typeface="Calibri" pitchFamily="34" charset="0"/>
                <a:ea typeface="Calibri" pitchFamily="34" charset="-122"/>
                <a:cs typeface="Calibri" pitchFamily="34" charset="-120"/>
              </a:rPr>
              <a:t>Chiffrement</a:t>
            </a:r>
            <a:endParaRPr lang="en-US" sz="1250" dirty="0"/>
          </a:p>
        </p:txBody>
      </p:sp>
      <p:sp>
        <p:nvSpPr>
          <p:cNvPr id="29" name="Text 26"/>
          <p:cNvSpPr txBox="1"/>
          <p:nvPr/>
        </p:nvSpPr>
        <p:spPr>
          <a:xfrm>
            <a:off x="8202168" y="3886200"/>
            <a:ext cx="1481328" cy="384048"/>
          </a:xfrm>
          <a:prstGeom prst="rect">
            <a:avLst/>
          </a:prstGeom>
          <a:noFill/>
          <a:ln/>
        </p:spPr>
        <p:txBody>
          <a:bodyPr wrap="square" lIns="0" tIns="0" rIns="0" bIns="0" rtlCol="0" anchor="ctr"/>
          <a:lstStyle/>
          <a:p>
            <a:pPr marL="0" indent="0">
              <a:buNone/>
            </a:pPr>
            <a:r>
              <a:rPr lang="en-US" sz="950" dirty="0">
                <a:solidFill>
                  <a:srgbClr val="7C6552"/>
                </a:solidFill>
                <a:latin typeface="Calibri" pitchFamily="34" charset="0"/>
                <a:ea typeface="Calibri" pitchFamily="34" charset="-122"/>
                <a:cs typeface="Calibri" pitchFamily="34" charset="-120"/>
              </a:rPr>
              <a:t>AES-256-GCM</a:t>
            </a:r>
            <a:endParaRPr lang="en-US" sz="950" dirty="0"/>
          </a:p>
        </p:txBody>
      </p:sp>
      <p:sp>
        <p:nvSpPr>
          <p:cNvPr id="30" name="Text 27"/>
          <p:cNvSpPr txBox="1"/>
          <p:nvPr/>
        </p:nvSpPr>
        <p:spPr>
          <a:xfrm>
            <a:off x="9802368" y="3364992"/>
            <a:ext cx="397764" cy="365760"/>
          </a:xfrm>
          <a:prstGeom prst="rect">
            <a:avLst/>
          </a:prstGeom>
          <a:noFill/>
          <a:ln/>
        </p:spPr>
        <p:txBody>
          <a:bodyPr wrap="square" lIns="0" tIns="0" rIns="0" bIns="0" rtlCol="0" anchor="ctr"/>
          <a:lstStyle/>
          <a:p>
            <a:pPr marL="0" indent="0" algn="ctr">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31" name="Shape 28"/>
          <p:cNvSpPr/>
          <p:nvPr/>
        </p:nvSpPr>
        <p:spPr>
          <a:xfrm>
            <a:off x="9944100" y="2788920"/>
            <a:ext cx="1755648" cy="1554480"/>
          </a:xfrm>
          <a:prstGeom prst="roundRect">
            <a:avLst>
              <a:gd name="adj" fmla="val 4706"/>
            </a:avLst>
          </a:prstGeom>
          <a:solidFill>
            <a:srgbClr val="B5813F"/>
          </a:solidFill>
          <a:ln/>
        </p:spPr>
      </p:sp>
      <p:sp>
        <p:nvSpPr>
          <p:cNvPr id="32" name="Text 29"/>
          <p:cNvSpPr txBox="1"/>
          <p:nvPr/>
        </p:nvSpPr>
        <p:spPr>
          <a:xfrm>
            <a:off x="10081260" y="2898648"/>
            <a:ext cx="548640" cy="36576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3" name="Text 30"/>
          <p:cNvSpPr txBox="1"/>
          <p:nvPr/>
        </p:nvSpPr>
        <p:spPr>
          <a:xfrm>
            <a:off x="10081260" y="3355848"/>
            <a:ext cx="1481328" cy="594360"/>
          </a:xfrm>
          <a:prstGeom prst="rect">
            <a:avLst/>
          </a:prstGeom>
          <a:noFill/>
          <a:ln/>
        </p:spPr>
        <p:txBody>
          <a:bodyPr wrap="square" lIns="0" tIns="0" rIns="0" bIns="0" rtlCol="0" anchor="ctr"/>
          <a:lstStyle/>
          <a:p>
            <a:pPr marL="0" indent="0">
              <a:lnSpc>
                <a:spcPct val="105000"/>
              </a:lnSpc>
              <a:buNone/>
            </a:pPr>
            <a:r>
              <a:rPr lang="en-US" sz="1250" b="1" dirty="0">
                <a:solidFill>
                  <a:srgbClr val="FFFFFF"/>
                </a:solidFill>
                <a:latin typeface="Calibri" pitchFamily="34" charset="0"/>
                <a:ea typeface="Calibri" pitchFamily="34" charset="-122"/>
                <a:cs typeface="Calibri" pitchFamily="34" charset="-120"/>
              </a:rPr>
              <a:t>Archivage MinIO</a:t>
            </a:r>
            <a:endParaRPr lang="en-US" sz="1250" dirty="0"/>
          </a:p>
        </p:txBody>
      </p:sp>
      <p:sp>
        <p:nvSpPr>
          <p:cNvPr id="34" name="Text 31"/>
          <p:cNvSpPr txBox="1"/>
          <p:nvPr/>
        </p:nvSpPr>
        <p:spPr>
          <a:xfrm>
            <a:off x="10081260" y="3886200"/>
            <a:ext cx="1481328" cy="384048"/>
          </a:xfrm>
          <a:prstGeom prst="rect">
            <a:avLst/>
          </a:prstGeom>
          <a:noFill/>
          <a:ln/>
        </p:spPr>
        <p:txBody>
          <a:bodyPr wrap="square" lIns="0" tIns="0" rIns="0" bIns="0" rtlCol="0" anchor="ctr"/>
          <a:lstStyle/>
          <a:p>
            <a:pPr marL="0" indent="0">
              <a:buNone/>
            </a:pPr>
            <a:r>
              <a:rPr lang="en-US" sz="950" dirty="0">
                <a:solidFill>
                  <a:srgbClr val="F3E9DA"/>
                </a:solidFill>
                <a:latin typeface="Calibri" pitchFamily="34" charset="0"/>
                <a:ea typeface="Calibri" pitchFamily="34" charset="-122"/>
                <a:cs typeface="Calibri" pitchFamily="34" charset="-120"/>
              </a:rPr>
              <a:t>statut ACTIVE</a:t>
            </a:r>
            <a:endParaRPr lang="en-US" sz="950" dirty="0"/>
          </a:p>
        </p:txBody>
      </p:sp>
      <p:sp>
        <p:nvSpPr>
          <p:cNvPr id="35" name="Text 32"/>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6" name="Text 33"/>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marL="0" indent="0">
              <a:buNone/>
            </a:pPr>
            <a:r>
              <a:rPr lang="en-US" sz="1200" kern="0" spc="200" dirty="0">
                <a:solidFill>
                  <a:srgbClr val="D9AE6C"/>
                </a:solidFill>
                <a:latin typeface="Calibri" pitchFamily="34" charset="0"/>
                <a:ea typeface="Calibri" pitchFamily="34" charset="-122"/>
                <a:cs typeface="Calibri" pitchFamily="34" charset="-120"/>
              </a:rPr>
              <a:t>PARTIE 1</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Identité &amp; organisation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AUTHENTIFICATION &amp; SESSIONS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JWT + invalidation serveur immédiate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2564892"/>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Connexion par JWT (access + refresh token).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session peut être invalidée immédiatement </a:t>
            </a:r>
            <a:r>
              <a:rPr lang="en-US" sz="1450" dirty="0" err="1">
                <a:solidFill>
                  <a:srgbClr val="2C1A0E"/>
                </a:solidFill>
                <a:latin typeface="Calibri" pitchFamily="34" charset="0"/>
                <a:ea typeface="Calibri" pitchFamily="34" charset="-122"/>
                <a:cs typeface="Calibri" pitchFamily="34" charset="-120"/>
              </a:rPr>
              <a:t>côté</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serveur</a:t>
            </a:r>
            <a:r>
              <a:rPr lang="en-US" sz="1450" dirty="0">
                <a:solidFill>
                  <a:srgbClr val="2C1A0E"/>
                </a:solidFill>
                <a:latin typeface="Calibri" pitchFamily="34" charset="0"/>
                <a:ea typeface="Calibri" pitchFamily="34" charset="-122"/>
                <a:cs typeface="Calibri" pitchFamily="34" charset="-120"/>
              </a:rPr>
              <a:t>: changement de rôle, de mot de passe, transfert d'UO, ou suppression de compte.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L'utilisateur voit un message avant d'être déconnecté, jamais une coupure silencieuse.</a:t>
            </a:r>
            <a:endParaRPr lang="en-US" sz="1450" dirty="0"/>
          </a:p>
        </p:txBody>
      </p:sp>
      <p:sp>
        <p:nvSpPr>
          <p:cNvPr id="8" name="Shape 5"/>
          <p:cNvSpPr/>
          <p:nvPr/>
        </p:nvSpPr>
        <p:spPr>
          <a:xfrm>
            <a:off x="548640" y="4201668"/>
            <a:ext cx="10881360" cy="1143000"/>
          </a:xfrm>
          <a:prstGeom prst="roundRect">
            <a:avLst>
              <a:gd name="adj" fmla="val 6400"/>
            </a:avLst>
          </a:prstGeom>
          <a:solidFill>
            <a:srgbClr val="F3E9DA"/>
          </a:solidFill>
          <a:ln/>
        </p:spPr>
      </p:sp>
      <p:sp>
        <p:nvSpPr>
          <p:cNvPr id="9" name="Text 6"/>
          <p:cNvSpPr txBox="1"/>
          <p:nvPr/>
        </p:nvSpPr>
        <p:spPr>
          <a:xfrm>
            <a:off x="868680" y="433882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58571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 JWT reste valide jusqu'à expiration par nature — sans ce mécanisme, un utilisateur transféré, rétrogradé ou supprimé garderait un accès complet avec ses anciens droits pendant 15 minutes.</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UNITÉS ORGANISATIONNELLES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Hiérarchie d'UO &amp; transfert d'utilisateurs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564892"/>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UO s'emboîtent en arbre (une UO racine, des UO filles).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t>
            </a:r>
            <a:r>
              <a:rPr lang="en-US" sz="1450" dirty="0" err="1">
                <a:solidFill>
                  <a:srgbClr val="2C1A0E"/>
                </a:solidFill>
                <a:latin typeface="Calibri" pitchFamily="34" charset="0"/>
                <a:ea typeface="Calibri" pitchFamily="34" charset="-122"/>
                <a:cs typeface="Calibri" pitchFamily="34" charset="-120"/>
              </a:rPr>
              <a:t>utilisateur</a:t>
            </a:r>
            <a:r>
              <a:rPr lang="en-US" sz="1450" dirty="0">
                <a:solidFill>
                  <a:srgbClr val="2C1A0E"/>
                </a:solidFill>
                <a:latin typeface="Calibri" pitchFamily="34" charset="0"/>
                <a:ea typeface="Calibri" pitchFamily="34" charset="-122"/>
                <a:cs typeface="Calibri" pitchFamily="34" charset="-120"/>
              </a:rPr>
              <a:t> hors Admin appartient à une seule UO active à la fois.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transférer désactive son ancienne appartenance et déconnecte sa session en cours.</a:t>
            </a:r>
            <a:endParaRPr lang="en-US" sz="1450" dirty="0"/>
          </a:p>
        </p:txBody>
      </p:sp>
      <p:sp>
        <p:nvSpPr>
          <p:cNvPr id="8" name="Shape 5"/>
          <p:cNvSpPr/>
          <p:nvPr/>
        </p:nvSpPr>
        <p:spPr>
          <a:xfrm>
            <a:off x="548640" y="4201668"/>
            <a:ext cx="10881360" cy="1143000"/>
          </a:xfrm>
          <a:prstGeom prst="roundRect">
            <a:avLst>
              <a:gd name="adj" fmla="val 6400"/>
            </a:avLst>
          </a:prstGeom>
          <a:solidFill>
            <a:srgbClr val="F3E9DA"/>
          </a:solidFill>
          <a:ln/>
        </p:spPr>
      </p:sp>
      <p:sp>
        <p:nvSpPr>
          <p:cNvPr id="9" name="Text 6"/>
          <p:cNvSpPr txBox="1"/>
          <p:nvPr/>
        </p:nvSpPr>
        <p:spPr>
          <a:xfrm>
            <a:off x="868680" y="433882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58571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Une institution réelle a des départements/filiales avec des périmètres de documents distincts — la visibilité publique reste bornée à l'UO du propriétaire et ses descendantes, jamais à l'organisation entière par défaut.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UTILISATEURS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Suppression à deux temps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564892"/>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suppression désactive immédiatement le compte (mot de passe invalidé, clé PKI révoquée si éditeur).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Délai de grâce de 2 jours avant la purge </a:t>
            </a:r>
            <a:r>
              <a:rPr lang="en-US" sz="1450" dirty="0" err="1">
                <a:solidFill>
                  <a:srgbClr val="2C1A0E"/>
                </a:solidFill>
                <a:latin typeface="Calibri" pitchFamily="34" charset="0"/>
                <a:ea typeface="Calibri" pitchFamily="34" charset="-122"/>
                <a:cs typeface="Calibri" pitchFamily="34" charset="-120"/>
              </a:rPr>
              <a:t>définitive</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annulable</a:t>
            </a:r>
            <a:r>
              <a:rPr lang="en-US" sz="1450" dirty="0">
                <a:solidFill>
                  <a:srgbClr val="2C1A0E"/>
                </a:solidFill>
                <a:latin typeface="Calibri" pitchFamily="34" charset="0"/>
                <a:ea typeface="Calibri" pitchFamily="34" charset="-122"/>
                <a:cs typeface="Calibri" pitchFamily="34" charset="-120"/>
              </a:rPr>
              <a:t> entre-temps).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Exception : un compte jamais connecté est supprimé immédiatement (rien à protéger).</a:t>
            </a:r>
            <a:endParaRPr lang="en-US" sz="1450" dirty="0"/>
          </a:p>
        </p:txBody>
      </p:sp>
      <p:sp>
        <p:nvSpPr>
          <p:cNvPr id="8" name="Shape 5"/>
          <p:cNvSpPr/>
          <p:nvPr/>
        </p:nvSpPr>
        <p:spPr>
          <a:xfrm>
            <a:off x="548640" y="4201668"/>
            <a:ext cx="10881360" cy="1143000"/>
          </a:xfrm>
          <a:prstGeom prst="roundRect">
            <a:avLst>
              <a:gd name="adj" fmla="val 6400"/>
            </a:avLst>
          </a:prstGeom>
          <a:solidFill>
            <a:srgbClr val="F3E9DA"/>
          </a:solidFill>
          <a:ln/>
        </p:spPr>
      </p:sp>
      <p:sp>
        <p:nvSpPr>
          <p:cNvPr id="9" name="Text 6"/>
          <p:cNvSpPr txBox="1"/>
          <p:nvPr/>
        </p:nvSpPr>
        <p:spPr>
          <a:xfrm>
            <a:off x="868680" y="433882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58571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Une suppression instantanée et irréversible expose à l'erreur humaine ou à un admin malveillant détruisant des comptes sans recours. Le délai de grâce laisse le temps d'annuler.</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UTILISATEURS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Protection du dernier administrateur</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toute action de gestion</a:t>
            </a:r>
            <a:endParaRPr lang="en-US" sz="1050" dirty="0"/>
          </a:p>
        </p:txBody>
      </p:sp>
      <p:sp>
        <p:nvSpPr>
          <p:cNvPr id="7" name="Text 4"/>
          <p:cNvSpPr txBox="1"/>
          <p:nvPr/>
        </p:nvSpPr>
        <p:spPr>
          <a:xfrm>
            <a:off x="548640" y="297637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Impossible de désactiver, rétrograder ou supprimer le dernier compte.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ADMIN_UO ne peut jamais agir sur un compte ADMIN </a:t>
            </a:r>
            <a:r>
              <a:rPr lang="en-US" sz="1450" dirty="0" err="1">
                <a:solidFill>
                  <a:srgbClr val="2C1A0E"/>
                </a:solidFill>
                <a:latin typeface="Calibri" pitchFamily="34" charset="0"/>
                <a:ea typeface="Calibri" pitchFamily="34" charset="-122"/>
                <a:cs typeface="Calibri" pitchFamily="34" charset="-120"/>
              </a:rPr>
              <a:t>ou</a:t>
            </a:r>
            <a:r>
              <a:rPr lang="en-US" sz="1450" dirty="0">
                <a:solidFill>
                  <a:srgbClr val="2C1A0E"/>
                </a:solidFill>
                <a:latin typeface="Calibri" pitchFamily="34" charset="0"/>
                <a:ea typeface="Calibri" pitchFamily="34" charset="-122"/>
                <a:cs typeface="Calibri" pitchFamily="34" charset="-120"/>
              </a:rPr>
              <a:t> ADMIN_UO </a:t>
            </a:r>
            <a:r>
              <a:rPr lang="en-US" sz="1450" dirty="0" err="1">
                <a:solidFill>
                  <a:srgbClr val="2C1A0E"/>
                </a:solidFill>
                <a:latin typeface="Calibri" pitchFamily="34" charset="0"/>
                <a:ea typeface="Calibri" pitchFamily="34" charset="-122"/>
                <a:cs typeface="Calibri" pitchFamily="34" charset="-120"/>
              </a:rPr>
              <a:t>d’une</a:t>
            </a:r>
            <a:r>
              <a:rPr lang="en-US" sz="1450" dirty="0">
                <a:solidFill>
                  <a:srgbClr val="2C1A0E"/>
                </a:solidFill>
                <a:latin typeface="Calibri" pitchFamily="34" charset="0"/>
                <a:ea typeface="Calibri" pitchFamily="34" charset="-122"/>
                <a:cs typeface="Calibri" pitchFamily="34" charset="-120"/>
              </a:rPr>
              <a:t> UO supérieure </a:t>
            </a:r>
            <a:r>
              <a:rPr lang="en-US" sz="1450" dirty="0" err="1">
                <a:solidFill>
                  <a:srgbClr val="2C1A0E"/>
                </a:solidFill>
                <a:latin typeface="Calibri" pitchFamily="34" charset="0"/>
                <a:ea typeface="Calibri" pitchFamily="34" charset="-122"/>
                <a:cs typeface="Calibri" pitchFamily="34" charset="-120"/>
              </a:rPr>
              <a:t>ou</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voisine</a:t>
            </a:r>
            <a:r>
              <a:rPr lang="en-US" sz="1450" dirty="0">
                <a:solidFill>
                  <a:srgbClr val="2C1A0E"/>
                </a:solidFill>
                <a:latin typeface="Calibri" pitchFamily="34" charset="0"/>
                <a:ea typeface="Calibri" pitchFamily="34" charset="-122"/>
                <a:cs typeface="Calibri" pitchFamily="34" charset="-120"/>
              </a:rPr>
              <a:t>.</a:t>
            </a:r>
            <a:endParaRPr lang="en-US" sz="1450" dirty="0"/>
          </a:p>
        </p:txBody>
      </p:sp>
      <p:sp>
        <p:nvSpPr>
          <p:cNvPr id="8" name="Shape 5"/>
          <p:cNvSpPr/>
          <p:nvPr/>
        </p:nvSpPr>
        <p:spPr>
          <a:xfrm>
            <a:off x="548640" y="4064508"/>
            <a:ext cx="10881360" cy="868680"/>
          </a:xfrm>
          <a:prstGeom prst="roundRect">
            <a:avLst>
              <a:gd name="adj" fmla="val 8421"/>
            </a:avLst>
          </a:prstGeom>
          <a:solidFill>
            <a:srgbClr val="F3E9DA"/>
          </a:solidFill>
          <a:ln/>
        </p:spPr>
      </p:sp>
      <p:sp>
        <p:nvSpPr>
          <p:cNvPr id="9" name="Text 6"/>
          <p:cNvSpPr txBox="1"/>
          <p:nvPr/>
        </p:nvSpPr>
        <p:spPr>
          <a:xfrm>
            <a:off x="868680" y="420166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448556"/>
            <a:ext cx="10241280" cy="41148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Sans cette garde, une erreur de manipulation peut rendre l'organisation </a:t>
            </a:r>
            <a:r>
              <a:rPr lang="en-US" sz="1250" dirty="0" err="1">
                <a:solidFill>
                  <a:srgbClr val="2C1A0E"/>
                </a:solidFill>
                <a:latin typeface="Calibri" pitchFamily="34" charset="0"/>
                <a:ea typeface="Calibri" pitchFamily="34" charset="-122"/>
                <a:cs typeface="Calibri" pitchFamily="34" charset="-120"/>
              </a:rPr>
              <a:t>entière</a:t>
            </a:r>
            <a:r>
              <a:rPr lang="en-US" sz="1250" dirty="0">
                <a:solidFill>
                  <a:srgbClr val="2C1A0E"/>
                </a:solidFill>
                <a:latin typeface="Calibri" pitchFamily="34" charset="0"/>
                <a:ea typeface="Calibri" pitchFamily="34" charset="-122"/>
                <a:cs typeface="Calibri" pitchFamily="34" charset="-120"/>
              </a:rPr>
              <a:t> sans administrateur, donc ingérable.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marL="0" indent="0">
              <a:buNone/>
            </a:pPr>
            <a:r>
              <a:rPr lang="en-US" sz="1200" kern="0" spc="200" dirty="0">
                <a:solidFill>
                  <a:srgbClr val="D9AE6C"/>
                </a:solidFill>
                <a:latin typeface="Calibri" pitchFamily="34" charset="0"/>
                <a:ea typeface="Calibri" pitchFamily="34" charset="-122"/>
                <a:cs typeface="Calibri" pitchFamily="34" charset="-120"/>
              </a:rPr>
              <a:t>PARTIE 2</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Archivage</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PIPELINE D'ARCHIVAGE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Upload en deux phases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EDITOR</a:t>
            </a:r>
            <a:endParaRPr lang="en-US" sz="1050" dirty="0"/>
          </a:p>
        </p:txBody>
      </p:sp>
      <p:sp>
        <p:nvSpPr>
          <p:cNvPr id="7" name="Text 4"/>
          <p:cNvSpPr txBox="1"/>
          <p:nvPr/>
        </p:nvSpPr>
        <p:spPr>
          <a:xfrm>
            <a:off x="548640" y="283921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Phase 1 (aperçu) : conversion, OCR, métadonnées </a:t>
            </a:r>
            <a:r>
              <a:rPr lang="en-US" sz="1450" dirty="0" err="1">
                <a:solidFill>
                  <a:srgbClr val="2C1A0E"/>
                </a:solidFill>
                <a:latin typeface="Calibri" pitchFamily="34" charset="0"/>
                <a:ea typeface="Calibri" pitchFamily="34" charset="-122"/>
                <a:cs typeface="Calibri" pitchFamily="34" charset="-120"/>
              </a:rPr>
              <a:t>suggérées</a:t>
            </a:r>
            <a:r>
              <a:rPr lang="en-US" sz="1450" dirty="0">
                <a:solidFill>
                  <a:srgbClr val="2C1A0E"/>
                </a:solidFill>
                <a:latin typeface="Calibri" pitchFamily="34" charset="0"/>
                <a:ea typeface="Calibri" pitchFamily="34" charset="-122"/>
                <a:cs typeface="Calibri" pitchFamily="34" charset="-120"/>
              </a:rPr>
              <a:t> : à </a:t>
            </a:r>
            <a:r>
              <a:rPr lang="en-US" sz="1450" dirty="0" err="1">
                <a:solidFill>
                  <a:srgbClr val="2C1A0E"/>
                </a:solidFill>
                <a:latin typeface="Calibri" pitchFamily="34" charset="0"/>
                <a:ea typeface="Calibri" pitchFamily="34" charset="-122"/>
                <a:cs typeface="Calibri" pitchFamily="34" charset="-120"/>
              </a:rPr>
              <a:t>ce</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niveau</a:t>
            </a:r>
            <a:r>
              <a:rPr lang="en-US" sz="1450" dirty="0">
                <a:solidFill>
                  <a:srgbClr val="2C1A0E"/>
                </a:solidFill>
                <a:latin typeface="Calibri" pitchFamily="34" charset="0"/>
                <a:ea typeface="Calibri" pitchFamily="34" charset="-122"/>
                <a:cs typeface="Calibri" pitchFamily="34" charset="-120"/>
              </a:rPr>
              <a:t> rien n'est encore écrit en base.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Phase 2 (finalisation) : l'éditeur valide/corrige, et seulement alors le document est signé, chiffré et stocké.</a:t>
            </a:r>
            <a:endParaRPr lang="en-US" sz="1450" dirty="0"/>
          </a:p>
        </p:txBody>
      </p:sp>
      <p:sp>
        <p:nvSpPr>
          <p:cNvPr id="8" name="Shape 5"/>
          <p:cNvSpPr/>
          <p:nvPr/>
        </p:nvSpPr>
        <p:spPr>
          <a:xfrm>
            <a:off x="548640" y="3927348"/>
            <a:ext cx="10881360" cy="1143000"/>
          </a:xfrm>
          <a:prstGeom prst="roundRect">
            <a:avLst>
              <a:gd name="adj" fmla="val 6400"/>
            </a:avLst>
          </a:prstGeom>
          <a:solidFill>
            <a:srgbClr val="F3E9DA"/>
          </a:solidFill>
          <a:ln/>
        </p:spPr>
      </p:sp>
      <p:sp>
        <p:nvSpPr>
          <p:cNvPr id="9" name="Text 6"/>
          <p:cNvSpPr txBox="1"/>
          <p:nvPr/>
        </p:nvSpPr>
        <p:spPr>
          <a:xfrm>
            <a:off x="868680" y="406450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1139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Séparer aperçu et finalisation évite d'archiver un document avec des métadonnées fausses </a:t>
            </a:r>
            <a:r>
              <a:rPr lang="en-US" sz="1250" dirty="0" err="1">
                <a:solidFill>
                  <a:srgbClr val="2C1A0E"/>
                </a:solidFill>
                <a:latin typeface="Calibri" pitchFamily="34" charset="0"/>
                <a:ea typeface="Calibri" pitchFamily="34" charset="-122"/>
                <a:cs typeface="Calibri" pitchFamily="34" charset="-120"/>
              </a:rPr>
              <a:t>ou</a:t>
            </a:r>
            <a:r>
              <a:rPr lang="en-US" sz="1250" dirty="0">
                <a:solidFill>
                  <a:srgbClr val="2C1A0E"/>
                </a:solidFill>
                <a:latin typeface="Calibri" pitchFamily="34" charset="0"/>
                <a:ea typeface="Calibri" pitchFamily="34" charset="-122"/>
                <a:cs typeface="Calibri" pitchFamily="34" charset="-120"/>
              </a:rPr>
              <a:t> incompletes, </a:t>
            </a:r>
            <a:r>
              <a:rPr lang="en-US" sz="1250" dirty="0" err="1">
                <a:solidFill>
                  <a:srgbClr val="2C1A0E"/>
                </a:solidFill>
                <a:latin typeface="Calibri" pitchFamily="34" charset="0"/>
                <a:ea typeface="Calibri" pitchFamily="34" charset="-122"/>
                <a:cs typeface="Calibri" pitchFamily="34" charset="-120"/>
              </a:rPr>
              <a:t>l'éditeur</a:t>
            </a:r>
            <a:r>
              <a:rPr lang="en-US" sz="1250" dirty="0">
                <a:solidFill>
                  <a:srgbClr val="2C1A0E"/>
                </a:solidFill>
                <a:latin typeface="Calibri" pitchFamily="34" charset="0"/>
                <a:ea typeface="Calibri" pitchFamily="34" charset="-122"/>
                <a:cs typeface="Calibri" pitchFamily="34" charset="-120"/>
              </a:rPr>
              <a:t> </a:t>
            </a:r>
            <a:r>
              <a:rPr lang="en-US" sz="1250" dirty="0" err="1">
                <a:solidFill>
                  <a:srgbClr val="2C1A0E"/>
                </a:solidFill>
                <a:latin typeface="Calibri" pitchFamily="34" charset="0"/>
                <a:ea typeface="Calibri" pitchFamily="34" charset="-122"/>
                <a:cs typeface="Calibri" pitchFamily="34" charset="-120"/>
              </a:rPr>
              <a:t>voit</a:t>
            </a:r>
            <a:r>
              <a:rPr lang="en-US" sz="1250" dirty="0">
                <a:solidFill>
                  <a:srgbClr val="2C1A0E"/>
                </a:solidFill>
                <a:latin typeface="Calibri" pitchFamily="34" charset="0"/>
                <a:ea typeface="Calibri" pitchFamily="34" charset="-122"/>
                <a:cs typeface="Calibri" pitchFamily="34" charset="-120"/>
              </a:rPr>
              <a:t>, </a:t>
            </a:r>
            <a:r>
              <a:rPr lang="en-US" sz="1250" dirty="0" err="1">
                <a:solidFill>
                  <a:srgbClr val="2C1A0E"/>
                </a:solidFill>
                <a:latin typeface="Calibri" pitchFamily="34" charset="0"/>
                <a:ea typeface="Calibri" pitchFamily="34" charset="-122"/>
                <a:cs typeface="Calibri" pitchFamily="34" charset="-120"/>
              </a:rPr>
              <a:t>corrige</a:t>
            </a:r>
            <a:r>
              <a:rPr lang="en-US" sz="1250" dirty="0">
                <a:solidFill>
                  <a:srgbClr val="2C1A0E"/>
                </a:solidFill>
                <a:latin typeface="Calibri" pitchFamily="34" charset="0"/>
                <a:ea typeface="Calibri" pitchFamily="34" charset="-122"/>
                <a:cs typeface="Calibri" pitchFamily="34" charset="-120"/>
              </a:rPr>
              <a:t> et </a:t>
            </a:r>
            <a:r>
              <a:rPr lang="en-US" sz="1250" dirty="0" err="1">
                <a:solidFill>
                  <a:srgbClr val="2C1A0E"/>
                </a:solidFill>
                <a:latin typeface="Calibri" pitchFamily="34" charset="0"/>
                <a:ea typeface="Calibri" pitchFamily="34" charset="-122"/>
                <a:cs typeface="Calibri" pitchFamily="34" charset="-120"/>
              </a:rPr>
              <a:t>valide</a:t>
            </a:r>
            <a:r>
              <a:rPr lang="en-US" sz="1250" dirty="0">
                <a:solidFill>
                  <a:srgbClr val="2C1A0E"/>
                </a:solidFill>
                <a:latin typeface="Calibri" pitchFamily="34" charset="0"/>
                <a:ea typeface="Calibri" pitchFamily="34" charset="-122"/>
                <a:cs typeface="Calibri" pitchFamily="34" charset="-120"/>
              </a:rPr>
              <a:t> avant que l'archivage devienne définitif.</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PIPELINE D'ARCHIVAGE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Conversion universelle vers PDF/A-3b</a:t>
            </a:r>
            <a:endParaRPr lang="en-US" sz="2400" dirty="0"/>
          </a:p>
        </p:txBody>
      </p:sp>
      <p:sp>
        <p:nvSpPr>
          <p:cNvPr id="6" name="Text 3"/>
          <p:cNvSpPr txBox="1"/>
          <p:nvPr/>
        </p:nvSpPr>
        <p:spPr>
          <a:xfrm>
            <a:off x="548640" y="283921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Word, Excel, PowerPoint, OpenDocument, images, texte — tout passe par un conteneur LibreOffice dédié (Gotenberg).</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PDF obtenu est ensuite marqué PDF/A-3b (norme d'archivage à long terme) via PDFBox.</a:t>
            </a:r>
            <a:endParaRPr lang="en-US" sz="1450" dirty="0"/>
          </a:p>
        </p:txBody>
      </p:sp>
      <p:sp>
        <p:nvSpPr>
          <p:cNvPr id="7" name="Shape 4"/>
          <p:cNvSpPr/>
          <p:nvPr/>
        </p:nvSpPr>
        <p:spPr>
          <a:xfrm>
            <a:off x="548640" y="3927348"/>
            <a:ext cx="10881360" cy="1143000"/>
          </a:xfrm>
          <a:prstGeom prst="roundRect">
            <a:avLst>
              <a:gd name="adj" fmla="val 6400"/>
            </a:avLst>
          </a:prstGeom>
          <a:solidFill>
            <a:srgbClr val="F3E9DA"/>
          </a:solidFill>
          <a:ln/>
        </p:spPr>
      </p:sp>
      <p:sp>
        <p:nvSpPr>
          <p:cNvPr id="8" name="Text 5"/>
          <p:cNvSpPr txBox="1"/>
          <p:nvPr/>
        </p:nvSpPr>
        <p:spPr>
          <a:xfrm>
            <a:off x="868680" y="406450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1139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 format bureautique dépend d'un logiciel pour rester lisible dans 20 ans. Le PDF/A est un format normalisé pensé pour l'archivage pérenne, indépendant de toute application propriétaire.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EXTRACTION ASSISTÉE PAR IA</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Génération automatique de règles d'extraction</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Ollama / Qwen</a:t>
            </a:r>
            <a:endParaRPr lang="en-US" sz="1050" dirty="0"/>
          </a:p>
        </p:txBody>
      </p:sp>
      <p:sp>
        <p:nvSpPr>
          <p:cNvPr id="7" name="Text 4"/>
          <p:cNvSpPr txBox="1"/>
          <p:nvPr/>
        </p:nvSpPr>
        <p:spPr>
          <a:xfrm>
            <a:off x="548640" y="2702052"/>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Au premier document d'un type, un LLM local (Qwen via Ollama) génère des règles regex à partir du texte OCR.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Combinées à une extraction positionnelle (le libellé du champ retrouvé directement sur le document).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documents suivants du même type profitent des règles apprises, sans nouvel appel au </a:t>
            </a:r>
            <a:r>
              <a:rPr lang="en-US" sz="1450" dirty="0" err="1">
                <a:solidFill>
                  <a:srgbClr val="2C1A0E"/>
                </a:solidFill>
                <a:latin typeface="Calibri" pitchFamily="34" charset="0"/>
                <a:ea typeface="Calibri" pitchFamily="34" charset="-122"/>
                <a:cs typeface="Calibri" pitchFamily="34" charset="-120"/>
              </a:rPr>
              <a:t>modèle</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sauf</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en</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cas</a:t>
            </a:r>
            <a:r>
              <a:rPr lang="en-US" sz="1450" dirty="0">
                <a:solidFill>
                  <a:srgbClr val="2C1A0E"/>
                </a:solidFill>
                <a:latin typeface="Calibri" pitchFamily="34" charset="0"/>
                <a:ea typeface="Calibri" pitchFamily="34" charset="-122"/>
                <a:cs typeface="Calibri" pitchFamily="34" charset="-120"/>
              </a:rPr>
              <a:t> de correction de </a:t>
            </a:r>
            <a:r>
              <a:rPr lang="en-US" sz="1450" dirty="0" err="1">
                <a:solidFill>
                  <a:srgbClr val="2C1A0E"/>
                </a:solidFill>
                <a:latin typeface="Calibri" pitchFamily="34" charset="0"/>
                <a:ea typeface="Calibri" pitchFamily="34" charset="-122"/>
                <a:cs typeface="Calibri" pitchFamily="34" charset="-120"/>
              </a:rPr>
              <a:t>métadonnées</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suggérées</a:t>
            </a:r>
            <a:r>
              <a:rPr lang="en-US" sz="1450" dirty="0">
                <a:solidFill>
                  <a:srgbClr val="2C1A0E"/>
                </a:solidFill>
                <a:latin typeface="Calibri" pitchFamily="34" charset="0"/>
                <a:ea typeface="Calibri" pitchFamily="34" charset="-122"/>
                <a:cs typeface="Calibri" pitchFamily="34" charset="-120"/>
              </a:rPr>
              <a:t> par le regex. </a:t>
            </a:r>
            <a:endParaRPr lang="en-US" sz="1450" dirty="0"/>
          </a:p>
        </p:txBody>
      </p:sp>
      <p:sp>
        <p:nvSpPr>
          <p:cNvPr id="8" name="Shape 5"/>
          <p:cNvSpPr/>
          <p:nvPr/>
        </p:nvSpPr>
        <p:spPr>
          <a:xfrm>
            <a:off x="548640" y="4338828"/>
            <a:ext cx="10881360" cy="868680"/>
          </a:xfrm>
          <a:prstGeom prst="roundRect">
            <a:avLst>
              <a:gd name="adj" fmla="val 8421"/>
            </a:avLst>
          </a:prstGeom>
          <a:solidFill>
            <a:srgbClr val="F3E9DA"/>
          </a:solidFill>
          <a:ln/>
        </p:spPr>
      </p:sp>
      <p:sp>
        <p:nvSpPr>
          <p:cNvPr id="9" name="Text 6"/>
          <p:cNvSpPr txBox="1"/>
          <p:nvPr/>
        </p:nvSpPr>
        <p:spPr>
          <a:xfrm>
            <a:off x="868680" y="447598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22876"/>
            <a:ext cx="10241280" cy="41148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Sans ça, chaque champ de chaque document serait </a:t>
            </a:r>
            <a:r>
              <a:rPr lang="en-US" sz="1250" dirty="0" err="1">
                <a:solidFill>
                  <a:srgbClr val="2C1A0E"/>
                </a:solidFill>
                <a:latin typeface="Calibri" pitchFamily="34" charset="0"/>
                <a:ea typeface="Calibri" pitchFamily="34" charset="-122"/>
                <a:cs typeface="Calibri" pitchFamily="34" charset="-120"/>
              </a:rPr>
              <a:t>ressaisi</a:t>
            </a:r>
            <a:r>
              <a:rPr lang="en-US" sz="1250" dirty="0">
                <a:solidFill>
                  <a:srgbClr val="2C1A0E"/>
                </a:solidFill>
                <a:latin typeface="Calibri" pitchFamily="34" charset="0"/>
                <a:ea typeface="Calibri" pitchFamily="34" charset="-122"/>
                <a:cs typeface="Calibri" pitchFamily="34" charset="-120"/>
              </a:rPr>
              <a:t> </a:t>
            </a:r>
            <a:r>
              <a:rPr lang="en-US" sz="1250" dirty="0" err="1">
                <a:solidFill>
                  <a:srgbClr val="2C1A0E"/>
                </a:solidFill>
                <a:latin typeface="Calibri" pitchFamily="34" charset="0"/>
                <a:ea typeface="Calibri" pitchFamily="34" charset="-122"/>
                <a:cs typeface="Calibri" pitchFamily="34" charset="-120"/>
              </a:rPr>
              <a:t>manuellement</a:t>
            </a:r>
            <a:r>
              <a:rPr lang="en-US" sz="1250" dirty="0">
                <a:solidFill>
                  <a:srgbClr val="2C1A0E"/>
                </a:solidFill>
                <a:latin typeface="Calibri" pitchFamily="34" charset="0"/>
                <a:ea typeface="Calibri" pitchFamily="34" charset="-122"/>
                <a:cs typeface="Calibri" pitchFamily="34" charset="-120"/>
              </a:rPr>
              <a: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IMPORT EN LOT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Archivage d'un même type par lot</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EDITOR</a:t>
            </a:r>
            <a:endParaRPr lang="en-US" sz="1050" dirty="0"/>
          </a:p>
        </p:txBody>
      </p:sp>
      <p:sp>
        <p:nvSpPr>
          <p:cNvPr id="7" name="Text 4"/>
          <p:cNvSpPr txBox="1"/>
          <p:nvPr/>
        </p:nvSpPr>
        <p:spPr>
          <a:xfrm>
            <a:off x="548640" y="2702052"/>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Jusqu'à 10 000 fichiers en une seule sélection (dossier entier), tous du même type.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Chaque fichier est </a:t>
            </a:r>
            <a:r>
              <a:rPr lang="en-US" sz="1450" dirty="0" err="1">
                <a:solidFill>
                  <a:srgbClr val="2C1A0E"/>
                </a:solidFill>
                <a:latin typeface="Calibri" pitchFamily="34" charset="0"/>
                <a:ea typeface="Calibri" pitchFamily="34" charset="-122"/>
                <a:cs typeface="Calibri" pitchFamily="34" charset="-120"/>
              </a:rPr>
              <a:t>traité</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indépendamment</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une</a:t>
            </a:r>
            <a:r>
              <a:rPr lang="en-US" sz="1450" dirty="0">
                <a:solidFill>
                  <a:srgbClr val="2C1A0E"/>
                </a:solidFill>
                <a:latin typeface="Calibri" pitchFamily="34" charset="0"/>
                <a:ea typeface="Calibri" pitchFamily="34" charset="-122"/>
                <a:cs typeface="Calibri" pitchFamily="34" charset="-120"/>
              </a:rPr>
              <a:t> erreur n'interrompt pas le lot).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Aperçu avant archivage : retirer un fichier du lot sans le supprimer du disque.</a:t>
            </a:r>
            <a:endParaRPr lang="en-US" sz="1450" dirty="0"/>
          </a:p>
        </p:txBody>
      </p:sp>
      <p:sp>
        <p:nvSpPr>
          <p:cNvPr id="8" name="Shape 5"/>
          <p:cNvSpPr/>
          <p:nvPr/>
        </p:nvSpPr>
        <p:spPr>
          <a:xfrm>
            <a:off x="548640" y="4338828"/>
            <a:ext cx="10881360" cy="868680"/>
          </a:xfrm>
          <a:prstGeom prst="roundRect">
            <a:avLst>
              <a:gd name="adj" fmla="val 8421"/>
            </a:avLst>
          </a:prstGeom>
          <a:solidFill>
            <a:srgbClr val="F3E9DA"/>
          </a:solidFill>
          <a:ln/>
        </p:spPr>
      </p:sp>
      <p:sp>
        <p:nvSpPr>
          <p:cNvPr id="9" name="Text 6"/>
          <p:cNvSpPr txBox="1"/>
          <p:nvPr/>
        </p:nvSpPr>
        <p:spPr>
          <a:xfrm>
            <a:off x="868680" y="447598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22876"/>
            <a:ext cx="10241280" cy="41148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 archivage rétroactif porte souvent sur des milliers de documents déjà </a:t>
            </a:r>
            <a:r>
              <a:rPr lang="en-US" sz="1250" dirty="0" err="1">
                <a:solidFill>
                  <a:srgbClr val="2C1A0E"/>
                </a:solidFill>
                <a:latin typeface="Calibri" pitchFamily="34" charset="0"/>
                <a:ea typeface="Calibri" pitchFamily="34" charset="-122"/>
                <a:cs typeface="Calibri" pitchFamily="34" charset="-120"/>
              </a:rPr>
              <a:t>numérisés</a:t>
            </a:r>
            <a:r>
              <a:rPr lang="en-US" sz="1250" dirty="0">
                <a:solidFill>
                  <a:srgbClr val="2C1A0E"/>
                </a:solidFill>
                <a:latin typeface="Calibri" pitchFamily="34" charset="0"/>
                <a:ea typeface="Calibri" pitchFamily="34" charset="-122"/>
                <a:cs typeface="Calibri" pitchFamily="34" charset="-120"/>
              </a:rPr>
              <a:t>, les traiter un par un </a:t>
            </a:r>
            <a:r>
              <a:rPr lang="en-US" sz="1250" dirty="0" err="1">
                <a:solidFill>
                  <a:srgbClr val="2C1A0E"/>
                </a:solidFill>
                <a:latin typeface="Calibri" pitchFamily="34" charset="0"/>
                <a:ea typeface="Calibri" pitchFamily="34" charset="-122"/>
                <a:cs typeface="Calibri" pitchFamily="34" charset="-120"/>
              </a:rPr>
              <a:t>serait</a:t>
            </a:r>
            <a:r>
              <a:rPr lang="en-US" sz="1250" dirty="0">
                <a:solidFill>
                  <a:srgbClr val="2C1A0E"/>
                </a:solidFill>
                <a:latin typeface="Calibri" pitchFamily="34" charset="0"/>
                <a:ea typeface="Calibri" pitchFamily="34" charset="-122"/>
                <a:cs typeface="Calibri" pitchFamily="34" charset="-120"/>
              </a:rPr>
              <a:t> </a:t>
            </a:r>
            <a:r>
              <a:rPr lang="en-US" sz="1250" dirty="0" err="1">
                <a:solidFill>
                  <a:srgbClr val="2C1A0E"/>
                </a:solidFill>
                <a:latin typeface="Calibri" pitchFamily="34" charset="0"/>
                <a:ea typeface="Calibri" pitchFamily="34" charset="-122"/>
                <a:cs typeface="Calibri" pitchFamily="34" charset="-120"/>
              </a:rPr>
              <a:t>laborieux</a:t>
            </a:r>
            <a:r>
              <a:rPr lang="en-US" sz="1250" dirty="0">
                <a:solidFill>
                  <a:srgbClr val="2C1A0E"/>
                </a:solidFill>
                <a:latin typeface="Calibri" pitchFamily="34" charset="0"/>
                <a:ea typeface="Calibri" pitchFamily="34" charset="-122"/>
                <a:cs typeface="Calibri" pitchFamily="34" charset="-120"/>
              </a:rPr>
              <a: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IMPORT EN LOT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Import depuis un lien web</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Télécharge les fichiers depuis une page web (liens directs, ou navigation assistée par un navigateur headless).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Applique ensuite exactement le </a:t>
            </a:r>
            <a:r>
              <a:rPr lang="en-US" sz="1450" dirty="0" err="1">
                <a:solidFill>
                  <a:srgbClr val="2C1A0E"/>
                </a:solidFill>
                <a:latin typeface="Calibri" pitchFamily="34" charset="0"/>
                <a:ea typeface="Calibri" pitchFamily="34" charset="-122"/>
                <a:cs typeface="Calibri" pitchFamily="34" charset="-120"/>
              </a:rPr>
              <a:t>même</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traitement</a:t>
            </a:r>
            <a:r>
              <a:rPr lang="en-US" sz="1450" dirty="0">
                <a:solidFill>
                  <a:srgbClr val="2C1A0E"/>
                </a:solidFill>
                <a:latin typeface="Calibri" pitchFamily="34" charset="0"/>
                <a:ea typeface="Calibri" pitchFamily="34" charset="-122"/>
                <a:cs typeface="Calibri" pitchFamily="34" charset="-120"/>
              </a:rPr>
              <a:t> que l'import local.</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DÉTECTION DE DOUBLONS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Hash SHA-256 du fichier original, scopé par UO</a:t>
            </a:r>
            <a:endParaRPr lang="en-US" sz="2400" dirty="0"/>
          </a:p>
        </p:txBody>
      </p:sp>
      <p:sp>
        <p:nvSpPr>
          <p:cNvPr id="6" name="Text 3"/>
          <p:cNvSpPr txBox="1"/>
          <p:nvPr/>
        </p:nvSpPr>
        <p:spPr>
          <a:xfrm>
            <a:off x="548640" y="19751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SHA-256 calculé sur les octets bruts de l'original, avant toute conversion.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Contrainte unique en base (original_sha256 + uo_id) — une même UO ne peut archiver deux fois le même fichier.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Deux UO différentes peuvent archiver le même fichier sans conflit.</a:t>
            </a:r>
            <a:endParaRPr lang="en-US" sz="1450" dirty="0"/>
          </a:p>
        </p:txBody>
      </p:sp>
      <p:sp>
        <p:nvSpPr>
          <p:cNvPr id="7" name="Shape 4"/>
          <p:cNvSpPr/>
          <p:nvPr/>
        </p:nvSpPr>
        <p:spPr>
          <a:xfrm>
            <a:off x="548640" y="3611880"/>
            <a:ext cx="10881360" cy="868680"/>
          </a:xfrm>
          <a:prstGeom prst="roundRect">
            <a:avLst>
              <a:gd name="adj" fmla="val 8421"/>
            </a:avLst>
          </a:prstGeom>
          <a:solidFill>
            <a:srgbClr val="F3E9DA"/>
          </a:solidFill>
          <a:ln/>
        </p:spPr>
      </p:sp>
      <p:sp>
        <p:nvSpPr>
          <p:cNvPr id="8" name="Text 5"/>
          <p:cNvSpPr txBox="1"/>
          <p:nvPr/>
        </p:nvSpPr>
        <p:spPr>
          <a:xfrm>
            <a:off x="868680" y="3749040"/>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995928"/>
            <a:ext cx="10241280" cy="41148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Le fichier original n'est jamais conservé en stockage (seul le PDF/A l'est) — son hash est la seule trace permettant de reconnaître qu'il a déjà été vu.</a:t>
            </a:r>
            <a:endParaRPr lang="en-US" sz="1250" dirty="0"/>
          </a:p>
        </p:txBody>
      </p:sp>
      <p:sp>
        <p:nvSpPr>
          <p:cNvPr id="10" name="Shape 7"/>
          <p:cNvSpPr/>
          <p:nvPr/>
        </p:nvSpPr>
        <p:spPr>
          <a:xfrm>
            <a:off x="548640" y="4700016"/>
            <a:ext cx="10881360" cy="1234440"/>
          </a:xfrm>
          <a:prstGeom prst="roundRect">
            <a:avLst>
              <a:gd name="adj" fmla="val 5926"/>
            </a:avLst>
          </a:prstGeom>
          <a:solidFill>
            <a:srgbClr val="FBE6D6"/>
          </a:solidFill>
          <a:ln/>
        </p:spPr>
      </p:sp>
      <p:sp>
        <p:nvSpPr>
          <p:cNvPr id="11" name="Text 8"/>
          <p:cNvSpPr txBox="1"/>
          <p:nvPr/>
        </p:nvSpPr>
        <p:spPr>
          <a:xfrm>
            <a:off x="868680" y="4837176"/>
            <a:ext cx="2743200" cy="274320"/>
          </a:xfrm>
          <a:prstGeom prst="rect">
            <a:avLst/>
          </a:prstGeom>
          <a:noFill/>
          <a:ln/>
        </p:spPr>
        <p:txBody>
          <a:bodyPr wrap="square" lIns="0" tIns="0" rIns="0" bIns="0" rtlCol="0" anchor="ctr"/>
          <a:lstStyle/>
          <a:p>
            <a:pPr marL="0" indent="0">
              <a:buNone/>
            </a:pPr>
            <a:r>
              <a:rPr lang="en-US" sz="1000" b="1" kern="0" spc="10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084064"/>
            <a:ext cx="10241280" cy="77724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 hash exact ne détecte que des octets identiques. Le même contenu réuploadé après conversion de format externe (ex. le .docx déjà archivé, réexporté en .pdf, puis réuploadé) produit un hash différent et n'est pas </a:t>
            </a:r>
            <a:r>
              <a:rPr lang="en-US" sz="1250" dirty="0" err="1">
                <a:solidFill>
                  <a:srgbClr val="2C1A0E"/>
                </a:solidFill>
                <a:latin typeface="Calibri" pitchFamily="34" charset="0"/>
                <a:ea typeface="Calibri" pitchFamily="34" charset="-122"/>
                <a:cs typeface="Calibri" pitchFamily="34" charset="-120"/>
              </a:rPr>
              <a:t>détecté</a:t>
            </a:r>
            <a:r>
              <a:rPr lang="en-US" sz="1250" dirty="0">
                <a:solidFill>
                  <a:srgbClr val="2C1A0E"/>
                </a:solidFill>
                <a:latin typeface="Calibri" pitchFamily="34" charset="0"/>
                <a:ea typeface="Calibri" pitchFamily="34" charset="-122"/>
                <a:cs typeface="Calibri" pitchFamily="34" charset="-120"/>
              </a:rPr>
              <a:t>.</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marL="0" indent="0">
              <a:buNone/>
            </a:pPr>
            <a:r>
              <a:rPr lang="en-US" sz="1200" kern="0" spc="200" dirty="0">
                <a:solidFill>
                  <a:srgbClr val="D9AE6C"/>
                </a:solidFill>
                <a:latin typeface="Calibri" pitchFamily="34" charset="0"/>
                <a:ea typeface="Calibri" pitchFamily="34" charset="-122"/>
                <a:cs typeface="Calibri" pitchFamily="34" charset="-120"/>
              </a:rPr>
              <a:t>PARTIE 3</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Preuve &amp; vérification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Second hash SHA-256, sur le PDF/A archivé</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Calculé sur le PDF/A final, en clair, avant chiffrement.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C'est celui qui compte une fois </a:t>
            </a:r>
            <a:r>
              <a:rPr lang="en-US" sz="1450" dirty="0" err="1">
                <a:solidFill>
                  <a:srgbClr val="2C1A0E"/>
                </a:solidFill>
                <a:latin typeface="Calibri" pitchFamily="34" charset="0"/>
                <a:ea typeface="Calibri" pitchFamily="34" charset="-122"/>
                <a:cs typeface="Calibri" pitchFamily="34" charset="-120"/>
              </a:rPr>
              <a:t>l'original</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jeté</a:t>
            </a:r>
            <a:r>
              <a:rPr lang="en-US" sz="1450" dirty="0">
                <a:solidFill>
                  <a:srgbClr val="2C1A0E"/>
                </a:solidFill>
                <a:latin typeface="Calibri" pitchFamily="34" charset="0"/>
                <a:ea typeface="Calibri" pitchFamily="34" charset="-122"/>
                <a:cs typeface="Calibri" pitchFamily="34" charset="-120"/>
              </a:rPr>
              <a:t>, recalculé pour vérifier qu'aucun bit n'a changé.</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Signature PKI (HSM)</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EDITOR actif</a:t>
            </a:r>
            <a:endParaRPr lang="en-US" sz="1050" dirty="0"/>
          </a:p>
        </p:txBody>
      </p:sp>
      <p:sp>
        <p:nvSpPr>
          <p:cNvPr id="7" name="Text 4"/>
          <p:cNvSpPr txBox="1"/>
          <p:nvPr/>
        </p:nvSpPr>
        <p:spPr>
          <a:xfrm>
            <a:off x="548640" y="283921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hash du PDF/A est signé avec la clé privée personnelle de l'éditeur qui archive.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Clé conservée dans un HSM (un fichier keystore).</a:t>
            </a:r>
            <a:endParaRPr lang="en-US" sz="1450" dirty="0"/>
          </a:p>
        </p:txBody>
      </p:sp>
      <p:sp>
        <p:nvSpPr>
          <p:cNvPr id="8" name="Shape 5"/>
          <p:cNvSpPr/>
          <p:nvPr/>
        </p:nvSpPr>
        <p:spPr>
          <a:xfrm>
            <a:off x="548640" y="3927348"/>
            <a:ext cx="10881360" cy="1143000"/>
          </a:xfrm>
          <a:prstGeom prst="roundRect">
            <a:avLst>
              <a:gd name="adj" fmla="val 6400"/>
            </a:avLst>
          </a:prstGeom>
          <a:solidFill>
            <a:srgbClr val="F3E9DA"/>
          </a:solidFill>
          <a:ln/>
        </p:spPr>
      </p:sp>
      <p:sp>
        <p:nvSpPr>
          <p:cNvPr id="9" name="Text 6"/>
          <p:cNvSpPr txBox="1"/>
          <p:nvPr/>
        </p:nvSpPr>
        <p:spPr>
          <a:xfrm>
            <a:off x="868680" y="406450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1139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La signature identifie nommément QUI a archivé le document et engage sa responsabilité — sans clé personnelle, impossible de prouver que "quelqu'un dans l'organisation" a signé, jamais qui précisément.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err="1">
                <a:solidFill>
                  <a:srgbClr val="2C1A0E"/>
                </a:solidFill>
                <a:latin typeface="Cambria" pitchFamily="34" charset="0"/>
                <a:ea typeface="Cambria" pitchFamily="34" charset="-122"/>
                <a:cs typeface="Cambria" pitchFamily="34" charset="-120"/>
              </a:rPr>
              <a:t>Horodatage</a:t>
            </a:r>
            <a:endParaRPr lang="en-US" sz="2400" dirty="0"/>
          </a:p>
        </p:txBody>
      </p:sp>
      <p:sp>
        <p:nvSpPr>
          <p:cNvPr id="6" name="Text 3"/>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horodatage authentifie la date de la signature.</a:t>
            </a:r>
            <a:endParaRPr lang="en-US" sz="1450" dirty="0"/>
          </a:p>
          <a:p>
            <a:pPr marL="342900" indent="-342900">
              <a:lnSpc>
                <a:spcPct val="115000"/>
              </a:lnSpc>
              <a:spcAft>
                <a:spcPts val="800"/>
              </a:spcAft>
              <a:buSzPct val="100000"/>
              <a:buChar char="•"/>
            </a:pPr>
            <a:r>
              <a:rPr lang="en-US" sz="1450" dirty="0" err="1">
                <a:solidFill>
                  <a:srgbClr val="2C1A0E"/>
                </a:solidFill>
                <a:latin typeface="Calibri" pitchFamily="34" charset="0"/>
                <a:ea typeface="Calibri" pitchFamily="34" charset="-122"/>
                <a:cs typeface="Calibri" pitchFamily="34" charset="-120"/>
              </a:rPr>
              <a:t>Preuve</a:t>
            </a:r>
            <a:r>
              <a:rPr lang="en-US" sz="1450" dirty="0">
                <a:solidFill>
                  <a:srgbClr val="2C1A0E"/>
                </a:solidFill>
                <a:latin typeface="Calibri" pitchFamily="34" charset="0"/>
                <a:ea typeface="Calibri" pitchFamily="34" charset="-122"/>
                <a:cs typeface="Calibri" pitchFamily="34" charset="-120"/>
              </a:rPr>
              <a:t> d'existence à une date donnée, publique et infalsifiable, indépendante de MadeArchive.</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VÉRIFICATION PUBLIQUE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Attestation d'archivage avec QR code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public, sans authentification</a:t>
            </a:r>
            <a:endParaRPr lang="en-US" sz="1050" dirty="0"/>
          </a:p>
        </p:txBody>
      </p:sp>
      <p:sp>
        <p:nvSpPr>
          <p:cNvPr id="7" name="Text 4"/>
          <p:cNvSpPr txBox="1"/>
          <p:nvPr/>
        </p:nvSpPr>
        <p:spPr>
          <a:xfrm>
            <a:off x="548640" y="283921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PDF généré à la demande, avec l'empreinte SHA-256 du document et ses métadonnées à l'archivage.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QR code vers un lien de vérification public, accessible par jeton (jamais par l'UUID réel du document).</a:t>
            </a:r>
            <a:endParaRPr lang="en-US" sz="1450" dirty="0"/>
          </a:p>
        </p:txBody>
      </p:sp>
      <p:sp>
        <p:nvSpPr>
          <p:cNvPr id="8" name="Shape 5"/>
          <p:cNvSpPr/>
          <p:nvPr/>
        </p:nvSpPr>
        <p:spPr>
          <a:xfrm>
            <a:off x="548640" y="3927348"/>
            <a:ext cx="10881360" cy="1143000"/>
          </a:xfrm>
          <a:prstGeom prst="roundRect">
            <a:avLst>
              <a:gd name="adj" fmla="val 6400"/>
            </a:avLst>
          </a:prstGeom>
          <a:solidFill>
            <a:srgbClr val="F3E9DA"/>
          </a:solidFill>
          <a:ln/>
        </p:spPr>
      </p:sp>
      <p:sp>
        <p:nvSpPr>
          <p:cNvPr id="9" name="Text 6"/>
          <p:cNvSpPr txBox="1"/>
          <p:nvPr/>
        </p:nvSpPr>
        <p:spPr>
          <a:xfrm>
            <a:off x="868680" y="406450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1139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 tiers (auditeur, partenaire, autorité) doit pouvoir vérifier l'authenticité d'un document sans compte MadeArchive, sans que le lien expose l'identifiant interne.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CONTRÔLE DE FIXITÉ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Vérification périodique automatique</a:t>
            </a:r>
            <a:endParaRPr lang="en-US" sz="2400" dirty="0"/>
          </a:p>
        </p:txBody>
      </p:sp>
      <p:sp>
        <p:nvSpPr>
          <p:cNvPr id="6" name="Text 3"/>
          <p:cNvSpPr txBox="1"/>
          <p:nvPr/>
        </p:nvSpPr>
        <p:spPr>
          <a:xfrm>
            <a:off x="548640" y="283921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tâche planifiée retélécharge chaque PDF/A, le déchiffre, recalcule son SHA-256.</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Comparé à la valeur enregistrée à l'archivage — un écart marque le document CORRUPTED.</a:t>
            </a:r>
            <a:endParaRPr lang="en-US" sz="1450" dirty="0"/>
          </a:p>
        </p:txBody>
      </p:sp>
      <p:sp>
        <p:nvSpPr>
          <p:cNvPr id="7" name="Shape 4"/>
          <p:cNvSpPr/>
          <p:nvPr/>
        </p:nvSpPr>
        <p:spPr>
          <a:xfrm>
            <a:off x="548640" y="3927348"/>
            <a:ext cx="10881360" cy="1143000"/>
          </a:xfrm>
          <a:prstGeom prst="roundRect">
            <a:avLst>
              <a:gd name="adj" fmla="val 6400"/>
            </a:avLst>
          </a:prstGeom>
          <a:solidFill>
            <a:srgbClr val="F3E9DA"/>
          </a:solidFill>
          <a:ln/>
        </p:spPr>
      </p:sp>
      <p:sp>
        <p:nvSpPr>
          <p:cNvPr id="8" name="Text 5"/>
          <p:cNvSpPr txBox="1"/>
          <p:nvPr/>
        </p:nvSpPr>
        <p:spPr>
          <a:xfrm>
            <a:off x="868680" y="406450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1139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Sans contrôle actif, une corruption de stockage (disque, bit-rot, incident MinIO) ne serait découverte que le jour où quelqu'un tente d'ouvrir le document — potentiellement des années plus tard.</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marL="0" indent="0">
              <a:buNone/>
            </a:pPr>
            <a:r>
              <a:rPr lang="en-US" sz="1200" kern="0" spc="200" dirty="0">
                <a:solidFill>
                  <a:srgbClr val="D9AE6C"/>
                </a:solidFill>
                <a:latin typeface="Calibri" pitchFamily="34" charset="0"/>
                <a:ea typeface="Calibri" pitchFamily="34" charset="-122"/>
                <a:cs typeface="Calibri" pitchFamily="34" charset="-120"/>
              </a:rPr>
              <a:t>PARTIE 4</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Consultation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RECHERCHE HYBRIDE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Meilisearch (IDs) → PostgreSQL (données)</a:t>
            </a:r>
            <a:endParaRPr lang="en-US" sz="2400" dirty="0"/>
          </a:p>
        </p:txBody>
      </p:sp>
      <p:sp>
        <p:nvSpPr>
          <p:cNvPr id="6" name="Text 3"/>
          <p:cNvSpPr txBox="1"/>
          <p:nvPr/>
        </p:nvSpPr>
        <p:spPr>
          <a:xfrm>
            <a:off x="548640" y="227228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Meilisearch retourne des identifiants pertinents ; PostgreSQL charge ensuite les données </a:t>
            </a:r>
            <a:r>
              <a:rPr lang="en-US" sz="1450" dirty="0" err="1">
                <a:solidFill>
                  <a:srgbClr val="2C1A0E"/>
                </a:solidFill>
                <a:latin typeface="Calibri" pitchFamily="34" charset="0"/>
                <a:ea typeface="Calibri" pitchFamily="34" charset="-122"/>
                <a:cs typeface="Calibri" pitchFamily="34" charset="-120"/>
              </a:rPr>
              <a:t>complètes</a:t>
            </a:r>
            <a:r>
              <a:rPr lang="en-US" sz="1450" dirty="0">
                <a:solidFill>
                  <a:srgbClr val="2C1A0E"/>
                </a:solidFill>
                <a:latin typeface="Calibri" pitchFamily="34" charset="0"/>
                <a:ea typeface="Calibri" pitchFamily="34" charset="-122"/>
                <a:cs typeface="Calibri" pitchFamily="34" charset="-120"/>
              </a:rPr>
              <a: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Meilisearch ne fait jamais autorité sur le contenu ou les droits d'accès.</a:t>
            </a:r>
            <a:endParaRPr lang="en-US" sz="1450" dirty="0"/>
          </a:p>
        </p:txBody>
      </p:sp>
      <p:sp>
        <p:nvSpPr>
          <p:cNvPr id="7" name="Shape 4"/>
          <p:cNvSpPr/>
          <p:nvPr/>
        </p:nvSpPr>
        <p:spPr>
          <a:xfrm>
            <a:off x="548640" y="3360420"/>
            <a:ext cx="10881360" cy="1143000"/>
          </a:xfrm>
          <a:prstGeom prst="roundRect">
            <a:avLst>
              <a:gd name="adj" fmla="val 6400"/>
            </a:avLst>
          </a:prstGeom>
          <a:solidFill>
            <a:srgbClr val="F3E9DA"/>
          </a:solidFill>
          <a:ln/>
        </p:spPr>
      </p:sp>
      <p:sp>
        <p:nvSpPr>
          <p:cNvPr id="8" name="Text 5"/>
          <p:cNvSpPr txBox="1"/>
          <p:nvPr/>
        </p:nvSpPr>
        <p:spPr>
          <a:xfrm>
            <a:off x="868680" y="3497580"/>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744468"/>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PostgreSQL reste la seule source de vérité pour la sécurité (statut, propriétaire, confidentialité) — un moteur de recherche externe ne doit jamais décider seul qui voit quoi.</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DOCUMENTS ACCESSIBLES &amp; MES DOCUMENTS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Listes paginées, </a:t>
            </a:r>
            <a:r>
              <a:rPr lang="en-US" sz="2400" b="1" dirty="0" err="1">
                <a:solidFill>
                  <a:srgbClr val="2C1A0E"/>
                </a:solidFill>
                <a:latin typeface="Cambria" pitchFamily="34" charset="0"/>
                <a:ea typeface="Cambria" pitchFamily="34" charset="-122"/>
                <a:cs typeface="Cambria" pitchFamily="34" charset="-120"/>
              </a:rPr>
              <a:t>filtrables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"Mes documents" (ce que j'ai uploadé, par type) et "Documents accessibles" (tout ce à quoi j'ai droit).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Toutes deux paginées </a:t>
            </a:r>
            <a:r>
              <a:rPr lang="en-US" sz="1450" dirty="0" err="1">
                <a:solidFill>
                  <a:srgbClr val="2C1A0E"/>
                </a:solidFill>
                <a:latin typeface="Calibri" pitchFamily="34" charset="0"/>
                <a:ea typeface="Calibri" pitchFamily="34" charset="-122"/>
                <a:cs typeface="Calibri" pitchFamily="34" charset="-120"/>
              </a:rPr>
              <a:t>côté</a:t>
            </a:r>
            <a:r>
              <a:rPr lang="en-US" sz="1450" dirty="0">
                <a:solidFill>
                  <a:srgbClr val="2C1A0E"/>
                </a:solidFill>
                <a:latin typeface="Calibri" pitchFamily="34" charset="0"/>
                <a:ea typeface="Calibri" pitchFamily="34" charset="-122"/>
                <a:cs typeface="Calibri" pitchFamily="34" charset="-120"/>
              </a:rPr>
              <a:t> SQL, jamais un chargement complet envoyé au client.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Filtres par titre, type, accès, statut et plage de dates.</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marL="0" indent="0">
              <a:buNone/>
            </a:pPr>
            <a:r>
              <a:rPr lang="en-US" sz="1200" kern="0" spc="200" dirty="0">
                <a:solidFill>
                  <a:srgbClr val="D9AE6C"/>
                </a:solidFill>
                <a:latin typeface="Calibri" pitchFamily="34" charset="0"/>
                <a:ea typeface="Calibri" pitchFamily="34" charset="-122"/>
                <a:cs typeface="Calibri" pitchFamily="34" charset="-120"/>
              </a:rPr>
              <a:t>PARTIE 5</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Organisation du contenu</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PROJETS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Regroupement de documents par affaire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EDITOR (écriture)</a:t>
            </a:r>
            <a:endParaRPr lang="en-US" sz="1050" dirty="0"/>
          </a:p>
        </p:txBody>
      </p:sp>
      <p:sp>
        <p:nvSpPr>
          <p:cNvPr id="7" name="Text 4"/>
          <p:cNvSpPr txBox="1"/>
          <p:nvPr/>
        </p:nvSpPr>
        <p:spPr>
          <a:xfrm>
            <a:off x="548640" y="2564892"/>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projet </a:t>
            </a:r>
            <a:r>
              <a:rPr lang="en-US" sz="1450" dirty="0" err="1">
                <a:solidFill>
                  <a:srgbClr val="2C1A0E"/>
                </a:solidFill>
                <a:latin typeface="Calibri" pitchFamily="34" charset="0"/>
                <a:ea typeface="Calibri" pitchFamily="34" charset="-122"/>
                <a:cs typeface="Calibri" pitchFamily="34" charset="-120"/>
              </a:rPr>
              <a:t>définit</a:t>
            </a:r>
            <a:r>
              <a:rPr lang="en-US" sz="1450" dirty="0">
                <a:solidFill>
                  <a:srgbClr val="2C1A0E"/>
                </a:solidFill>
                <a:latin typeface="Calibri" pitchFamily="34" charset="0"/>
                <a:ea typeface="Calibri" pitchFamily="34" charset="-122"/>
                <a:cs typeface="Calibri" pitchFamily="34" charset="-120"/>
              </a:rPr>
              <a:t> un ensemble de documents </a:t>
            </a:r>
            <a:r>
              <a:rPr lang="en-US" sz="1450" dirty="0" err="1">
                <a:solidFill>
                  <a:srgbClr val="2C1A0E"/>
                </a:solidFill>
                <a:latin typeface="Calibri" pitchFamily="34" charset="0"/>
                <a:ea typeface="Calibri" pitchFamily="34" charset="-122"/>
                <a:cs typeface="Calibri" pitchFamily="34" charset="-120"/>
              </a:rPr>
              <a:t>ayant</a:t>
            </a:r>
            <a:r>
              <a:rPr lang="en-US" sz="1450" dirty="0">
                <a:solidFill>
                  <a:srgbClr val="2C1A0E"/>
                </a:solidFill>
                <a:latin typeface="Calibri" pitchFamily="34" charset="0"/>
                <a:ea typeface="Calibri" pitchFamily="34" charset="-122"/>
                <a:cs typeface="Calibri" pitchFamily="34" charset="-120"/>
              </a:rPr>
              <a:t> un lien </a:t>
            </a:r>
            <a:r>
              <a:rPr lang="en-US" sz="1450" dirty="0" err="1">
                <a:solidFill>
                  <a:srgbClr val="2C1A0E"/>
                </a:solidFill>
                <a:latin typeface="Calibri" pitchFamily="34" charset="0"/>
                <a:ea typeface="Calibri" pitchFamily="34" charset="-122"/>
                <a:cs typeface="Calibri" pitchFamily="34" charset="-120"/>
              </a:rPr>
              <a:t>administratif</a:t>
            </a:r>
            <a:r>
              <a:rPr lang="en-US" sz="1450" dirty="0">
                <a:solidFill>
                  <a:srgbClr val="2C1A0E"/>
                </a:solidFill>
                <a:latin typeface="Calibri" pitchFamily="34" charset="0"/>
                <a:ea typeface="Calibri" pitchFamily="34" charset="-122"/>
                <a:cs typeface="Calibri" pitchFamily="34" charset="-120"/>
              </a:rPr>
              <a:t>.</a:t>
            </a:r>
          </a:p>
          <a:p>
            <a:pPr marL="342900" indent="-342900">
              <a:lnSpc>
                <a:spcPct val="115000"/>
              </a:lnSpc>
              <a:spcAft>
                <a:spcPts val="800"/>
              </a:spcAft>
              <a:buSzPct val="100000"/>
              <a:buChar char="•"/>
            </a:pPr>
            <a:r>
              <a:rPr lang="en-US" sz="1450" dirty="0">
                <a:solidFill>
                  <a:srgbClr val="2C1A0E"/>
                </a:solidFill>
                <a:latin typeface="Calibri" pitchFamily="34" charset="0"/>
                <a:cs typeface="Calibri" pitchFamily="34" charset="-120"/>
              </a:rPr>
              <a:t>Il </a:t>
            </a:r>
            <a:r>
              <a:rPr lang="en-US" sz="1450" dirty="0" err="1">
                <a:solidFill>
                  <a:srgbClr val="2C1A0E"/>
                </a:solidFill>
                <a:latin typeface="Calibri" pitchFamily="34" charset="0"/>
                <a:cs typeface="Calibri" pitchFamily="34" charset="-120"/>
              </a:rPr>
              <a:t>peut</a:t>
            </a:r>
            <a:r>
              <a:rPr lang="en-US" sz="1450" dirty="0">
                <a:solidFill>
                  <a:srgbClr val="2C1A0E"/>
                </a:solidFill>
                <a:latin typeface="Calibri" pitchFamily="34" charset="0"/>
                <a:cs typeface="Calibri" pitchFamily="34" charset="-120"/>
              </a:rPr>
              <a:t> </a:t>
            </a:r>
            <a:r>
              <a:rPr lang="en-US" sz="1450" dirty="0" err="1">
                <a:solidFill>
                  <a:srgbClr val="2C1A0E"/>
                </a:solidFill>
                <a:latin typeface="Calibri" pitchFamily="34" charset="0"/>
                <a:cs typeface="Calibri" pitchFamily="34" charset="-120"/>
              </a:rPr>
              <a:t>comporter</a:t>
            </a:r>
            <a:r>
              <a:rPr lang="en-US" sz="1450" dirty="0">
                <a:solidFill>
                  <a:srgbClr val="2C1A0E"/>
                </a:solidFill>
                <a:latin typeface="Calibri" pitchFamily="34" charset="0"/>
                <a:cs typeface="Calibri" pitchFamily="34" charset="-120"/>
              </a:rPr>
              <a:t> </a:t>
            </a:r>
            <a:r>
              <a:rPr lang="en-US" sz="1450" dirty="0" err="1">
                <a:solidFill>
                  <a:srgbClr val="2C1A0E"/>
                </a:solidFill>
                <a:latin typeface="Calibri" pitchFamily="34" charset="0"/>
                <a:cs typeface="Calibri" pitchFamily="34" charset="-120"/>
              </a:rPr>
              <a:t>pluusieurs</a:t>
            </a:r>
            <a:r>
              <a:rPr lang="en-US" sz="1450" dirty="0">
                <a:solidFill>
                  <a:srgbClr val="2C1A0E"/>
                </a:solidFill>
                <a:latin typeface="Calibri" pitchFamily="34" charset="0"/>
                <a:cs typeface="Calibri" pitchFamily="34" charset="-120"/>
              </a:rPr>
              <a:t> types de documents.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Peut </a:t>
            </a:r>
            <a:r>
              <a:rPr lang="en-US" sz="1450" dirty="0" err="1">
                <a:solidFill>
                  <a:srgbClr val="2C1A0E"/>
                </a:solidFill>
                <a:latin typeface="Calibri" pitchFamily="34" charset="0"/>
                <a:ea typeface="Calibri" pitchFamily="34" charset="-122"/>
                <a:cs typeface="Calibri" pitchFamily="34" charset="-120"/>
              </a:rPr>
              <a:t>être</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privé</a:t>
            </a:r>
            <a:r>
              <a:rPr lang="en-US" sz="1450" dirty="0">
                <a:solidFill>
                  <a:srgbClr val="2C1A0E"/>
                </a:solidFill>
                <a:latin typeface="Calibri" pitchFamily="34" charset="0"/>
                <a:ea typeface="Calibri" pitchFamily="34" charset="-122"/>
                <a:cs typeface="Calibri" pitchFamily="34" charset="-120"/>
              </a:rPr>
              <a:t> visible à ses seuls membres, sans exception même pour un admin.</a:t>
            </a:r>
            <a:endParaRPr lang="en-US" sz="1450" dirty="0"/>
          </a:p>
        </p:txBody>
      </p:sp>
      <p:sp>
        <p:nvSpPr>
          <p:cNvPr id="8" name="Shape 5"/>
          <p:cNvSpPr/>
          <p:nvPr/>
        </p:nvSpPr>
        <p:spPr>
          <a:xfrm>
            <a:off x="548640" y="4201668"/>
            <a:ext cx="10881360" cy="1143000"/>
          </a:xfrm>
          <a:prstGeom prst="roundRect">
            <a:avLst>
              <a:gd name="adj" fmla="val 6400"/>
            </a:avLst>
          </a:prstGeom>
          <a:solidFill>
            <a:srgbClr val="F3E9DA"/>
          </a:solidFill>
          <a:ln/>
        </p:spPr>
      </p:sp>
      <p:sp>
        <p:nvSpPr>
          <p:cNvPr id="9" name="Text 6"/>
          <p:cNvSpPr txBox="1"/>
          <p:nvPr/>
        </p:nvSpPr>
        <p:spPr>
          <a:xfrm>
            <a:off x="868680" y="433882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58571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 dossier papier réel (une affaire, un marché) regroupe plusieurs types de documents liés — le classement par type seul ne suffit pas à représenter cette relation.</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EMPLACEMENTS PHYSIQUES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Localisation de l'original papier</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ADMIN, ADMIN_UO (gestion)</a:t>
            </a:r>
            <a:endParaRPr lang="en-US" sz="1050" dirty="0"/>
          </a:p>
        </p:txBody>
      </p:sp>
      <p:sp>
        <p:nvSpPr>
          <p:cNvPr id="7" name="Text 4"/>
          <p:cNvSpPr txBox="1"/>
          <p:nvPr/>
        </p:nvSpPr>
        <p:spPr>
          <a:xfrm>
            <a:off x="548640" y="283921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arbre de localisation (bâtiment → salle → rayon → carton…).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document numérisé peut y être rattaché pour retrouver l'original papier.</a:t>
            </a:r>
            <a:endParaRPr lang="en-US" sz="1450" dirty="0"/>
          </a:p>
        </p:txBody>
      </p:sp>
      <p:sp>
        <p:nvSpPr>
          <p:cNvPr id="8" name="Shape 5"/>
          <p:cNvSpPr/>
          <p:nvPr/>
        </p:nvSpPr>
        <p:spPr>
          <a:xfrm>
            <a:off x="548640" y="3927348"/>
            <a:ext cx="10881360" cy="1143000"/>
          </a:xfrm>
          <a:prstGeom prst="roundRect">
            <a:avLst>
              <a:gd name="adj" fmla="val 6400"/>
            </a:avLst>
          </a:prstGeom>
          <a:solidFill>
            <a:srgbClr val="F3E9DA"/>
          </a:solidFill>
          <a:ln/>
        </p:spPr>
      </p:sp>
      <p:sp>
        <p:nvSpPr>
          <p:cNvPr id="9" name="Text 6"/>
          <p:cNvSpPr txBox="1"/>
          <p:nvPr/>
        </p:nvSpPr>
        <p:spPr>
          <a:xfrm>
            <a:off x="868680" y="406450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11396"/>
            <a:ext cx="10241280" cy="68580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Numériser n'élimine pas toujours l'obligation légale de conserver </a:t>
            </a:r>
            <a:r>
              <a:rPr lang="en-US" sz="1250" dirty="0" err="1">
                <a:solidFill>
                  <a:srgbClr val="2C1A0E"/>
                </a:solidFill>
                <a:latin typeface="Calibri" pitchFamily="34" charset="0"/>
                <a:ea typeface="Calibri" pitchFamily="34" charset="-122"/>
                <a:cs typeface="Calibri" pitchFamily="34" charset="-120"/>
              </a:rPr>
              <a:t>l'original</a:t>
            </a:r>
            <a:r>
              <a:rPr lang="en-US" sz="1250" dirty="0">
                <a:solidFill>
                  <a:srgbClr val="2C1A0E"/>
                </a:solidFill>
                <a:latin typeface="Calibri" pitchFamily="34" charset="0"/>
                <a:ea typeface="Calibri" pitchFamily="34" charset="-122"/>
                <a:cs typeface="Calibri" pitchFamily="34" charset="-120"/>
              </a:rPr>
              <a:t> papier, sans cette traçabilité, l'original redevient introuvable dans un dépôt d'archives.</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GROUPES D'ACCÈS PRIVÉS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Liste nominative pour un document ou projet privé</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document ou projet privé n'est visible qu'à une liste explicite de membres.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Gérée par un éditeur y ayant </a:t>
            </a:r>
            <a:r>
              <a:rPr lang="en-US" sz="1450" dirty="0" err="1">
                <a:solidFill>
                  <a:srgbClr val="2C1A0E"/>
                </a:solidFill>
                <a:latin typeface="Calibri" pitchFamily="34" charset="0"/>
                <a:ea typeface="Calibri" pitchFamily="34" charset="-122"/>
                <a:cs typeface="Calibri" pitchFamily="34" charset="-120"/>
              </a:rPr>
              <a:t>lui-même</a:t>
            </a:r>
            <a:r>
              <a:rPr lang="en-US" sz="1450" dirty="0">
                <a:solidFill>
                  <a:srgbClr val="2C1A0E"/>
                </a:solidFill>
                <a:latin typeface="Calibri" pitchFamily="34" charset="0"/>
                <a:ea typeface="Calibri" pitchFamily="34" charset="-122"/>
                <a:cs typeface="Calibri" pitchFamily="34" charset="-120"/>
              </a:rPr>
              <a:t> </a:t>
            </a:r>
            <a:r>
              <a:rPr lang="en-US" sz="1450" dirty="0" err="1">
                <a:solidFill>
                  <a:srgbClr val="2C1A0E"/>
                </a:solidFill>
                <a:latin typeface="Calibri" pitchFamily="34" charset="0"/>
                <a:ea typeface="Calibri" pitchFamily="34" charset="-122"/>
                <a:cs typeface="Calibri" pitchFamily="34" charset="-120"/>
              </a:rPr>
              <a:t>accès</a:t>
            </a:r>
            <a:r>
              <a:rPr lang="en-US" sz="1450" dirty="0">
                <a:solidFill>
                  <a:srgbClr val="2C1A0E"/>
                </a:solidFill>
                <a:latin typeface="Calibri" pitchFamily="34" charset="0"/>
                <a:ea typeface="Calibri" pitchFamily="34" charset="-122"/>
                <a:cs typeface="Calibri" pitchFamily="34" charset="-120"/>
              </a:rPr>
              <a:t> jamais par un rôle seul.</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1">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marL="0" indent="0">
              <a:buNone/>
            </a:pPr>
            <a:r>
              <a:rPr lang="en-US" sz="1200" kern="0" spc="200" dirty="0">
                <a:solidFill>
                  <a:srgbClr val="D9AE6C"/>
                </a:solidFill>
                <a:latin typeface="Calibri" pitchFamily="34" charset="0"/>
                <a:ea typeface="Calibri" pitchFamily="34" charset="-122"/>
                <a:cs typeface="Calibri" pitchFamily="34" charset="-120"/>
              </a:rPr>
              <a:t>PARTIE 6</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Cycle de vie &amp; gouvernance</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CORBEILLE &amp; RÉTENTION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Délai de grâce de 3 jours avant purge définitive</a:t>
            </a:r>
            <a:endParaRPr lang="en-US" sz="2400" dirty="0"/>
          </a:p>
        </p:txBody>
      </p:sp>
      <p:sp>
        <p:nvSpPr>
          <p:cNvPr id="6" name="Text 3"/>
          <p:cNvSpPr txBox="1"/>
          <p:nvPr/>
        </p:nvSpPr>
        <p:spPr>
          <a:xfrm>
            <a:off x="548640" y="297637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Envoyer un document à la corbeille (n'importe lequel, pas seulement un corrompu) le rend restaurable pendant 3 jours.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suppression réellement définitive est exécutée par une tâche planifiée.</a:t>
            </a:r>
            <a:endParaRPr lang="en-US" sz="1450" dirty="0"/>
          </a:p>
        </p:txBody>
      </p:sp>
      <p:sp>
        <p:nvSpPr>
          <p:cNvPr id="7" name="Shape 4"/>
          <p:cNvSpPr/>
          <p:nvPr/>
        </p:nvSpPr>
        <p:spPr>
          <a:xfrm>
            <a:off x="548640" y="4064508"/>
            <a:ext cx="10881360" cy="868680"/>
          </a:xfrm>
          <a:prstGeom prst="roundRect">
            <a:avLst>
              <a:gd name="adj" fmla="val 8421"/>
            </a:avLst>
          </a:prstGeom>
          <a:solidFill>
            <a:srgbClr val="F3E9DA"/>
          </a:solidFill>
          <a:ln/>
        </p:spPr>
      </p:sp>
      <p:sp>
        <p:nvSpPr>
          <p:cNvPr id="8" name="Text 5"/>
          <p:cNvSpPr txBox="1"/>
          <p:nvPr/>
        </p:nvSpPr>
        <p:spPr>
          <a:xfrm>
            <a:off x="868680" y="420166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448556"/>
            <a:ext cx="10241280" cy="41148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Même logique que pour les </a:t>
            </a:r>
            <a:r>
              <a:rPr lang="en-US" sz="1250" dirty="0" err="1">
                <a:solidFill>
                  <a:srgbClr val="2C1A0E"/>
                </a:solidFill>
                <a:latin typeface="Calibri" pitchFamily="34" charset="0"/>
                <a:ea typeface="Calibri" pitchFamily="34" charset="-122"/>
                <a:cs typeface="Calibri" pitchFamily="34" charset="-120"/>
              </a:rPr>
              <a:t>utilisateurs</a:t>
            </a:r>
            <a:r>
              <a:rPr lang="en-US" sz="1250" dirty="0">
                <a:solidFill>
                  <a:srgbClr val="2C1A0E"/>
                </a:solidFill>
                <a:latin typeface="Calibri" pitchFamily="34" charset="0"/>
                <a:ea typeface="Calibri" pitchFamily="34" charset="-122"/>
                <a:cs typeface="Calibri" pitchFamily="34" charset="-120"/>
              </a:rPr>
              <a:t>  </a:t>
            </a:r>
            <a:r>
              <a:rPr lang="en-US" sz="1250" dirty="0" err="1">
                <a:solidFill>
                  <a:srgbClr val="2C1A0E"/>
                </a:solidFill>
                <a:latin typeface="Calibri" pitchFamily="34" charset="0"/>
                <a:ea typeface="Calibri" pitchFamily="34" charset="-122"/>
                <a:cs typeface="Calibri" pitchFamily="34" charset="-120"/>
              </a:rPr>
              <a:t>une</a:t>
            </a:r>
            <a:r>
              <a:rPr lang="en-US" sz="1250" dirty="0">
                <a:solidFill>
                  <a:srgbClr val="2C1A0E"/>
                </a:solidFill>
                <a:latin typeface="Calibri" pitchFamily="34" charset="0"/>
                <a:ea typeface="Calibri" pitchFamily="34" charset="-122"/>
                <a:cs typeface="Calibri" pitchFamily="34" charset="-120"/>
              </a:rPr>
              <a:t> suppression instantanée et sans recours expose à l'erreur humaine sur un document potentiellement irremplaçable.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EXPORT ADMINISTRATIF</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Export en masse pour migration</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702052"/>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Génère une archive ZIP avec les documents déchiffrés d'une ou plusieurs UO.</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Pensé pour une migration ou un changement de système, pas un usage courant.</a:t>
            </a:r>
            <a:endParaRPr lang="en-US" sz="1450" dirty="0"/>
          </a:p>
        </p:txBody>
      </p:sp>
      <p:sp>
        <p:nvSpPr>
          <p:cNvPr id="8" name="Shape 5"/>
          <p:cNvSpPr/>
          <p:nvPr/>
        </p:nvSpPr>
        <p:spPr>
          <a:xfrm>
            <a:off x="548640" y="4338828"/>
            <a:ext cx="10881360" cy="868680"/>
          </a:xfrm>
          <a:prstGeom prst="roundRect">
            <a:avLst>
              <a:gd name="adj" fmla="val 8421"/>
            </a:avLst>
          </a:prstGeom>
          <a:solidFill>
            <a:srgbClr val="F3E9DA"/>
          </a:solidFill>
          <a:ln/>
        </p:spPr>
      </p:sp>
      <p:sp>
        <p:nvSpPr>
          <p:cNvPr id="9" name="Text 6"/>
          <p:cNvSpPr txBox="1"/>
          <p:nvPr/>
        </p:nvSpPr>
        <p:spPr>
          <a:xfrm>
            <a:off x="868680" y="447598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22876"/>
            <a:ext cx="10241280" cy="41148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Une institution qui change d'outil d'archivage doit pouvoir récupérer l'intégralité de ses documents en clair, sans dépendre indéfiniment de MadeArchive.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JOURNAL D'AUDIT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Traçabilité de toute action sensible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ADMIN, ADMIN_UO (scopé)</a:t>
            </a:r>
            <a:endParaRPr lang="en-US" sz="1050" dirty="0"/>
          </a:p>
        </p:txBody>
      </p:sp>
      <p:sp>
        <p:nvSpPr>
          <p:cNvPr id="7" name="Text 4"/>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Archivage, suppression, transfert d'UO, génération d'attestation, consultation publique…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Chaque entrée porte son acteur, sa cible et l'UO concernée.</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NOTIFICATIONS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Alertes internes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marL="0" indent="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File de notifications par utilisateur, lues/non lues.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Pour les événements qui le concernent directement.</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6">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marL="0" indent="0">
              <a:buNone/>
            </a:pPr>
            <a:r>
              <a:rPr lang="en-US" sz="1200" kern="0" spc="200" dirty="0">
                <a:solidFill>
                  <a:srgbClr val="D9AE6C"/>
                </a:solidFill>
                <a:latin typeface="Calibri" pitchFamily="34" charset="0"/>
                <a:ea typeface="Calibri" pitchFamily="34" charset="-122"/>
                <a:cs typeface="Calibri" pitchFamily="34" charset="-120"/>
              </a:rPr>
              <a:t>PARTIE 7</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Infrastructure — conteneurs Docker</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17550"/>
            <a:ext cx="382219" cy="382219"/>
          </a:xfrm>
          <a:prstGeom prst="rect">
            <a:avLst/>
          </a:prstGeom>
        </p:spPr>
      </p:pic>
      <p:sp>
        <p:nvSpPr>
          <p:cNvPr id="4" name="Text 1"/>
          <p:cNvSpPr txBox="1"/>
          <p:nvPr/>
        </p:nvSpPr>
        <p:spPr>
          <a:xfrm>
            <a:off x="1170432" y="420624"/>
            <a:ext cx="9418320" cy="548640"/>
          </a:xfrm>
          <a:prstGeom prst="rect">
            <a:avLst/>
          </a:prstGeom>
          <a:noFill/>
          <a:ln/>
        </p:spPr>
        <p:txBody>
          <a:bodyPr wrap="square" lIns="0" tIns="0" rIns="0" bIns="0" rtlCol="0" anchor="ctr"/>
          <a:lstStyle/>
          <a:p>
            <a:pPr marL="0" indent="0">
              <a:buNone/>
            </a:pPr>
            <a:r>
              <a:rPr lang="en-US" sz="2600" b="1" dirty="0">
                <a:solidFill>
                  <a:srgbClr val="2C1A0E"/>
                </a:solidFill>
                <a:latin typeface="Cambria" pitchFamily="34" charset="0"/>
                <a:ea typeface="Cambria" pitchFamily="34" charset="-122"/>
                <a:cs typeface="Cambria" pitchFamily="34" charset="-120"/>
              </a:rPr>
              <a:t>Infrastructure — conteneurs Docker</a:t>
            </a:r>
            <a:endParaRPr lang="en-US" sz="2600" dirty="0"/>
          </a:p>
        </p:txBody>
      </p:sp>
      <p:sp>
        <p:nvSpPr>
          <p:cNvPr id="5" name="Text 2"/>
          <p:cNvSpPr txBox="1"/>
          <p:nvPr/>
        </p:nvSpPr>
        <p:spPr>
          <a:xfrm>
            <a:off x="10607040" y="502920"/>
            <a:ext cx="1097280" cy="365760"/>
          </a:xfrm>
          <a:prstGeom prst="rect">
            <a:avLst/>
          </a:prstGeom>
          <a:noFill/>
          <a:ln/>
        </p:spPr>
        <p:txBody>
          <a:bodyPr wrap="square" lIns="0" tIns="0" rIns="0" bIns="0" rtlCol="0" anchor="ctr"/>
          <a:lstStyle/>
          <a:p>
            <a:pPr marL="0" indent="0" algn="r">
              <a:buNone/>
            </a:pPr>
            <a:r>
              <a:rPr lang="en-US" sz="1100" dirty="0">
                <a:solidFill>
                  <a:srgbClr val="7C6552"/>
                </a:solidFill>
                <a:latin typeface="Calibri" pitchFamily="34" charset="0"/>
                <a:ea typeface="Calibri" pitchFamily="34" charset="-122"/>
                <a:cs typeface="Calibri" pitchFamily="34" charset="-120"/>
              </a:rPr>
              <a:t>1 / 2</a:t>
            </a:r>
            <a:endParaRPr lang="en-US" sz="1100" dirty="0"/>
          </a:p>
        </p:txBody>
      </p:sp>
      <p:sp>
        <p:nvSpPr>
          <p:cNvPr id="6" name="Shape 3"/>
          <p:cNvSpPr/>
          <p:nvPr/>
        </p:nvSpPr>
        <p:spPr>
          <a:xfrm>
            <a:off x="548640" y="1143000"/>
            <a:ext cx="5394960" cy="1691640"/>
          </a:xfrm>
          <a:prstGeom prst="roundRect">
            <a:avLst>
              <a:gd name="adj" fmla="val 4324"/>
            </a:avLst>
          </a:prstGeom>
          <a:solidFill>
            <a:srgbClr val="F3E9DA"/>
          </a:solidFill>
          <a:ln/>
        </p:spPr>
      </p:sp>
      <p:sp>
        <p:nvSpPr>
          <p:cNvPr id="7" name="Text 4"/>
          <p:cNvSpPr txBox="1"/>
          <p:nvPr/>
        </p:nvSpPr>
        <p:spPr>
          <a:xfrm>
            <a:off x="804672" y="1271016"/>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app</a:t>
            </a:r>
            <a:endParaRPr lang="en-US" sz="1350" dirty="0"/>
          </a:p>
        </p:txBody>
      </p:sp>
      <p:sp>
        <p:nvSpPr>
          <p:cNvPr id="8" name="Text 5"/>
          <p:cNvSpPr txBox="1"/>
          <p:nvPr/>
        </p:nvSpPr>
        <p:spPr>
          <a:xfrm>
            <a:off x="804672" y="1545336"/>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ghcr.io/lloyd-koutele/madearchive-app</a:t>
            </a:r>
            <a:endParaRPr lang="en-US" sz="850" dirty="0"/>
          </a:p>
        </p:txBody>
      </p:sp>
      <p:sp>
        <p:nvSpPr>
          <p:cNvPr id="9" name="Text 6"/>
          <p:cNvSpPr txBox="1"/>
          <p:nvPr/>
        </p:nvSpPr>
        <p:spPr>
          <a:xfrm>
            <a:off x="804672" y="1819656"/>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Le backend Spring Boot — toute la logique métier de ce document. Seul conteneur autorisé à parler à tous les autres ; aucun port publié, joignable uniquement via Traefik.</a:t>
            </a:r>
            <a:endParaRPr lang="en-US" sz="970" dirty="0"/>
          </a:p>
        </p:txBody>
      </p:sp>
      <p:sp>
        <p:nvSpPr>
          <p:cNvPr id="10" name="Shape 7"/>
          <p:cNvSpPr/>
          <p:nvPr/>
        </p:nvSpPr>
        <p:spPr>
          <a:xfrm>
            <a:off x="6062472" y="1143000"/>
            <a:ext cx="5394960" cy="1691640"/>
          </a:xfrm>
          <a:prstGeom prst="roundRect">
            <a:avLst>
              <a:gd name="adj" fmla="val 4324"/>
            </a:avLst>
          </a:prstGeom>
          <a:solidFill>
            <a:srgbClr val="F3E9DA"/>
          </a:solidFill>
          <a:ln/>
        </p:spPr>
      </p:sp>
      <p:sp>
        <p:nvSpPr>
          <p:cNvPr id="11" name="Text 8"/>
          <p:cNvSpPr txBox="1"/>
          <p:nvPr/>
        </p:nvSpPr>
        <p:spPr>
          <a:xfrm>
            <a:off x="6318504" y="1271016"/>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frontend</a:t>
            </a:r>
            <a:endParaRPr lang="en-US" sz="1350" dirty="0"/>
          </a:p>
        </p:txBody>
      </p:sp>
      <p:sp>
        <p:nvSpPr>
          <p:cNvPr id="12" name="Text 9"/>
          <p:cNvSpPr txBox="1"/>
          <p:nvPr/>
        </p:nvSpPr>
        <p:spPr>
          <a:xfrm>
            <a:off x="6318504" y="1545336"/>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ghcr.io/lloyd-koutele/madearchive-frontend</a:t>
            </a:r>
            <a:endParaRPr lang="en-US" sz="850" dirty="0"/>
          </a:p>
        </p:txBody>
      </p:sp>
      <p:sp>
        <p:nvSpPr>
          <p:cNvPr id="13" name="Text 10"/>
          <p:cNvSpPr txBox="1"/>
          <p:nvPr/>
        </p:nvSpPr>
        <p:spPr>
          <a:xfrm>
            <a:off x="6318504" y="1819656"/>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L'interface React, servie statiquement. Même durcissement que "app" : aucun accès direct, uniquement via Traefik.</a:t>
            </a:r>
            <a:endParaRPr lang="en-US" sz="970" dirty="0"/>
          </a:p>
        </p:txBody>
      </p:sp>
      <p:sp>
        <p:nvSpPr>
          <p:cNvPr id="14" name="Shape 11"/>
          <p:cNvSpPr/>
          <p:nvPr/>
        </p:nvSpPr>
        <p:spPr>
          <a:xfrm>
            <a:off x="548640" y="2999232"/>
            <a:ext cx="5394960" cy="1691640"/>
          </a:xfrm>
          <a:prstGeom prst="roundRect">
            <a:avLst>
              <a:gd name="adj" fmla="val 4324"/>
            </a:avLst>
          </a:prstGeom>
          <a:solidFill>
            <a:srgbClr val="F3E9DA"/>
          </a:solidFill>
          <a:ln/>
        </p:spPr>
      </p:sp>
      <p:sp>
        <p:nvSpPr>
          <p:cNvPr id="15" name="Text 12"/>
          <p:cNvSpPr txBox="1"/>
          <p:nvPr/>
        </p:nvSpPr>
        <p:spPr>
          <a:xfrm>
            <a:off x="804672" y="3127248"/>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postgres</a:t>
            </a:r>
            <a:endParaRPr lang="en-US" sz="1350" dirty="0"/>
          </a:p>
        </p:txBody>
      </p:sp>
      <p:sp>
        <p:nvSpPr>
          <p:cNvPr id="16" name="Text 13"/>
          <p:cNvSpPr txBox="1"/>
          <p:nvPr/>
        </p:nvSpPr>
        <p:spPr>
          <a:xfrm>
            <a:off x="804672" y="3401568"/>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postgres:16-alpine</a:t>
            </a:r>
            <a:endParaRPr lang="en-US" sz="850" dirty="0"/>
          </a:p>
        </p:txBody>
      </p:sp>
      <p:sp>
        <p:nvSpPr>
          <p:cNvPr id="17" name="Text 14"/>
          <p:cNvSpPr txBox="1"/>
          <p:nvPr/>
        </p:nvSpPr>
        <p:spPr>
          <a:xfrm>
            <a:off x="804672" y="3675888"/>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Base de données relationnelle — LA source de vérité (documents, utilisateurs, UO, métadonnées).</a:t>
            </a:r>
            <a:endParaRPr lang="en-US" sz="970" dirty="0"/>
          </a:p>
          <a:p>
            <a:pPr marL="0" indent="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Seul conteneur en volume nommé dès le départ — ses données doivent survivre à un redémarrage, sans exception.</a:t>
            </a:r>
            <a:endParaRPr lang="en-US" sz="970" dirty="0"/>
          </a:p>
        </p:txBody>
      </p:sp>
      <p:sp>
        <p:nvSpPr>
          <p:cNvPr id="18" name="Shape 15"/>
          <p:cNvSpPr/>
          <p:nvPr/>
        </p:nvSpPr>
        <p:spPr>
          <a:xfrm>
            <a:off x="6062472" y="2999232"/>
            <a:ext cx="5394960" cy="1691640"/>
          </a:xfrm>
          <a:prstGeom prst="roundRect">
            <a:avLst>
              <a:gd name="adj" fmla="val 4324"/>
            </a:avLst>
          </a:prstGeom>
          <a:solidFill>
            <a:srgbClr val="F3E9DA"/>
          </a:solidFill>
          <a:ln/>
        </p:spPr>
      </p:sp>
      <p:sp>
        <p:nvSpPr>
          <p:cNvPr id="19" name="Text 16"/>
          <p:cNvSpPr txBox="1"/>
          <p:nvPr/>
        </p:nvSpPr>
        <p:spPr>
          <a:xfrm>
            <a:off x="6318504" y="3127248"/>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minio</a:t>
            </a:r>
            <a:endParaRPr lang="en-US" sz="1350" dirty="0"/>
          </a:p>
        </p:txBody>
      </p:sp>
      <p:sp>
        <p:nvSpPr>
          <p:cNvPr id="20" name="Text 17"/>
          <p:cNvSpPr txBox="1"/>
          <p:nvPr/>
        </p:nvSpPr>
        <p:spPr>
          <a:xfrm>
            <a:off x="6318504" y="3401568"/>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minio/minio:latest</a:t>
            </a:r>
            <a:endParaRPr lang="en-US" sz="850" dirty="0"/>
          </a:p>
        </p:txBody>
      </p:sp>
      <p:sp>
        <p:nvSpPr>
          <p:cNvPr id="21" name="Text 18"/>
          <p:cNvSpPr txBox="1"/>
          <p:nvPr/>
        </p:nvSpPr>
        <p:spPr>
          <a:xfrm>
            <a:off x="6318504" y="3675888"/>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Stockage objet compatible S3 — seul endroit où les PDF/A archivés, chiffrés, sont réellement conservés.</a:t>
            </a:r>
            <a:endParaRPr lang="en-US" sz="970" dirty="0"/>
          </a:p>
        </p:txBody>
      </p:sp>
      <p:sp>
        <p:nvSpPr>
          <p:cNvPr id="22" name="Shape 19"/>
          <p:cNvSpPr/>
          <p:nvPr/>
        </p:nvSpPr>
        <p:spPr>
          <a:xfrm>
            <a:off x="548640" y="4855464"/>
            <a:ext cx="5394960" cy="1691640"/>
          </a:xfrm>
          <a:prstGeom prst="roundRect">
            <a:avLst>
              <a:gd name="adj" fmla="val 4324"/>
            </a:avLst>
          </a:prstGeom>
          <a:solidFill>
            <a:srgbClr val="F3E9DA"/>
          </a:solidFill>
          <a:ln/>
        </p:spPr>
      </p:sp>
      <p:sp>
        <p:nvSpPr>
          <p:cNvPr id="23" name="Text 20"/>
          <p:cNvSpPr txBox="1"/>
          <p:nvPr/>
        </p:nvSpPr>
        <p:spPr>
          <a:xfrm>
            <a:off x="804672" y="4983480"/>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meilisearch</a:t>
            </a:r>
            <a:endParaRPr lang="en-US" sz="1350" dirty="0"/>
          </a:p>
        </p:txBody>
      </p:sp>
      <p:sp>
        <p:nvSpPr>
          <p:cNvPr id="24" name="Text 21"/>
          <p:cNvSpPr txBox="1"/>
          <p:nvPr/>
        </p:nvSpPr>
        <p:spPr>
          <a:xfrm>
            <a:off x="804672" y="5257800"/>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getmeili/meilisearch:latest</a:t>
            </a:r>
            <a:endParaRPr lang="en-US" sz="850" dirty="0"/>
          </a:p>
        </p:txBody>
      </p:sp>
      <p:sp>
        <p:nvSpPr>
          <p:cNvPr id="25" name="Text 22"/>
          <p:cNvSpPr txBox="1"/>
          <p:nvPr/>
        </p:nvSpPr>
        <p:spPr>
          <a:xfrm>
            <a:off x="804672" y="5532120"/>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Moteur de recherche plein texte — ne fait jamais autorité sur le contenu ou les droits d'accès, seulement sur la pertinence.</a:t>
            </a:r>
            <a:endParaRPr lang="en-US" sz="970" dirty="0"/>
          </a:p>
        </p:txBody>
      </p:sp>
      <p:sp>
        <p:nvSpPr>
          <p:cNvPr id="26" name="Shape 23"/>
          <p:cNvSpPr/>
          <p:nvPr/>
        </p:nvSpPr>
        <p:spPr>
          <a:xfrm>
            <a:off x="6062472" y="4855464"/>
            <a:ext cx="5394960" cy="1691640"/>
          </a:xfrm>
          <a:prstGeom prst="roundRect">
            <a:avLst>
              <a:gd name="adj" fmla="val 4324"/>
            </a:avLst>
          </a:prstGeom>
          <a:solidFill>
            <a:srgbClr val="F3E9DA"/>
          </a:solidFill>
          <a:ln/>
        </p:spPr>
      </p:sp>
      <p:sp>
        <p:nvSpPr>
          <p:cNvPr id="27" name="Text 24"/>
          <p:cNvSpPr txBox="1"/>
          <p:nvPr/>
        </p:nvSpPr>
        <p:spPr>
          <a:xfrm>
            <a:off x="6318504" y="4983480"/>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redis</a:t>
            </a:r>
            <a:endParaRPr lang="en-US" sz="1350" dirty="0"/>
          </a:p>
        </p:txBody>
      </p:sp>
      <p:sp>
        <p:nvSpPr>
          <p:cNvPr id="28" name="Text 25"/>
          <p:cNvSpPr txBox="1"/>
          <p:nvPr/>
        </p:nvSpPr>
        <p:spPr>
          <a:xfrm>
            <a:off x="6318504" y="5257800"/>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redis:7-alpine</a:t>
            </a:r>
            <a:endParaRPr lang="en-US" sz="850" dirty="0"/>
          </a:p>
        </p:txBody>
      </p:sp>
      <p:sp>
        <p:nvSpPr>
          <p:cNvPr id="29" name="Text 26"/>
          <p:cNvSpPr txBox="1"/>
          <p:nvPr/>
        </p:nvSpPr>
        <p:spPr>
          <a:xfrm>
            <a:off x="6318504" y="5532120"/>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Cache d'authentification — reconstruit le principal de sécurité (rôles, session) à chaque requête sans retaper PostgreSQL.</a:t>
            </a:r>
            <a:endParaRPr lang="en-US" sz="970" dirty="0"/>
          </a:p>
        </p:txBody>
      </p:sp>
      <p:sp>
        <p:nvSpPr>
          <p:cNvPr id="30" name="Text 2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1" name="Text 2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17550"/>
            <a:ext cx="382219" cy="382219"/>
          </a:xfrm>
          <a:prstGeom prst="rect">
            <a:avLst/>
          </a:prstGeom>
        </p:spPr>
      </p:pic>
      <p:sp>
        <p:nvSpPr>
          <p:cNvPr id="4" name="Text 1"/>
          <p:cNvSpPr txBox="1"/>
          <p:nvPr/>
        </p:nvSpPr>
        <p:spPr>
          <a:xfrm>
            <a:off x="1170432" y="420624"/>
            <a:ext cx="9418320" cy="548640"/>
          </a:xfrm>
          <a:prstGeom prst="rect">
            <a:avLst/>
          </a:prstGeom>
          <a:noFill/>
          <a:ln/>
        </p:spPr>
        <p:txBody>
          <a:bodyPr wrap="square" lIns="0" tIns="0" rIns="0" bIns="0" rtlCol="0" anchor="ctr"/>
          <a:lstStyle/>
          <a:p>
            <a:pPr marL="0" indent="0">
              <a:buNone/>
            </a:pPr>
            <a:r>
              <a:rPr lang="en-US" sz="2600" b="1" dirty="0">
                <a:solidFill>
                  <a:srgbClr val="2C1A0E"/>
                </a:solidFill>
                <a:latin typeface="Cambria" pitchFamily="34" charset="0"/>
                <a:ea typeface="Cambria" pitchFamily="34" charset="-122"/>
                <a:cs typeface="Cambria" pitchFamily="34" charset="-120"/>
              </a:rPr>
              <a:t>Infrastructure — conteneurs Docker</a:t>
            </a:r>
            <a:endParaRPr lang="en-US" sz="2600" dirty="0"/>
          </a:p>
        </p:txBody>
      </p:sp>
      <p:sp>
        <p:nvSpPr>
          <p:cNvPr id="5" name="Text 2"/>
          <p:cNvSpPr txBox="1"/>
          <p:nvPr/>
        </p:nvSpPr>
        <p:spPr>
          <a:xfrm>
            <a:off x="10607040" y="502920"/>
            <a:ext cx="1097280" cy="365760"/>
          </a:xfrm>
          <a:prstGeom prst="rect">
            <a:avLst/>
          </a:prstGeom>
          <a:noFill/>
          <a:ln/>
        </p:spPr>
        <p:txBody>
          <a:bodyPr wrap="square" lIns="0" tIns="0" rIns="0" bIns="0" rtlCol="0" anchor="ctr"/>
          <a:lstStyle/>
          <a:p>
            <a:pPr marL="0" indent="0" algn="r">
              <a:buNone/>
            </a:pPr>
            <a:r>
              <a:rPr lang="en-US" sz="1100" dirty="0">
                <a:solidFill>
                  <a:srgbClr val="7C6552"/>
                </a:solidFill>
                <a:latin typeface="Calibri" pitchFamily="34" charset="0"/>
                <a:ea typeface="Calibri" pitchFamily="34" charset="-122"/>
                <a:cs typeface="Calibri" pitchFamily="34" charset="-120"/>
              </a:rPr>
              <a:t>2 / 2</a:t>
            </a:r>
            <a:endParaRPr lang="en-US" sz="1100" dirty="0"/>
          </a:p>
        </p:txBody>
      </p:sp>
      <p:sp>
        <p:nvSpPr>
          <p:cNvPr id="6" name="Shape 3"/>
          <p:cNvSpPr/>
          <p:nvPr/>
        </p:nvSpPr>
        <p:spPr>
          <a:xfrm>
            <a:off x="548640" y="1143000"/>
            <a:ext cx="5394960" cy="1691640"/>
          </a:xfrm>
          <a:prstGeom prst="roundRect">
            <a:avLst>
              <a:gd name="adj" fmla="val 4324"/>
            </a:avLst>
          </a:prstGeom>
          <a:solidFill>
            <a:srgbClr val="F3E9DA"/>
          </a:solidFill>
          <a:ln/>
        </p:spPr>
      </p:sp>
      <p:sp>
        <p:nvSpPr>
          <p:cNvPr id="7" name="Text 4"/>
          <p:cNvSpPr txBox="1"/>
          <p:nvPr/>
        </p:nvSpPr>
        <p:spPr>
          <a:xfrm>
            <a:off x="804672" y="1271016"/>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gotenberg</a:t>
            </a:r>
            <a:endParaRPr lang="en-US" sz="1350" dirty="0"/>
          </a:p>
        </p:txBody>
      </p:sp>
      <p:sp>
        <p:nvSpPr>
          <p:cNvPr id="8" name="Text 5"/>
          <p:cNvSpPr txBox="1"/>
          <p:nvPr/>
        </p:nvSpPr>
        <p:spPr>
          <a:xfrm>
            <a:off x="804672" y="1545336"/>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gotenberg/gotenberg:8</a:t>
            </a:r>
            <a:endParaRPr lang="en-US" sz="850" dirty="0"/>
          </a:p>
        </p:txBody>
      </p:sp>
      <p:sp>
        <p:nvSpPr>
          <p:cNvPr id="9" name="Text 6"/>
          <p:cNvSpPr txBox="1"/>
          <p:nvPr/>
        </p:nvSpPr>
        <p:spPr>
          <a:xfrm>
            <a:off x="804672" y="1819656"/>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Conteneur LibreOffice persistant, dédié à la conversion de tout format bureautique/image en PDF.</a:t>
            </a:r>
            <a:endParaRPr lang="en-US" sz="970" dirty="0"/>
          </a:p>
          <a:p>
            <a:pPr marL="0" indent="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Remplace un "soffice" relancé à chaque fichier (démarrage à froid de plusieurs secondes) — pool LibreOffice chaud en permanence, RAM/CPU jamais en concurrence avec l'appli.</a:t>
            </a:r>
            <a:endParaRPr lang="en-US" sz="970" dirty="0"/>
          </a:p>
        </p:txBody>
      </p:sp>
      <p:sp>
        <p:nvSpPr>
          <p:cNvPr id="10" name="Shape 7"/>
          <p:cNvSpPr/>
          <p:nvPr/>
        </p:nvSpPr>
        <p:spPr>
          <a:xfrm>
            <a:off x="6062472" y="1143000"/>
            <a:ext cx="5394960" cy="1691640"/>
          </a:xfrm>
          <a:prstGeom prst="roundRect">
            <a:avLst>
              <a:gd name="adj" fmla="val 4324"/>
            </a:avLst>
          </a:prstGeom>
          <a:solidFill>
            <a:srgbClr val="F3E9DA"/>
          </a:solidFill>
          <a:ln/>
        </p:spPr>
      </p:sp>
      <p:sp>
        <p:nvSpPr>
          <p:cNvPr id="11" name="Text 8"/>
          <p:cNvSpPr txBox="1"/>
          <p:nvPr/>
        </p:nvSpPr>
        <p:spPr>
          <a:xfrm>
            <a:off x="6318504" y="1271016"/>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ollama</a:t>
            </a:r>
            <a:endParaRPr lang="en-US" sz="1350" dirty="0"/>
          </a:p>
        </p:txBody>
      </p:sp>
      <p:sp>
        <p:nvSpPr>
          <p:cNvPr id="12" name="Text 9"/>
          <p:cNvSpPr txBox="1"/>
          <p:nvPr/>
        </p:nvSpPr>
        <p:spPr>
          <a:xfrm>
            <a:off x="6318504" y="1545336"/>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ollama/ollama — modèle qwen2.5-coder:7b</a:t>
            </a:r>
            <a:endParaRPr lang="en-US" sz="850" dirty="0"/>
          </a:p>
        </p:txBody>
      </p:sp>
      <p:sp>
        <p:nvSpPr>
          <p:cNvPr id="13" name="Text 10"/>
          <p:cNvSpPr txBox="1"/>
          <p:nvPr/>
        </p:nvSpPr>
        <p:spPr>
          <a:xfrm>
            <a:off x="6318504" y="1819656"/>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Sert le modèle de langage local (Qwen) qui génère les règles d'extraction automatique des métadonnées.</a:t>
            </a:r>
            <a:endParaRPr lang="en-US" sz="970" dirty="0"/>
          </a:p>
        </p:txBody>
      </p:sp>
      <p:sp>
        <p:nvSpPr>
          <p:cNvPr id="14" name="Shape 11"/>
          <p:cNvSpPr/>
          <p:nvPr/>
        </p:nvSpPr>
        <p:spPr>
          <a:xfrm>
            <a:off x="548640" y="2999232"/>
            <a:ext cx="5394960" cy="1691640"/>
          </a:xfrm>
          <a:prstGeom prst="roundRect">
            <a:avLst>
              <a:gd name="adj" fmla="val 4324"/>
            </a:avLst>
          </a:prstGeom>
          <a:solidFill>
            <a:srgbClr val="F3E9DA"/>
          </a:solidFill>
          <a:ln/>
        </p:spPr>
      </p:sp>
      <p:sp>
        <p:nvSpPr>
          <p:cNvPr id="15" name="Text 12"/>
          <p:cNvSpPr txBox="1"/>
          <p:nvPr/>
        </p:nvSpPr>
        <p:spPr>
          <a:xfrm>
            <a:off x="804672" y="3127248"/>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chromium</a:t>
            </a:r>
            <a:endParaRPr lang="en-US" sz="1350" dirty="0"/>
          </a:p>
        </p:txBody>
      </p:sp>
      <p:sp>
        <p:nvSpPr>
          <p:cNvPr id="16" name="Text 13"/>
          <p:cNvSpPr txBox="1"/>
          <p:nvPr/>
        </p:nvSpPr>
        <p:spPr>
          <a:xfrm>
            <a:off x="804672" y="3401568"/>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ghcr.io/browserless/chromium:v2.56.0</a:t>
            </a:r>
            <a:endParaRPr lang="en-US" sz="850" dirty="0"/>
          </a:p>
        </p:txBody>
      </p:sp>
      <p:sp>
        <p:nvSpPr>
          <p:cNvPr id="17" name="Text 14"/>
          <p:cNvSpPr txBox="1"/>
          <p:nvPr/>
        </p:nvSpPr>
        <p:spPr>
          <a:xfrm>
            <a:off x="804672" y="3675888"/>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Navigateur headless dédié à l'import de documents par navigation web assistée.</a:t>
            </a:r>
            <a:endParaRPr lang="en-US" sz="970" dirty="0"/>
          </a:p>
          <a:p>
            <a:pPr marL="0" indent="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Mémoire/CPU strictement plafonnés (1 Go, 1 cœur) — un afflux d'imports web ne peut jamais affecter le reste de l'application.</a:t>
            </a:r>
            <a:endParaRPr lang="en-US" sz="970" dirty="0"/>
          </a:p>
        </p:txBody>
      </p:sp>
      <p:sp>
        <p:nvSpPr>
          <p:cNvPr id="18" name="Shape 15"/>
          <p:cNvSpPr/>
          <p:nvPr/>
        </p:nvSpPr>
        <p:spPr>
          <a:xfrm>
            <a:off x="6062472" y="2999232"/>
            <a:ext cx="5394960" cy="1691640"/>
          </a:xfrm>
          <a:prstGeom prst="roundRect">
            <a:avLst>
              <a:gd name="adj" fmla="val 4324"/>
            </a:avLst>
          </a:prstGeom>
          <a:solidFill>
            <a:srgbClr val="F3E9DA"/>
          </a:solidFill>
          <a:ln/>
        </p:spPr>
      </p:sp>
      <p:sp>
        <p:nvSpPr>
          <p:cNvPr id="19" name="Text 16"/>
          <p:cNvSpPr txBox="1"/>
          <p:nvPr/>
        </p:nvSpPr>
        <p:spPr>
          <a:xfrm>
            <a:off x="6318504" y="3127248"/>
            <a:ext cx="4937760" cy="292608"/>
          </a:xfrm>
          <a:prstGeom prst="rect">
            <a:avLst/>
          </a:prstGeom>
          <a:noFill/>
          <a:ln/>
        </p:spPr>
        <p:txBody>
          <a:bodyPr wrap="square" lIns="0" tIns="0" rIns="0" bIns="0" rtlCol="0" anchor="ctr"/>
          <a:lstStyle/>
          <a:p>
            <a:pPr marL="0" indent="0">
              <a:buNone/>
            </a:pPr>
            <a:r>
              <a:rPr lang="en-US" sz="1350" b="1" dirty="0">
                <a:solidFill>
                  <a:srgbClr val="B5813F"/>
                </a:solidFill>
                <a:latin typeface="Courier New" pitchFamily="34" charset="0"/>
                <a:ea typeface="Courier New" pitchFamily="34" charset="-122"/>
                <a:cs typeface="Courier New" pitchFamily="34" charset="-120"/>
              </a:rPr>
              <a:t>traefik</a:t>
            </a:r>
            <a:endParaRPr lang="en-US" sz="1350" dirty="0"/>
          </a:p>
        </p:txBody>
      </p:sp>
      <p:sp>
        <p:nvSpPr>
          <p:cNvPr id="20" name="Text 17"/>
          <p:cNvSpPr txBox="1"/>
          <p:nvPr/>
        </p:nvSpPr>
        <p:spPr>
          <a:xfrm>
            <a:off x="6318504" y="3401568"/>
            <a:ext cx="4937760" cy="237744"/>
          </a:xfrm>
          <a:prstGeom prst="rect">
            <a:avLst/>
          </a:prstGeom>
          <a:noFill/>
          <a:ln/>
        </p:spPr>
        <p:txBody>
          <a:bodyPr wrap="square" lIns="0" tIns="0" rIns="0" bIns="0" rtlCol="0" anchor="ctr"/>
          <a:lstStyle/>
          <a:p>
            <a:pPr marL="0" indent="0">
              <a:buNone/>
            </a:pPr>
            <a:r>
              <a:rPr lang="en-US" sz="850" dirty="0">
                <a:solidFill>
                  <a:srgbClr val="7C6552"/>
                </a:solidFill>
                <a:latin typeface="Courier New" pitchFamily="34" charset="0"/>
                <a:ea typeface="Courier New" pitchFamily="34" charset="-122"/>
                <a:cs typeface="Courier New" pitchFamily="34" charset="-120"/>
              </a:rPr>
              <a:t>image maison, basée sur Traefik</a:t>
            </a:r>
            <a:endParaRPr lang="en-US" sz="850" dirty="0"/>
          </a:p>
        </p:txBody>
      </p:sp>
      <p:sp>
        <p:nvSpPr>
          <p:cNvPr id="21" name="Text 18"/>
          <p:cNvSpPr txBox="1"/>
          <p:nvPr/>
        </p:nvSpPr>
        <p:spPr>
          <a:xfrm>
            <a:off x="6318504" y="3675888"/>
            <a:ext cx="4882896" cy="905256"/>
          </a:xfrm>
          <a:prstGeom prst="rect">
            <a:avLst/>
          </a:prstGeom>
          <a:noFill/>
          <a:ln/>
        </p:spPr>
        <p:txBody>
          <a:bodyPr wrap="square" lIns="0" tIns="0" rIns="0" bIns="0" rtlCol="0" anchor="ctr"/>
          <a:lstStyle/>
          <a:p>
            <a:pPr marL="0" indent="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Unique point d'entrée public (80/443) : termine le HTTPS, redirige tout HTTP, route vers "frontend" ou "app" selon le chemin.</a:t>
            </a:r>
            <a:endParaRPr lang="en-US" sz="970" dirty="0"/>
          </a:p>
          <a:p>
            <a:pPr marL="0" indent="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Aucun autre conteneur n'est exposé directement — un accès qui contournerait le HTTPS est structurellement impossible.</a:t>
            </a:r>
            <a:endParaRPr lang="en-US" sz="970" dirty="0"/>
          </a:p>
        </p:txBody>
      </p:sp>
      <p:sp>
        <p:nvSpPr>
          <p:cNvPr id="22" name="Text 19"/>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23" name="Text 20"/>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TRAEFIK EN DÉTAIL</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Rôle général</a:t>
            </a:r>
            <a:endParaRPr lang="en-US" sz="2400" dirty="0"/>
          </a:p>
        </p:txBody>
      </p:sp>
      <p:sp>
        <p:nvSpPr>
          <p:cNvPr id="6" name="Text 3"/>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Reverse proxy et répartiteur de charge HTTP(S), le SEUL conteneur exposé sur les ports 80/443.</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Tout le trafic public passe par lui, qui décide vers quel service interne router chaque requête.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Termine aussi le TLS, les autres conteneurs ne se parlent qu'en clair sur le réseau Docker interne.</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TRAEFIK EN DÉTAIL</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Initialisation — image maison</a:t>
            </a:r>
            <a:endParaRPr lang="en-US" sz="2400" dirty="0"/>
          </a:p>
        </p:txBody>
      </p:sp>
      <p:sp>
        <p:nvSpPr>
          <p:cNvPr id="6" name="Text 3"/>
          <p:cNvSpPr txBox="1"/>
          <p:nvPr/>
        </p:nvSpPr>
        <p:spPr>
          <a:xfrm>
            <a:off x="548640" y="283921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point d'entrée personnalisé régénère dynamic.yml depuis un gabarit à CHAQUE démarrage, en substituant ${APP_DOMAIN}.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fichier réellement lu par Traefik n'est jamais </a:t>
            </a:r>
            <a:r>
              <a:rPr lang="en-US" sz="1450" dirty="0" err="1">
                <a:solidFill>
                  <a:srgbClr val="2C1A0E"/>
                </a:solidFill>
                <a:latin typeface="Calibri" pitchFamily="34" charset="0"/>
                <a:ea typeface="Calibri" pitchFamily="34" charset="-122"/>
                <a:cs typeface="Calibri" pitchFamily="34" charset="-120"/>
              </a:rPr>
              <a:t>versionné</a:t>
            </a:r>
            <a:r>
              <a:rPr lang="en-US" sz="1450" dirty="0">
                <a:solidFill>
                  <a:srgbClr val="2C1A0E"/>
                </a:solidFill>
                <a:latin typeface="Calibri" pitchFamily="34" charset="0"/>
                <a:ea typeface="Calibri" pitchFamily="34" charset="-122"/>
                <a:cs typeface="Calibri" pitchFamily="34" charset="-120"/>
              </a:rPr>
              <a:t>, reconstruit à chaque redémarrage du conteneur.</a:t>
            </a:r>
            <a:endParaRPr lang="en-US" sz="1450" dirty="0"/>
          </a:p>
        </p:txBody>
      </p:sp>
      <p:sp>
        <p:nvSpPr>
          <p:cNvPr id="7" name="Shape 4"/>
          <p:cNvSpPr/>
          <p:nvPr/>
        </p:nvSpPr>
        <p:spPr>
          <a:xfrm>
            <a:off x="548640" y="3927348"/>
            <a:ext cx="10881360" cy="1143000"/>
          </a:xfrm>
          <a:prstGeom prst="roundRect">
            <a:avLst>
              <a:gd name="adj" fmla="val 6400"/>
            </a:avLst>
          </a:prstGeom>
          <a:solidFill>
            <a:srgbClr val="F3E9DA"/>
          </a:solidFill>
          <a:ln/>
        </p:spPr>
      </p:sp>
      <p:sp>
        <p:nvSpPr>
          <p:cNvPr id="8" name="Text 5"/>
          <p:cNvSpPr txBox="1"/>
          <p:nvPr/>
        </p:nvSpPr>
        <p:spPr>
          <a:xfrm>
            <a:off x="868680" y="406450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11396"/>
            <a:ext cx="10241280" cy="685800"/>
          </a:xfrm>
          <a:prstGeom prst="rect">
            <a:avLst/>
          </a:prstGeom>
          <a:noFill/>
          <a:ln/>
        </p:spPr>
        <p:txBody>
          <a:bodyPr wrap="square" lIns="0" tIns="0" rIns="0" bIns="0" rtlCol="0" anchor="ctr"/>
          <a:lstStyle/>
          <a:p>
            <a:pPr>
              <a:lnSpc>
                <a:spcPct val="110000"/>
              </a:lnSpc>
            </a:pPr>
            <a:r>
              <a:rPr lang="en-US" sz="1250" dirty="0">
                <a:solidFill>
                  <a:srgbClr val="2C1A0E"/>
                </a:solidFill>
                <a:latin typeface="Calibri" pitchFamily="34" charset="0"/>
                <a:ea typeface="Calibri" pitchFamily="34" charset="-122"/>
                <a:cs typeface="Calibri" pitchFamily="34" charset="-120"/>
              </a:rPr>
              <a:t>Avant, le </a:t>
            </a:r>
            <a:r>
              <a:rPr lang="en-US" sz="1250" dirty="0" err="1">
                <a:solidFill>
                  <a:srgbClr val="2C1A0E"/>
                </a:solidFill>
                <a:latin typeface="Calibri" pitchFamily="34" charset="0"/>
                <a:ea typeface="Calibri" pitchFamily="34" charset="-122"/>
                <a:cs typeface="Calibri" pitchFamily="34" charset="-120"/>
              </a:rPr>
              <a:t>domaine</a:t>
            </a:r>
            <a:r>
              <a:rPr lang="en-US" sz="1250" dirty="0">
                <a:solidFill>
                  <a:srgbClr val="2C1A0E"/>
                </a:solidFill>
                <a:latin typeface="Calibri" pitchFamily="34" charset="0"/>
                <a:ea typeface="Calibri" pitchFamily="34" charset="-122"/>
                <a:cs typeface="Calibri" pitchFamily="34" charset="-120"/>
              </a:rPr>
              <a:t> </a:t>
            </a:r>
            <a:r>
              <a:rPr lang="en-US" sz="1250" dirty="0" err="1">
                <a:solidFill>
                  <a:srgbClr val="2C1A0E"/>
                </a:solidFill>
                <a:latin typeface="Calibri" pitchFamily="34" charset="0"/>
                <a:ea typeface="Calibri" pitchFamily="34" charset="-122"/>
                <a:cs typeface="Calibri" pitchFamily="34" charset="-120"/>
              </a:rPr>
              <a:t>écrit</a:t>
            </a:r>
            <a:r>
              <a:rPr lang="en-US" sz="1250" dirty="0">
                <a:solidFill>
                  <a:srgbClr val="2C1A0E"/>
                </a:solidFill>
                <a:latin typeface="Calibri" pitchFamily="34" charset="0"/>
                <a:ea typeface="Calibri" pitchFamily="34" charset="-122"/>
                <a:cs typeface="Calibri" pitchFamily="34" charset="-120"/>
              </a:rPr>
              <a:t> </a:t>
            </a:r>
            <a:r>
              <a:rPr lang="en-US" sz="1250" dirty="0" err="1">
                <a:solidFill>
                  <a:srgbClr val="2C1A0E"/>
                </a:solidFill>
                <a:latin typeface="Calibri" pitchFamily="34" charset="0"/>
                <a:ea typeface="Calibri" pitchFamily="34" charset="-122"/>
                <a:cs typeface="Calibri" pitchFamily="34" charset="-120"/>
              </a:rPr>
              <a:t>en</a:t>
            </a:r>
            <a:r>
              <a:rPr lang="en-US" sz="1250" dirty="0">
                <a:solidFill>
                  <a:srgbClr val="2C1A0E"/>
                </a:solidFill>
                <a:latin typeface="Calibri" pitchFamily="34" charset="0"/>
                <a:ea typeface="Calibri" pitchFamily="34" charset="-122"/>
                <a:cs typeface="Calibri" pitchFamily="34" charset="-120"/>
              </a:rPr>
              <a:t> dur dans le </a:t>
            </a:r>
            <a:r>
              <a:rPr lang="en-US" sz="1400" dirty="0" err="1">
                <a:solidFill>
                  <a:srgbClr val="2C1A0E"/>
                </a:solidFill>
                <a:latin typeface="Calibri" pitchFamily="34" charset="0"/>
                <a:ea typeface="Calibri" pitchFamily="34" charset="-122"/>
                <a:cs typeface="Calibri" pitchFamily="34" charset="-120"/>
              </a:rPr>
              <a:t>dynamic.yml</a:t>
            </a:r>
            <a:r>
              <a:rPr lang="en-US" sz="1400" dirty="0">
                <a:solidFill>
                  <a:srgbClr val="2C1A0E"/>
                </a:solidFill>
                <a:latin typeface="Calibri" pitchFamily="34" charset="0"/>
                <a:ea typeface="Calibri" pitchFamily="34" charset="-122"/>
                <a:cs typeface="Calibri" pitchFamily="34" charset="-120"/>
              </a:rPr>
              <a:t> </a:t>
            </a:r>
            <a:r>
              <a:rPr lang="en-US" sz="1250" dirty="0">
                <a:solidFill>
                  <a:srgbClr val="2C1A0E"/>
                </a:solidFill>
                <a:latin typeface="Calibri" pitchFamily="34" charset="0"/>
                <a:ea typeface="Calibri" pitchFamily="34" charset="-122"/>
                <a:cs typeface="Calibri" pitchFamily="34" charset="-120"/>
              </a:rPr>
              <a:t>ET séparément dans .env (CORS, QR codes), deux copies manuelles, une coquille dans l'une cassait la connexion sans rapport apparent avec la cause. Avec ce gabarit, .env est la seule source.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TRAEFIK EN DÉTAIL</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Fournisseur "file", pas "docker"</a:t>
            </a:r>
            <a:endParaRPr lang="en-US" sz="2400" dirty="0"/>
          </a:p>
        </p:txBody>
      </p:sp>
      <p:sp>
        <p:nvSpPr>
          <p:cNvPr id="6" name="Text 3"/>
          <p:cNvSpPr txBox="1"/>
          <p:nvPr/>
        </p:nvSpPr>
        <p:spPr>
          <a:xfrm>
            <a:off x="548640" y="2976372"/>
            <a:ext cx="10881360" cy="5029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Traefik peut découvrir automatiquement les conteneurs (fournisseur "docker"), ou lire une config statique (fournisseur "file", celui utilisé ici).</a:t>
            </a:r>
            <a:endParaRPr lang="en-US" sz="1450" dirty="0"/>
          </a:p>
        </p:txBody>
      </p:sp>
      <p:sp>
        <p:nvSpPr>
          <p:cNvPr id="7" name="Shape 4"/>
          <p:cNvSpPr/>
          <p:nvPr/>
        </p:nvSpPr>
        <p:spPr>
          <a:xfrm>
            <a:off x="548640" y="3698748"/>
            <a:ext cx="10881360" cy="1234440"/>
          </a:xfrm>
          <a:prstGeom prst="roundRect">
            <a:avLst>
              <a:gd name="adj" fmla="val 5926"/>
            </a:avLst>
          </a:prstGeom>
          <a:solidFill>
            <a:srgbClr val="FBE6D6"/>
          </a:solidFill>
          <a:ln/>
        </p:spPr>
      </p:sp>
      <p:sp>
        <p:nvSpPr>
          <p:cNvPr id="8" name="Text 5"/>
          <p:cNvSpPr txBox="1"/>
          <p:nvPr/>
        </p:nvSpPr>
        <p:spPr>
          <a:xfrm>
            <a:off x="868680" y="3835908"/>
            <a:ext cx="2743200" cy="274320"/>
          </a:xfrm>
          <a:prstGeom prst="rect">
            <a:avLst/>
          </a:prstGeom>
          <a:noFill/>
          <a:ln/>
        </p:spPr>
        <p:txBody>
          <a:bodyPr wrap="square" lIns="0" tIns="0" rIns="0" bIns="0" rtlCol="0" anchor="ctr"/>
          <a:lstStyle/>
          <a:p>
            <a:pPr marL="0" indent="0">
              <a:buNone/>
            </a:pPr>
            <a:r>
              <a:rPr lang="en-US" sz="1000" b="1" kern="0" spc="10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9" name="Text 6"/>
          <p:cNvSpPr txBox="1"/>
          <p:nvPr/>
        </p:nvSpPr>
        <p:spPr>
          <a:xfrm>
            <a:off x="868680" y="4082796"/>
            <a:ext cx="10241280" cy="77724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Le fournisseur "docker" a été essayé et abandonné : incompatible avec Docker Desktop en développement (400 Bad Request) — jamais retesté sur un vrai hôte Linux de production. Le fournisseur "file" actuel fonctionne mais sa configuration est STATIQUE : éditer et recharger le gabarit à la main pour tout changement de topologie.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16671" y="570951"/>
            <a:ext cx="430865" cy="430865"/>
          </a:xfrm>
          <a:prstGeom prst="rect">
            <a:avLst/>
          </a:prstGeom>
        </p:spPr>
      </p:pic>
      <p:sp>
        <p:nvSpPr>
          <p:cNvPr id="4" name="Text 1"/>
          <p:cNvSpPr txBox="1"/>
          <p:nvPr/>
        </p:nvSpPr>
        <p:spPr>
          <a:xfrm>
            <a:off x="1234440" y="475488"/>
            <a:ext cx="9601200" cy="640080"/>
          </a:xfrm>
          <a:prstGeom prst="rect">
            <a:avLst/>
          </a:prstGeom>
          <a:noFill/>
          <a:ln/>
        </p:spPr>
        <p:txBody>
          <a:bodyPr wrap="square" lIns="0" tIns="0" rIns="0" bIns="0" rtlCol="0" anchor="ctr"/>
          <a:lstStyle/>
          <a:p>
            <a:pPr marL="0" indent="0">
              <a:buNone/>
            </a:pPr>
            <a:r>
              <a:rPr lang="en-US" sz="2800" b="1" dirty="0">
                <a:solidFill>
                  <a:srgbClr val="2C1A0E"/>
                </a:solidFill>
                <a:latin typeface="Cambria" pitchFamily="34" charset="0"/>
                <a:ea typeface="Cambria" pitchFamily="34" charset="-122"/>
                <a:cs typeface="Cambria" pitchFamily="34" charset="-120"/>
              </a:rPr>
              <a:t>Initialisation &amp; démarrage</a:t>
            </a:r>
            <a:endParaRPr lang="en-US" sz="2800" dirty="0"/>
          </a:p>
        </p:txBody>
      </p:sp>
      <p:sp>
        <p:nvSpPr>
          <p:cNvPr id="5" name="Text 2"/>
          <p:cNvSpPr txBox="1"/>
          <p:nvPr/>
        </p:nvSpPr>
        <p:spPr>
          <a:xfrm>
            <a:off x="1280160" y="1188720"/>
            <a:ext cx="9966960" cy="548640"/>
          </a:xfrm>
          <a:prstGeom prst="rect">
            <a:avLst/>
          </a:prstGeom>
          <a:noFill/>
          <a:ln/>
        </p:spPr>
        <p:txBody>
          <a:bodyPr wrap="square" lIns="0" tIns="0" rIns="0" bIns="0" rtlCol="0" anchor="ctr"/>
          <a:lstStyle/>
          <a:p>
            <a:pPr marL="0" indent="0">
              <a:lnSpc>
                <a:spcPct val="115000"/>
              </a:lnSpc>
              <a:buNone/>
            </a:pPr>
            <a:r>
              <a:rPr lang="en-US" sz="1300" dirty="0">
                <a:solidFill>
                  <a:srgbClr val="7C6552"/>
                </a:solidFill>
                <a:latin typeface="Calibri" pitchFamily="34" charset="0"/>
                <a:ea typeface="Calibri" pitchFamily="34" charset="-122"/>
                <a:cs typeface="Calibri" pitchFamily="34" charset="-120"/>
              </a:rPr>
              <a:t>docker compose up -d respecte un ordre de dépendance strict — "app" attend que TOUS les autres services répondent sains avant de démarrer.</a:t>
            </a:r>
            <a:endParaRPr lang="en-US" sz="1300" dirty="0"/>
          </a:p>
        </p:txBody>
      </p:sp>
      <p:sp>
        <p:nvSpPr>
          <p:cNvPr id="6" name="Shape 3"/>
          <p:cNvSpPr/>
          <p:nvPr/>
        </p:nvSpPr>
        <p:spPr>
          <a:xfrm>
            <a:off x="548640" y="2788920"/>
            <a:ext cx="1745742" cy="1965960"/>
          </a:xfrm>
          <a:prstGeom prst="roundRect">
            <a:avLst>
              <a:gd name="adj" fmla="val 4190"/>
            </a:avLst>
          </a:prstGeom>
          <a:solidFill>
            <a:srgbClr val="F3E9DA"/>
          </a:solidFill>
          <a:ln/>
        </p:spPr>
      </p:sp>
      <p:sp>
        <p:nvSpPr>
          <p:cNvPr id="7" name="Text 4"/>
          <p:cNvSpPr txBox="1"/>
          <p:nvPr/>
        </p:nvSpPr>
        <p:spPr>
          <a:xfrm>
            <a:off x="685800"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1</a:t>
            </a:r>
            <a:endParaRPr lang="en-US" sz="2000" dirty="0"/>
          </a:p>
        </p:txBody>
      </p:sp>
      <p:sp>
        <p:nvSpPr>
          <p:cNvPr id="8" name="Text 5"/>
          <p:cNvSpPr txBox="1"/>
          <p:nvPr/>
        </p:nvSpPr>
        <p:spPr>
          <a:xfrm>
            <a:off x="685800" y="3355848"/>
            <a:ext cx="1471422" cy="777240"/>
          </a:xfrm>
          <a:prstGeom prst="rect">
            <a:avLst/>
          </a:prstGeom>
          <a:noFill/>
          <a:ln/>
        </p:spPr>
        <p:txBody>
          <a:bodyPr wrap="square" lIns="0" tIns="0" rIns="0" bIns="0" rtlCol="0" anchor="ctr"/>
          <a:lstStyle/>
          <a:p>
            <a:pPr marL="0" indent="0">
              <a:lnSpc>
                <a:spcPct val="105000"/>
              </a:lnSpc>
              <a:buNone/>
            </a:pPr>
            <a:r>
              <a:rPr lang="en-US" sz="1150" b="1" dirty="0">
                <a:solidFill>
                  <a:srgbClr val="2C1A0E"/>
                </a:solidFill>
                <a:latin typeface="Calibri" pitchFamily="34" charset="0"/>
                <a:ea typeface="Calibri" pitchFamily="34" charset="-122"/>
                <a:cs typeface="Calibri" pitchFamily="34" charset="-120"/>
              </a:rPr>
              <a:t>Services sans état</a:t>
            </a:r>
            <a:endParaRPr lang="en-US" sz="1150" dirty="0"/>
          </a:p>
        </p:txBody>
      </p:sp>
      <p:sp>
        <p:nvSpPr>
          <p:cNvPr id="9" name="Text 6"/>
          <p:cNvSpPr txBox="1"/>
          <p:nvPr/>
        </p:nvSpPr>
        <p:spPr>
          <a:xfrm>
            <a:off x="685800" y="4069080"/>
            <a:ext cx="1471422" cy="621792"/>
          </a:xfrm>
          <a:prstGeom prst="rect">
            <a:avLst/>
          </a:prstGeom>
          <a:noFill/>
          <a:ln/>
        </p:spPr>
        <p:txBody>
          <a:bodyPr wrap="square" lIns="0" tIns="0" rIns="0" bIns="0" rtlCol="0" anchor="ctr"/>
          <a:lstStyle/>
          <a:p>
            <a:pPr marL="0" indent="0">
              <a:lnSpc>
                <a:spcPct val="105000"/>
              </a:lnSpc>
              <a:buNone/>
            </a:pPr>
            <a:r>
              <a:rPr lang="en-US" sz="880" dirty="0">
                <a:solidFill>
                  <a:srgbClr val="7C6552"/>
                </a:solidFill>
                <a:latin typeface="Calibri" pitchFamily="34" charset="0"/>
                <a:ea typeface="Calibri" pitchFamily="34" charset="-122"/>
                <a:cs typeface="Calibri" pitchFamily="34" charset="-120"/>
              </a:rPr>
              <a:t>postgres, minio, meilisearch, redis, gotenberg — prêts dès leur healthcheck</a:t>
            </a:r>
            <a:endParaRPr lang="en-US" sz="880" dirty="0"/>
          </a:p>
        </p:txBody>
      </p:sp>
      <p:sp>
        <p:nvSpPr>
          <p:cNvPr id="10" name="Shape 7"/>
          <p:cNvSpPr/>
          <p:nvPr/>
        </p:nvSpPr>
        <p:spPr>
          <a:xfrm>
            <a:off x="2417826" y="2788920"/>
            <a:ext cx="1745742" cy="1965960"/>
          </a:xfrm>
          <a:prstGeom prst="roundRect">
            <a:avLst>
              <a:gd name="adj" fmla="val 4190"/>
            </a:avLst>
          </a:prstGeom>
          <a:solidFill>
            <a:srgbClr val="F3E9DA"/>
          </a:solidFill>
          <a:ln/>
        </p:spPr>
      </p:sp>
      <p:sp>
        <p:nvSpPr>
          <p:cNvPr id="11" name="Text 8"/>
          <p:cNvSpPr txBox="1"/>
          <p:nvPr/>
        </p:nvSpPr>
        <p:spPr>
          <a:xfrm>
            <a:off x="2554986"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2</a:t>
            </a:r>
            <a:endParaRPr lang="en-US" sz="2000" dirty="0"/>
          </a:p>
        </p:txBody>
      </p:sp>
      <p:sp>
        <p:nvSpPr>
          <p:cNvPr id="12" name="Text 9"/>
          <p:cNvSpPr txBox="1"/>
          <p:nvPr/>
        </p:nvSpPr>
        <p:spPr>
          <a:xfrm>
            <a:off x="2554986" y="3355848"/>
            <a:ext cx="1471422" cy="777240"/>
          </a:xfrm>
          <a:prstGeom prst="rect">
            <a:avLst/>
          </a:prstGeom>
          <a:noFill/>
          <a:ln/>
        </p:spPr>
        <p:txBody>
          <a:bodyPr wrap="square" lIns="0" tIns="0" rIns="0" bIns="0" rtlCol="0" anchor="ctr"/>
          <a:lstStyle/>
          <a:p>
            <a:pPr marL="0" indent="0">
              <a:lnSpc>
                <a:spcPct val="105000"/>
              </a:lnSpc>
              <a:buNone/>
            </a:pPr>
            <a:r>
              <a:rPr lang="en-US" sz="1150" b="1" dirty="0">
                <a:solidFill>
                  <a:srgbClr val="2C1A0E"/>
                </a:solidFill>
                <a:latin typeface="Calibri" pitchFamily="34" charset="0"/>
                <a:ea typeface="Calibri" pitchFamily="34" charset="-122"/>
                <a:cs typeface="Calibri" pitchFamily="34" charset="-120"/>
              </a:rPr>
              <a:t>Ollama</a:t>
            </a:r>
            <a:endParaRPr lang="en-US" sz="1150" dirty="0"/>
          </a:p>
        </p:txBody>
      </p:sp>
      <p:sp>
        <p:nvSpPr>
          <p:cNvPr id="13" name="Text 10"/>
          <p:cNvSpPr txBox="1"/>
          <p:nvPr/>
        </p:nvSpPr>
        <p:spPr>
          <a:xfrm>
            <a:off x="2554986" y="4069080"/>
            <a:ext cx="1471422" cy="621792"/>
          </a:xfrm>
          <a:prstGeom prst="rect">
            <a:avLst/>
          </a:prstGeom>
          <a:noFill/>
          <a:ln/>
        </p:spPr>
        <p:txBody>
          <a:bodyPr wrap="square" lIns="0" tIns="0" rIns="0" bIns="0" rtlCol="0" anchor="ctr"/>
          <a:lstStyle/>
          <a:p>
            <a:pPr marL="0" indent="0">
              <a:lnSpc>
                <a:spcPct val="105000"/>
              </a:lnSpc>
              <a:buNone/>
            </a:pPr>
            <a:r>
              <a:rPr lang="en-US" sz="880" dirty="0">
                <a:solidFill>
                  <a:srgbClr val="7C6552"/>
                </a:solidFill>
                <a:latin typeface="Calibri" pitchFamily="34" charset="0"/>
                <a:ea typeface="Calibri" pitchFamily="34" charset="-122"/>
                <a:cs typeface="Calibri" pitchFamily="34" charset="-120"/>
              </a:rPr>
              <a:t>télécharge qwen2.5-coder:7b s'il n'est pas déjà dans le volume nommé</a:t>
            </a:r>
            <a:endParaRPr lang="en-US" sz="880" dirty="0"/>
          </a:p>
        </p:txBody>
      </p:sp>
      <p:sp>
        <p:nvSpPr>
          <p:cNvPr id="14" name="Shape 11"/>
          <p:cNvSpPr/>
          <p:nvPr/>
        </p:nvSpPr>
        <p:spPr>
          <a:xfrm>
            <a:off x="4287012" y="2788920"/>
            <a:ext cx="1745742" cy="1965960"/>
          </a:xfrm>
          <a:prstGeom prst="roundRect">
            <a:avLst>
              <a:gd name="adj" fmla="val 4190"/>
            </a:avLst>
          </a:prstGeom>
          <a:solidFill>
            <a:srgbClr val="F3E9DA"/>
          </a:solidFill>
          <a:ln/>
        </p:spPr>
      </p:sp>
      <p:sp>
        <p:nvSpPr>
          <p:cNvPr id="15" name="Text 12"/>
          <p:cNvSpPr txBox="1"/>
          <p:nvPr/>
        </p:nvSpPr>
        <p:spPr>
          <a:xfrm>
            <a:off x="4424172"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3</a:t>
            </a:r>
            <a:endParaRPr lang="en-US" sz="2000" dirty="0"/>
          </a:p>
        </p:txBody>
      </p:sp>
      <p:sp>
        <p:nvSpPr>
          <p:cNvPr id="16" name="Text 13"/>
          <p:cNvSpPr txBox="1"/>
          <p:nvPr/>
        </p:nvSpPr>
        <p:spPr>
          <a:xfrm>
            <a:off x="4424172" y="3355848"/>
            <a:ext cx="1471422" cy="777240"/>
          </a:xfrm>
          <a:prstGeom prst="rect">
            <a:avLst/>
          </a:prstGeom>
          <a:noFill/>
          <a:ln/>
        </p:spPr>
        <p:txBody>
          <a:bodyPr wrap="square" lIns="0" tIns="0" rIns="0" bIns="0" rtlCol="0" anchor="ctr"/>
          <a:lstStyle/>
          <a:p>
            <a:pPr marL="0" indent="0">
              <a:lnSpc>
                <a:spcPct val="105000"/>
              </a:lnSpc>
              <a:buNone/>
            </a:pPr>
            <a:r>
              <a:rPr lang="en-US" sz="1150" b="1" dirty="0">
                <a:solidFill>
                  <a:srgbClr val="2C1A0E"/>
                </a:solidFill>
                <a:latin typeface="Calibri" pitchFamily="34" charset="0"/>
                <a:ea typeface="Calibri" pitchFamily="34" charset="-122"/>
                <a:cs typeface="Calibri" pitchFamily="34" charset="-120"/>
              </a:rPr>
              <a:t>Traefik</a:t>
            </a:r>
            <a:endParaRPr lang="en-US" sz="1150" dirty="0"/>
          </a:p>
        </p:txBody>
      </p:sp>
      <p:sp>
        <p:nvSpPr>
          <p:cNvPr id="17" name="Text 14"/>
          <p:cNvSpPr txBox="1"/>
          <p:nvPr/>
        </p:nvSpPr>
        <p:spPr>
          <a:xfrm>
            <a:off x="4424172" y="4069080"/>
            <a:ext cx="1471422" cy="621792"/>
          </a:xfrm>
          <a:prstGeom prst="rect">
            <a:avLst/>
          </a:prstGeom>
          <a:noFill/>
          <a:ln/>
        </p:spPr>
        <p:txBody>
          <a:bodyPr wrap="square" lIns="0" tIns="0" rIns="0" bIns="0" rtlCol="0" anchor="ctr"/>
          <a:lstStyle/>
          <a:p>
            <a:pPr marL="0" indent="0">
              <a:lnSpc>
                <a:spcPct val="105000"/>
              </a:lnSpc>
              <a:buNone/>
            </a:pPr>
            <a:r>
              <a:rPr lang="en-US" sz="880" dirty="0">
                <a:solidFill>
                  <a:srgbClr val="7C6552"/>
                </a:solidFill>
                <a:latin typeface="Calibri" pitchFamily="34" charset="0"/>
                <a:ea typeface="Calibri" pitchFamily="34" charset="-122"/>
                <a:cs typeface="Calibri" pitchFamily="34" charset="-120"/>
              </a:rPr>
              <a:t>régénère dynamic.yml depuis le gabarit, jamais versionné</a:t>
            </a:r>
            <a:endParaRPr lang="en-US" sz="880" dirty="0"/>
          </a:p>
        </p:txBody>
      </p:sp>
      <p:sp>
        <p:nvSpPr>
          <p:cNvPr id="18" name="Shape 15"/>
          <p:cNvSpPr/>
          <p:nvPr/>
        </p:nvSpPr>
        <p:spPr>
          <a:xfrm>
            <a:off x="6156198" y="2788920"/>
            <a:ext cx="1745742" cy="1965960"/>
          </a:xfrm>
          <a:prstGeom prst="roundRect">
            <a:avLst>
              <a:gd name="adj" fmla="val 4190"/>
            </a:avLst>
          </a:prstGeom>
          <a:solidFill>
            <a:srgbClr val="F3E9DA"/>
          </a:solidFill>
          <a:ln/>
        </p:spPr>
      </p:sp>
      <p:sp>
        <p:nvSpPr>
          <p:cNvPr id="19" name="Text 16"/>
          <p:cNvSpPr txBox="1"/>
          <p:nvPr/>
        </p:nvSpPr>
        <p:spPr>
          <a:xfrm>
            <a:off x="6293358"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4</a:t>
            </a:r>
            <a:endParaRPr lang="en-US" sz="2000" dirty="0"/>
          </a:p>
        </p:txBody>
      </p:sp>
      <p:sp>
        <p:nvSpPr>
          <p:cNvPr id="20" name="Text 17"/>
          <p:cNvSpPr txBox="1"/>
          <p:nvPr/>
        </p:nvSpPr>
        <p:spPr>
          <a:xfrm>
            <a:off x="6293358" y="3355848"/>
            <a:ext cx="1471422" cy="777240"/>
          </a:xfrm>
          <a:prstGeom prst="rect">
            <a:avLst/>
          </a:prstGeom>
          <a:noFill/>
          <a:ln/>
        </p:spPr>
        <p:txBody>
          <a:bodyPr wrap="square" lIns="0" tIns="0" rIns="0" bIns="0" rtlCol="0" anchor="ctr"/>
          <a:lstStyle/>
          <a:p>
            <a:pPr marL="0" indent="0">
              <a:lnSpc>
                <a:spcPct val="105000"/>
              </a:lnSpc>
              <a:buNone/>
            </a:pPr>
            <a:r>
              <a:rPr lang="en-US" sz="1150" b="1" dirty="0">
                <a:solidFill>
                  <a:srgbClr val="2C1A0E"/>
                </a:solidFill>
                <a:latin typeface="Calibri" pitchFamily="34" charset="0"/>
                <a:ea typeface="Calibri" pitchFamily="34" charset="-122"/>
                <a:cs typeface="Calibri" pitchFamily="34" charset="-120"/>
              </a:rPr>
              <a:t>app démarre</a:t>
            </a:r>
            <a:endParaRPr lang="en-US" sz="1150" dirty="0"/>
          </a:p>
        </p:txBody>
      </p:sp>
      <p:sp>
        <p:nvSpPr>
          <p:cNvPr id="21" name="Text 18"/>
          <p:cNvSpPr txBox="1"/>
          <p:nvPr/>
        </p:nvSpPr>
        <p:spPr>
          <a:xfrm>
            <a:off x="6293358" y="4069080"/>
            <a:ext cx="1471422" cy="621792"/>
          </a:xfrm>
          <a:prstGeom prst="rect">
            <a:avLst/>
          </a:prstGeom>
          <a:noFill/>
          <a:ln/>
        </p:spPr>
        <p:txBody>
          <a:bodyPr wrap="square" lIns="0" tIns="0" rIns="0" bIns="0" rtlCol="0" anchor="ctr"/>
          <a:lstStyle/>
          <a:p>
            <a:pPr marL="0" indent="0">
              <a:lnSpc>
                <a:spcPct val="105000"/>
              </a:lnSpc>
              <a:buNone/>
            </a:pPr>
            <a:r>
              <a:rPr lang="en-US" sz="880" dirty="0">
                <a:solidFill>
                  <a:srgbClr val="7C6552"/>
                </a:solidFill>
                <a:latin typeface="Calibri" pitchFamily="34" charset="0"/>
                <a:ea typeface="Calibri" pitchFamily="34" charset="-122"/>
                <a:cs typeface="Calibri" pitchFamily="34" charset="-120"/>
              </a:rPr>
              <a:t>une fois tous les services </a:t>
            </a:r>
            <a:r>
              <a:rPr lang="en-US" sz="880" dirty="0" err="1">
                <a:solidFill>
                  <a:srgbClr val="7C6552"/>
                </a:solidFill>
                <a:latin typeface="Calibri" pitchFamily="34" charset="0"/>
                <a:ea typeface="Calibri" pitchFamily="34" charset="-122"/>
                <a:cs typeface="Calibri" pitchFamily="34" charset="-120"/>
              </a:rPr>
              <a:t>précédents</a:t>
            </a:r>
            <a:r>
              <a:rPr lang="en-US" sz="880" dirty="0">
                <a:solidFill>
                  <a:srgbClr val="7C6552"/>
                </a:solidFill>
                <a:latin typeface="Calibri" pitchFamily="34" charset="0"/>
                <a:ea typeface="Calibri" pitchFamily="34" charset="-122"/>
                <a:cs typeface="Calibri" pitchFamily="34" charset="-120"/>
              </a:rPr>
              <a:t> </a:t>
            </a:r>
            <a:r>
              <a:rPr lang="en-US" sz="880" dirty="0" err="1">
                <a:solidFill>
                  <a:srgbClr val="7C6552"/>
                </a:solidFill>
                <a:latin typeface="Calibri" pitchFamily="34" charset="0"/>
                <a:ea typeface="Calibri" pitchFamily="34" charset="-122"/>
                <a:cs typeface="Calibri" pitchFamily="34" charset="-120"/>
              </a:rPr>
              <a:t>sains</a:t>
            </a:r>
            <a:endParaRPr lang="en-US" sz="880" dirty="0"/>
          </a:p>
        </p:txBody>
      </p:sp>
      <p:sp>
        <p:nvSpPr>
          <p:cNvPr id="22" name="Shape 19"/>
          <p:cNvSpPr/>
          <p:nvPr/>
        </p:nvSpPr>
        <p:spPr>
          <a:xfrm>
            <a:off x="8025384" y="2788920"/>
            <a:ext cx="1745742" cy="1965960"/>
          </a:xfrm>
          <a:prstGeom prst="roundRect">
            <a:avLst>
              <a:gd name="adj" fmla="val 4190"/>
            </a:avLst>
          </a:prstGeom>
          <a:solidFill>
            <a:srgbClr val="F3E9DA"/>
          </a:solidFill>
          <a:ln/>
        </p:spPr>
      </p:sp>
      <p:sp>
        <p:nvSpPr>
          <p:cNvPr id="23" name="Text 20"/>
          <p:cNvSpPr txBox="1"/>
          <p:nvPr/>
        </p:nvSpPr>
        <p:spPr>
          <a:xfrm>
            <a:off x="8162544" y="2898648"/>
            <a:ext cx="548640" cy="365760"/>
          </a:xfrm>
          <a:prstGeom prst="rect">
            <a:avLst/>
          </a:prstGeom>
          <a:noFill/>
          <a:ln/>
        </p:spPr>
        <p:txBody>
          <a:bodyPr wrap="square" lIns="0" tIns="0" rIns="0" bIns="0" rtlCol="0" anchor="ctr"/>
          <a:lstStyle/>
          <a:p>
            <a:pPr marL="0" indent="0">
              <a:buNone/>
            </a:pPr>
            <a:r>
              <a:rPr lang="en-US" sz="2000" b="1" dirty="0">
                <a:solidFill>
                  <a:srgbClr val="B5813F"/>
                </a:solidFill>
                <a:latin typeface="Cambria" pitchFamily="34" charset="0"/>
                <a:ea typeface="Cambria" pitchFamily="34" charset="-122"/>
                <a:cs typeface="Cambria" pitchFamily="34" charset="-120"/>
              </a:rPr>
              <a:t>5</a:t>
            </a:r>
            <a:endParaRPr lang="en-US" sz="2000" dirty="0"/>
          </a:p>
        </p:txBody>
      </p:sp>
      <p:sp>
        <p:nvSpPr>
          <p:cNvPr id="24" name="Text 21"/>
          <p:cNvSpPr txBox="1"/>
          <p:nvPr/>
        </p:nvSpPr>
        <p:spPr>
          <a:xfrm>
            <a:off x="8162544" y="3355848"/>
            <a:ext cx="1471422" cy="777240"/>
          </a:xfrm>
          <a:prstGeom prst="rect">
            <a:avLst/>
          </a:prstGeom>
          <a:noFill/>
          <a:ln/>
        </p:spPr>
        <p:txBody>
          <a:bodyPr wrap="square" lIns="0" tIns="0" rIns="0" bIns="0" rtlCol="0" anchor="ctr"/>
          <a:lstStyle/>
          <a:p>
            <a:pPr marL="0" indent="0">
              <a:lnSpc>
                <a:spcPct val="105000"/>
              </a:lnSpc>
              <a:buNone/>
            </a:pPr>
            <a:r>
              <a:rPr lang="en-US" sz="1150" b="1" dirty="0">
                <a:solidFill>
                  <a:srgbClr val="2C1A0E"/>
                </a:solidFill>
                <a:latin typeface="Calibri" pitchFamily="34" charset="0"/>
                <a:ea typeface="Calibri" pitchFamily="34" charset="-122"/>
                <a:cs typeface="Calibri" pitchFamily="34" charset="-120"/>
              </a:rPr>
              <a:t>Migrations Flyway</a:t>
            </a:r>
            <a:endParaRPr lang="en-US" sz="1150" dirty="0"/>
          </a:p>
        </p:txBody>
      </p:sp>
      <p:sp>
        <p:nvSpPr>
          <p:cNvPr id="25" name="Text 22"/>
          <p:cNvSpPr txBox="1"/>
          <p:nvPr/>
        </p:nvSpPr>
        <p:spPr>
          <a:xfrm>
            <a:off x="8162544" y="4069080"/>
            <a:ext cx="1471422" cy="621792"/>
          </a:xfrm>
          <a:prstGeom prst="rect">
            <a:avLst/>
          </a:prstGeom>
          <a:noFill/>
          <a:ln/>
        </p:spPr>
        <p:txBody>
          <a:bodyPr wrap="square" lIns="0" tIns="0" rIns="0" bIns="0" rtlCol="0" anchor="ctr"/>
          <a:lstStyle/>
          <a:p>
            <a:pPr marL="0" indent="0">
              <a:lnSpc>
                <a:spcPct val="105000"/>
              </a:lnSpc>
              <a:buNone/>
            </a:pPr>
            <a:r>
              <a:rPr lang="en-US" sz="880" dirty="0">
                <a:solidFill>
                  <a:srgbClr val="7C6552"/>
                </a:solidFill>
                <a:latin typeface="Calibri" pitchFamily="34" charset="0"/>
                <a:ea typeface="Calibri" pitchFamily="34" charset="-122"/>
                <a:cs typeface="Calibri" pitchFamily="34" charset="-120"/>
              </a:rPr>
              <a:t>schéma appliqué automatiquement</a:t>
            </a:r>
            <a:endParaRPr lang="en-US" sz="880" dirty="0"/>
          </a:p>
        </p:txBody>
      </p:sp>
      <p:sp>
        <p:nvSpPr>
          <p:cNvPr id="26" name="Shape 23"/>
          <p:cNvSpPr/>
          <p:nvPr/>
        </p:nvSpPr>
        <p:spPr>
          <a:xfrm>
            <a:off x="9894570" y="2788920"/>
            <a:ext cx="1745742" cy="1965960"/>
          </a:xfrm>
          <a:prstGeom prst="roundRect">
            <a:avLst>
              <a:gd name="adj" fmla="val 4190"/>
            </a:avLst>
          </a:prstGeom>
          <a:solidFill>
            <a:srgbClr val="B5813F"/>
          </a:solidFill>
          <a:ln/>
        </p:spPr>
      </p:sp>
      <p:sp>
        <p:nvSpPr>
          <p:cNvPr id="27" name="Text 24"/>
          <p:cNvSpPr txBox="1"/>
          <p:nvPr/>
        </p:nvSpPr>
        <p:spPr>
          <a:xfrm>
            <a:off x="10031730" y="2898648"/>
            <a:ext cx="548640" cy="36576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28" name="Text 25"/>
          <p:cNvSpPr txBox="1"/>
          <p:nvPr/>
        </p:nvSpPr>
        <p:spPr>
          <a:xfrm>
            <a:off x="10031730" y="3355848"/>
            <a:ext cx="1471422" cy="777240"/>
          </a:xfrm>
          <a:prstGeom prst="rect">
            <a:avLst/>
          </a:prstGeom>
          <a:noFill/>
          <a:ln/>
        </p:spPr>
        <p:txBody>
          <a:bodyPr wrap="square" lIns="0" tIns="0" rIns="0" bIns="0" rtlCol="0" anchor="ctr"/>
          <a:lstStyle/>
          <a:p>
            <a:pPr marL="0" indent="0">
              <a:lnSpc>
                <a:spcPct val="105000"/>
              </a:lnSpc>
              <a:buNone/>
            </a:pPr>
            <a:r>
              <a:rPr lang="en-US" sz="1150" b="1" dirty="0" err="1">
                <a:solidFill>
                  <a:srgbClr val="FFFFFF"/>
                </a:solidFill>
                <a:latin typeface="Calibri" pitchFamily="34" charset="0"/>
                <a:ea typeface="Calibri" pitchFamily="34" charset="-122"/>
                <a:cs typeface="Calibri" pitchFamily="34" charset="-120"/>
              </a:rPr>
              <a:t>Création</a:t>
            </a:r>
            <a:r>
              <a:rPr lang="en-US" sz="1150" b="1" dirty="0">
                <a:solidFill>
                  <a:srgbClr val="FFFFFF"/>
                </a:solidFill>
                <a:latin typeface="Calibri" pitchFamily="34" charset="0"/>
                <a:ea typeface="Calibri" pitchFamily="34" charset="-122"/>
                <a:cs typeface="Calibri" pitchFamily="34" charset="-120"/>
              </a:rPr>
              <a:t> de </a:t>
            </a:r>
            <a:r>
              <a:rPr lang="en-US" sz="1150" b="1" dirty="0" err="1">
                <a:solidFill>
                  <a:srgbClr val="FFFFFF"/>
                </a:solidFill>
                <a:latin typeface="Calibri" pitchFamily="34" charset="0"/>
                <a:ea typeface="Calibri" pitchFamily="34" charset="-122"/>
                <a:cs typeface="Calibri" pitchFamily="34" charset="-120"/>
              </a:rPr>
              <a:t>compteadmin</a:t>
            </a:r>
            <a:endParaRPr lang="en-US" sz="1150" dirty="0"/>
          </a:p>
        </p:txBody>
      </p:sp>
      <p:sp>
        <p:nvSpPr>
          <p:cNvPr id="29" name="Text 26"/>
          <p:cNvSpPr txBox="1"/>
          <p:nvPr/>
        </p:nvSpPr>
        <p:spPr>
          <a:xfrm>
            <a:off x="10031730" y="4069080"/>
            <a:ext cx="1471422" cy="621792"/>
          </a:xfrm>
          <a:prstGeom prst="rect">
            <a:avLst/>
          </a:prstGeom>
          <a:noFill/>
          <a:ln/>
        </p:spPr>
        <p:txBody>
          <a:bodyPr wrap="square" lIns="0" tIns="0" rIns="0" bIns="0" rtlCol="0" anchor="ctr"/>
          <a:lstStyle/>
          <a:p>
            <a:pPr marL="0" indent="0">
              <a:lnSpc>
                <a:spcPct val="105000"/>
              </a:lnSpc>
              <a:buNone/>
            </a:pPr>
            <a:r>
              <a:rPr lang="en-US" sz="880" dirty="0" err="1">
                <a:solidFill>
                  <a:srgbClr val="F3E9DA"/>
                </a:solidFill>
                <a:latin typeface="Calibri" pitchFamily="34" charset="0"/>
                <a:ea typeface="Calibri" pitchFamily="34" charset="-122"/>
                <a:cs typeface="Calibri" pitchFamily="34" charset="-120"/>
              </a:rPr>
              <a:t>Créer</a:t>
            </a:r>
            <a:r>
              <a:rPr lang="en-US" sz="880" dirty="0">
                <a:solidFill>
                  <a:srgbClr val="F3E9DA"/>
                </a:solidFill>
                <a:latin typeface="Calibri" pitchFamily="34" charset="0"/>
                <a:ea typeface="Calibri" pitchFamily="34" charset="-122"/>
                <a:cs typeface="Calibri" pitchFamily="34" charset="-120"/>
              </a:rPr>
              <a:t> admin initial si configuré</a:t>
            </a:r>
            <a:endParaRPr lang="en-US" sz="880" dirty="0"/>
          </a:p>
        </p:txBody>
      </p:sp>
      <p:sp>
        <p:nvSpPr>
          <p:cNvPr id="30" name="Text 2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1" name="Text 2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INITIALISATION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Ollama : téléchargement du modèle au premier démarrage</a:t>
            </a:r>
            <a:endParaRPr lang="en-US" sz="2400" dirty="0"/>
          </a:p>
        </p:txBody>
      </p:sp>
      <p:sp>
        <p:nvSpPr>
          <p:cNvPr id="6" name="Text 3"/>
          <p:cNvSpPr txBox="1"/>
          <p:nvPr/>
        </p:nvSpPr>
        <p:spPr>
          <a:xfrm>
            <a:off x="548640" y="2976372"/>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Point d'entrée particulier : le serveur démarre, attend 10 secondes, puis télécharge le modèle s'il n'est pas déjà présent.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modèle reste ensuite en cache dans le volume nommé ollama_data, qui survit à un docker compose down (sans -v).</a:t>
            </a:r>
            <a:endParaRPr lang="en-US" sz="1450" dirty="0"/>
          </a:p>
        </p:txBody>
      </p:sp>
      <p:sp>
        <p:nvSpPr>
          <p:cNvPr id="7" name="Shape 4"/>
          <p:cNvSpPr/>
          <p:nvPr/>
        </p:nvSpPr>
        <p:spPr>
          <a:xfrm>
            <a:off x="548640" y="4064508"/>
            <a:ext cx="10881360" cy="868680"/>
          </a:xfrm>
          <a:prstGeom prst="roundRect">
            <a:avLst>
              <a:gd name="adj" fmla="val 8421"/>
            </a:avLst>
          </a:prstGeom>
          <a:solidFill>
            <a:srgbClr val="F3E9DA"/>
          </a:solidFill>
          <a:ln/>
        </p:spPr>
      </p:sp>
      <p:sp>
        <p:nvSpPr>
          <p:cNvPr id="8" name="Text 5"/>
          <p:cNvSpPr txBox="1"/>
          <p:nvPr/>
        </p:nvSpPr>
        <p:spPr>
          <a:xfrm>
            <a:off x="868680" y="4201668"/>
            <a:ext cx="1828800" cy="274320"/>
          </a:xfrm>
          <a:prstGeom prst="rect">
            <a:avLst/>
          </a:prstGeom>
          <a:noFill/>
          <a:ln/>
        </p:spPr>
        <p:txBody>
          <a:bodyPr wrap="square" lIns="0" tIns="0" rIns="0" bIns="0" rtlCol="0" anchor="ctr"/>
          <a:lstStyle/>
          <a:p>
            <a:pPr marL="0" indent="0">
              <a:buNone/>
            </a:pPr>
            <a:r>
              <a:rPr lang="en-US" sz="1000" b="1" kern="0" spc="10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448556"/>
            <a:ext cx="10241280" cy="411480"/>
          </a:xfrm>
          <a:prstGeom prst="rect">
            <a:avLst/>
          </a:prstGeom>
          <a:noFill/>
          <a:ln/>
        </p:spPr>
        <p:txBody>
          <a:bodyPr wrap="square" lIns="0" tIns="0" rIns="0" bIns="0" rtlCol="0" anchor="ctr"/>
          <a:lstStyle/>
          <a:p>
            <a:pPr marL="0" indent="0">
              <a:lnSpc>
                <a:spcPct val="110000"/>
              </a:lnSpc>
              <a:buNone/>
            </a:pPr>
            <a:r>
              <a:rPr lang="en-US" sz="1250" dirty="0">
                <a:solidFill>
                  <a:srgbClr val="2C1A0E"/>
                </a:solidFill>
                <a:latin typeface="Calibri" pitchFamily="34" charset="0"/>
                <a:ea typeface="Calibri" pitchFamily="34" charset="-122"/>
                <a:cs typeface="Calibri" pitchFamily="34" charset="-120"/>
              </a:rPr>
              <a:t>Le tout premier démarrage peut prendre plusieurs minutes (téléchargement de quelques Go) — les démarrages suivants sont quasi instantanés.</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marL="0" indent="0">
              <a:buNone/>
            </a:pPr>
            <a:r>
              <a:rPr lang="en-US" sz="1100" kern="0" spc="150" dirty="0">
                <a:solidFill>
                  <a:srgbClr val="B5813F"/>
                </a:solidFill>
                <a:latin typeface="Calibri" pitchFamily="34" charset="0"/>
                <a:ea typeface="Calibri" pitchFamily="34" charset="-122"/>
                <a:cs typeface="Calibri" pitchFamily="34" charset="-120"/>
              </a:rPr>
              <a:t>INITIALISATION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marL="0" indent="0">
              <a:buNone/>
            </a:pPr>
            <a:r>
              <a:rPr lang="en-US" sz="2400" b="1" dirty="0">
                <a:solidFill>
                  <a:srgbClr val="2C1A0E"/>
                </a:solidFill>
                <a:latin typeface="Cambria" pitchFamily="34" charset="0"/>
                <a:ea typeface="Cambria" pitchFamily="34" charset="-122"/>
                <a:cs typeface="Cambria" pitchFamily="34" charset="-120"/>
              </a:rPr>
              <a:t>MinIO et Meilisearch : pas d'étape d'initialisation séparée</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bucket MinIO est </a:t>
            </a:r>
            <a:r>
              <a:rPr lang="en-US" sz="1450" dirty="0" err="1">
                <a:solidFill>
                  <a:srgbClr val="2C1A0E"/>
                </a:solidFill>
                <a:latin typeface="Calibri" pitchFamily="34" charset="0"/>
                <a:ea typeface="Calibri" pitchFamily="34" charset="-122"/>
                <a:cs typeface="Calibri" pitchFamily="34" charset="-120"/>
              </a:rPr>
              <a:t>vérifié</a:t>
            </a:r>
            <a:r>
              <a:rPr lang="en-US" sz="1450" dirty="0">
                <a:solidFill>
                  <a:srgbClr val="2C1A0E"/>
                </a:solidFill>
                <a:latin typeface="Calibri" pitchFamily="34" charset="0"/>
                <a:ea typeface="Calibri" pitchFamily="34" charset="-122"/>
                <a:cs typeface="Calibri" pitchFamily="34" charset="-120"/>
              </a:rPr>
              <a:t> et créé </a:t>
            </a:r>
            <a:r>
              <a:rPr lang="en-US" sz="1450" dirty="0" err="1">
                <a:solidFill>
                  <a:srgbClr val="2C1A0E"/>
                </a:solidFill>
                <a:latin typeface="Calibri" pitchFamily="34" charset="0"/>
                <a:ea typeface="Calibri" pitchFamily="34" charset="-122"/>
                <a:cs typeface="Calibri" pitchFamily="34" charset="-120"/>
              </a:rPr>
              <a:t>s'il</a:t>
            </a:r>
            <a:r>
              <a:rPr lang="en-US" sz="1450" dirty="0">
                <a:solidFill>
                  <a:srgbClr val="2C1A0E"/>
                </a:solidFill>
                <a:latin typeface="Calibri" pitchFamily="34" charset="0"/>
                <a:ea typeface="Calibri" pitchFamily="34" charset="-122"/>
                <a:cs typeface="Calibri" pitchFamily="34" charset="-120"/>
              </a:rPr>
              <a:t> manque.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L'index Meilisearch se remplit au fil des </a:t>
            </a:r>
            <a:r>
              <a:rPr lang="en-US" sz="1450" dirty="0" err="1">
                <a:solidFill>
                  <a:srgbClr val="2C1A0E"/>
                </a:solidFill>
                <a:latin typeface="Calibri" pitchFamily="34" charset="0"/>
                <a:ea typeface="Calibri" pitchFamily="34" charset="-122"/>
                <a:cs typeface="Calibri" pitchFamily="34" charset="-120"/>
              </a:rPr>
              <a:t>archivages</a:t>
            </a:r>
            <a:r>
              <a:rPr lang="en-US" sz="1450" dirty="0">
                <a:solidFill>
                  <a:srgbClr val="2C1A0E"/>
                </a:solidFill>
                <a:latin typeface="Calibri" pitchFamily="34" charset="0"/>
                <a:ea typeface="Calibri" pitchFamily="34" charset="-122"/>
                <a:cs typeface="Calibri" pitchFamily="34" charset="-120"/>
              </a:rPr>
              <a:t>.</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52">
    <p:bg>
      <p:bgPr>
        <a:solidFill>
          <a:srgbClr val="2C1A0E"/>
        </a:solidFill>
        <a:effectLst/>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marL="0" indent="0">
              <a:buNone/>
            </a:pPr>
            <a:r>
              <a:rPr lang="en-US" sz="1200" kern="0" spc="200" dirty="0">
                <a:solidFill>
                  <a:srgbClr val="D9AE6C"/>
                </a:solidFill>
                <a:latin typeface="Calibri" pitchFamily="34" charset="0"/>
                <a:ea typeface="Calibri" pitchFamily="34" charset="-122"/>
                <a:cs typeface="Calibri" pitchFamily="34" charset="-120"/>
              </a:rPr>
              <a:t>BILAN</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Tableau récapitulatif</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marL="0" indent="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marL="0" indent="0" algn="r">
              <a:buNone/>
            </a:pPr>
            <a:r>
              <a:rPr lang="en-US" sz="1100" dirty="0">
                <a:solidFill>
                  <a:srgbClr val="7C6552"/>
                </a:solidFill>
                <a:latin typeface="Calibri" pitchFamily="34" charset="0"/>
                <a:ea typeface="Calibri" pitchFamily="34" charset="-122"/>
                <a:cs typeface="Calibri" pitchFamily="34" charset="-120"/>
              </a:rPr>
              <a:t>1 / 3</a:t>
            </a:r>
            <a:endParaRPr lang="en-US" sz="1100" dirty="0"/>
          </a:p>
        </p:txBody>
      </p:sp>
      <p:graphicFrame>
        <p:nvGraphicFramePr>
          <p:cNvPr id="54" name="Table 0"/>
          <p:cNvGraphicFramePr>
            <a:graphicFrameLocks noGrp="1"/>
          </p:cNvGraphicFramePr>
          <p:nvPr>
            <p:extLst>
              <p:ext uri="{D42A27DB-BD31-4B8C-83A1-F6EECF244321}">
                <p14:modId xmlns:p14="http://schemas.microsoft.com/office/powerpoint/2010/main" val="1886054810"/>
              </p:ext>
            </p:extLst>
          </p:nvPr>
        </p:nvGraphicFramePr>
        <p:xfrm>
          <a:off x="457200" y="1051560"/>
          <a:ext cx="11274552" cy="3233420"/>
        </p:xfrm>
        <a:graphic>
          <a:graphicData uri="http://schemas.openxmlformats.org/drawingml/2006/table">
            <a:tbl>
              <a:tblPr/>
              <a:tblGrid>
                <a:gridCol w="2651760">
                  <a:extLst>
                    <a:ext uri="{9D8B030D-6E8A-4147-A177-3AD203B41FA5}">
                      <a16:colId xmlns:a16="http://schemas.microsoft.com/office/drawing/2014/main" val="20000"/>
                    </a:ext>
                  </a:extLst>
                </a:gridCol>
                <a:gridCol w="5239512">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Authentification &amp; sessions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Empêcher un accès obsolète (rôle, mot de passe, UO ou compte changés) de survivre jusqu'à l'expiration d'un JWT valable plusieurs heures.</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Hiérarchie d'UO &amp; transfert</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Représenter des départements/filiales avec des périmètres de documents distincts, pas une organisation plate.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Suppression d'utilisateur à deux temps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Éviter qu'une erreur humaine ou un admin malveillant supprime un compte de façon instantanée et irréversible.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A34E12"/>
                          </a:solidFill>
                          <a:latin typeface="Calibri" pitchFamily="34" charset="0"/>
                          <a:ea typeface="Calibri" pitchFamily="34" charset="-122"/>
                          <a:cs typeface="Calibri" pitchFamily="34" charset="-120"/>
                        </a:rPr>
                        <a:t>Un compte jamais connecté est supprimé immédiatement, sans délai de grâce.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Protection du dernier administrateur</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err="1">
                          <a:solidFill>
                            <a:srgbClr val="2C1A0E"/>
                          </a:solidFill>
                          <a:latin typeface="Calibri" pitchFamily="34" charset="0"/>
                          <a:ea typeface="Calibri" pitchFamily="34" charset="-122"/>
                          <a:cs typeface="Calibri" pitchFamily="34" charset="-120"/>
                        </a:rPr>
                        <a:t>Empêcher</a:t>
                      </a:r>
                      <a:r>
                        <a:rPr lang="en-US" sz="950" dirty="0">
                          <a:solidFill>
                            <a:srgbClr val="2C1A0E"/>
                          </a:solidFill>
                          <a:latin typeface="Calibri" pitchFamily="34" charset="0"/>
                          <a:ea typeface="Calibri" pitchFamily="34" charset="-122"/>
                          <a:cs typeface="Calibri" pitchFamily="34" charset="-120"/>
                        </a:rPr>
                        <a:t> le </a:t>
                      </a:r>
                      <a:r>
                        <a:rPr lang="en-US" sz="950" dirty="0" err="1">
                          <a:solidFill>
                            <a:srgbClr val="2C1A0E"/>
                          </a:solidFill>
                          <a:latin typeface="Calibri" pitchFamily="34" charset="0"/>
                          <a:ea typeface="Calibri" pitchFamily="34" charset="-122"/>
                          <a:cs typeface="Calibri" pitchFamily="34" charset="-120"/>
                        </a:rPr>
                        <a:t>systeme</a:t>
                      </a:r>
                      <a:r>
                        <a:rPr lang="en-US" sz="950" dirty="0">
                          <a:solidFill>
                            <a:srgbClr val="2C1A0E"/>
                          </a:solidFill>
                          <a:latin typeface="Calibri" pitchFamily="34" charset="0"/>
                          <a:ea typeface="Calibri" pitchFamily="34" charset="-122"/>
                          <a:cs typeface="Calibri" pitchFamily="34" charset="-120"/>
                        </a:rPr>
                        <a:t> de se retrouve sans administrateur par erreur de manipulation.</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Upload en deux phases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Éviter d'archiver définitivement un document avec des métadonnées fausses ou incomplètes.</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Conversion universelle vers PDF/A-3b</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Garantir la lisibilité à long terme, indépendamment de tout logiciel propriétaire.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Extraction assistée par IA</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Éviter la ressaisie manuelle de chaque champ — le modèle apprend une fois par type.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A34E12"/>
                          </a:solidFill>
                          <a:latin typeface="Calibri" pitchFamily="34" charset="0"/>
                          <a:ea typeface="Calibri" pitchFamily="34" charset="-122"/>
                          <a:cs typeface="Calibri" pitchFamily="34" charset="-120"/>
                        </a:rPr>
                        <a:t>Dépend de la qualité du premier document du type ; une règle mal apprise affecte les suivants.</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Import en lot (jusqu'à 10 000 fichiers)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Rendre praticable l'archivage rétroactif de milliers de documents déjà numérisés.</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8"/>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Import depuis un lien web</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Archiver des documents déjà en ligne sans les télécharger manuellement.</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chemeClr val="accent2">
                              <a:lumMod val="75000"/>
                            </a:schemeClr>
                          </a:solidFill>
                          <a:latin typeface="Calibri" pitchFamily="34" charset="0"/>
                          <a:ea typeface="Calibri" charset="0"/>
                          <a:cs typeface="Calibri" pitchFamily="34" charset="-120"/>
                        </a:rPr>
                        <a:t>Pas possible </a:t>
                      </a:r>
                      <a:r>
                        <a:rPr lang="en-US" sz="950" i="1" dirty="0" err="1">
                          <a:solidFill>
                            <a:schemeClr val="accent2">
                              <a:lumMod val="75000"/>
                            </a:schemeClr>
                          </a:solidFill>
                          <a:latin typeface="Calibri" pitchFamily="34" charset="0"/>
                          <a:ea typeface="Calibri" charset="0"/>
                          <a:cs typeface="Calibri" pitchFamily="34" charset="-120"/>
                        </a:rPr>
                        <a:t>si</a:t>
                      </a:r>
                      <a:r>
                        <a:rPr lang="en-US" sz="950" i="1" dirty="0">
                          <a:solidFill>
                            <a:schemeClr val="accent2">
                              <a:lumMod val="75000"/>
                            </a:schemeClr>
                          </a:solidFill>
                          <a:latin typeface="Calibri" pitchFamily="34" charset="0"/>
                          <a:ea typeface="Calibri" charset="0"/>
                          <a:cs typeface="Calibri" pitchFamily="34" charset="-120"/>
                        </a:rPr>
                        <a:t> le site est à </a:t>
                      </a:r>
                      <a:r>
                        <a:rPr lang="en-US" sz="950" i="1" dirty="0" err="1">
                          <a:solidFill>
                            <a:schemeClr val="accent2">
                              <a:lumMod val="75000"/>
                            </a:schemeClr>
                          </a:solidFill>
                          <a:latin typeface="Calibri" pitchFamily="34" charset="0"/>
                          <a:ea typeface="Calibri" charset="0"/>
                          <a:cs typeface="Calibri" pitchFamily="34" charset="-120"/>
                        </a:rPr>
                        <a:t>acces</a:t>
                      </a:r>
                      <a:r>
                        <a:rPr lang="en-US" sz="950" i="1" dirty="0">
                          <a:solidFill>
                            <a:schemeClr val="accent2">
                              <a:lumMod val="75000"/>
                            </a:schemeClr>
                          </a:solidFill>
                          <a:latin typeface="Calibri" pitchFamily="34" charset="0"/>
                          <a:ea typeface="Calibri" charset="0"/>
                          <a:cs typeface="Calibri" pitchFamily="34" charset="-120"/>
                        </a:rPr>
                        <a:t> restraint par </a:t>
                      </a:r>
                      <a:r>
                        <a:rPr lang="en-US" sz="950" i="1" dirty="0" err="1">
                          <a:solidFill>
                            <a:schemeClr val="accent2">
                              <a:lumMod val="75000"/>
                            </a:schemeClr>
                          </a:solidFill>
                          <a:latin typeface="Calibri" pitchFamily="34" charset="0"/>
                          <a:ea typeface="Calibri" charset="0"/>
                          <a:cs typeface="Calibri" pitchFamily="34" charset="-120"/>
                        </a:rPr>
                        <a:t>une</a:t>
                      </a:r>
                      <a:r>
                        <a:rPr lang="en-US" sz="950" i="1" dirty="0">
                          <a:solidFill>
                            <a:schemeClr val="accent2">
                              <a:lumMod val="75000"/>
                            </a:schemeClr>
                          </a:solidFill>
                          <a:latin typeface="Calibri" pitchFamily="34" charset="0"/>
                          <a:ea typeface="Calibri" charset="0"/>
                          <a:cs typeface="Calibri" pitchFamily="34" charset="-120"/>
                        </a:rPr>
                        <a:t> </a:t>
                      </a:r>
                      <a:r>
                        <a:rPr lang="en-US" sz="950" i="1" dirty="0" err="1">
                          <a:solidFill>
                            <a:schemeClr val="accent2">
                              <a:lumMod val="75000"/>
                            </a:schemeClr>
                          </a:solidFill>
                          <a:latin typeface="Calibri" pitchFamily="34" charset="0"/>
                          <a:ea typeface="Calibri" charset="0"/>
                          <a:cs typeface="Calibri" pitchFamily="34" charset="-120"/>
                        </a:rPr>
                        <a:t>clé</a:t>
                      </a:r>
                      <a:r>
                        <a:rPr lang="en-US" sz="950" i="1" dirty="0">
                          <a:solidFill>
                            <a:schemeClr val="accent2">
                              <a:lumMod val="75000"/>
                            </a:schemeClr>
                          </a:solidFill>
                          <a:latin typeface="Calibri" pitchFamily="34" charset="0"/>
                          <a:ea typeface="Calibri" charset="0"/>
                          <a:cs typeface="Calibri" pitchFamily="34" charset="-120"/>
                        </a:rPr>
                        <a:t> </a:t>
                      </a:r>
                      <a:r>
                        <a:rPr lang="en-US" sz="950" i="1" dirty="0" err="1">
                          <a:solidFill>
                            <a:schemeClr val="accent2">
                              <a:lumMod val="75000"/>
                            </a:schemeClr>
                          </a:solidFill>
                          <a:latin typeface="Calibri" pitchFamily="34" charset="0"/>
                          <a:ea typeface="Calibri" charset="0"/>
                          <a:cs typeface="Calibri" pitchFamily="34" charset="-120"/>
                        </a:rPr>
                        <a:t>d’authentification</a:t>
                      </a:r>
                      <a:endParaRPr lang="en-US" sz="950" dirty="0">
                        <a:solidFill>
                          <a:schemeClr val="accent2">
                            <a:lumMod val="75000"/>
                          </a:schemeClr>
                        </a:solidFill>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marL="0" indent="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marL="0" indent="0" algn="r">
              <a:buNone/>
            </a:pPr>
            <a:r>
              <a:rPr lang="en-US" sz="1100" dirty="0">
                <a:solidFill>
                  <a:srgbClr val="7C6552"/>
                </a:solidFill>
                <a:latin typeface="Calibri" pitchFamily="34" charset="0"/>
                <a:ea typeface="Calibri" pitchFamily="34" charset="-122"/>
                <a:cs typeface="Calibri" pitchFamily="34" charset="-120"/>
              </a:rPr>
              <a:t>2 / 3</a:t>
            </a:r>
            <a:endParaRPr lang="en-US" sz="1100" dirty="0"/>
          </a:p>
        </p:txBody>
      </p:sp>
      <p:graphicFrame>
        <p:nvGraphicFramePr>
          <p:cNvPr id="55" name="Table 0"/>
          <p:cNvGraphicFramePr>
            <a:graphicFrameLocks noGrp="1"/>
          </p:cNvGraphicFramePr>
          <p:nvPr>
            <p:extLst>
              <p:ext uri="{D42A27DB-BD31-4B8C-83A1-F6EECF244321}">
                <p14:modId xmlns:p14="http://schemas.microsoft.com/office/powerpoint/2010/main" val="3145261756"/>
              </p:ext>
            </p:extLst>
          </p:nvPr>
        </p:nvGraphicFramePr>
        <p:xfrm>
          <a:off x="457200" y="1051560"/>
          <a:ext cx="11274552" cy="2684780"/>
        </p:xfrm>
        <a:graphic>
          <a:graphicData uri="http://schemas.openxmlformats.org/drawingml/2006/table">
            <a:tbl>
              <a:tblPr/>
              <a:tblGrid>
                <a:gridCol w="2651760">
                  <a:extLst>
                    <a:ext uri="{9D8B030D-6E8A-4147-A177-3AD203B41FA5}">
                      <a16:colId xmlns:a16="http://schemas.microsoft.com/office/drawing/2014/main" val="20000"/>
                    </a:ext>
                  </a:extLst>
                </a:gridCol>
                <a:gridCol w="5239512">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Détection de doublons (hash original)</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Éviter qu'un même fichier soit archivé deux fois dans la même UO.</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A34E12"/>
                          </a:solidFill>
                          <a:latin typeface="Calibri" pitchFamily="34" charset="0"/>
                          <a:ea typeface="Calibri" pitchFamily="34" charset="-122"/>
                          <a:cs typeface="Calibri" pitchFamily="34" charset="-120"/>
                        </a:rPr>
                        <a:t>Hash exact seulement — un contenu réuploadé après conversion de format n'est pas </a:t>
                      </a:r>
                      <a:r>
                        <a:rPr lang="en-US" sz="950" dirty="0" err="1">
                          <a:solidFill>
                            <a:srgbClr val="A34E12"/>
                          </a:solidFill>
                          <a:latin typeface="Calibri" pitchFamily="34" charset="0"/>
                          <a:ea typeface="Calibri" pitchFamily="34" charset="-122"/>
                          <a:cs typeface="Calibri" pitchFamily="34" charset="-120"/>
                        </a:rPr>
                        <a:t>détecté</a:t>
                      </a:r>
                      <a:r>
                        <a:rPr lang="en-US" sz="950" dirty="0">
                          <a:solidFill>
                            <a:srgbClr val="A34E1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Second hash SHA-256 (PDF/A)</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Fournir une empreinte stable du fichier réellement conservé, vérifiable après coup.</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Signature PKI (HSM)</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Prouver </a:t>
                      </a:r>
                      <a:r>
                        <a:rPr lang="en-US" sz="950" dirty="0" err="1">
                          <a:solidFill>
                            <a:srgbClr val="2C1A0E"/>
                          </a:solidFill>
                          <a:latin typeface="Calibri" pitchFamily="34" charset="0"/>
                          <a:ea typeface="Calibri" pitchFamily="34" charset="-122"/>
                          <a:cs typeface="Calibri" pitchFamily="34" charset="-120"/>
                        </a:rPr>
                        <a:t>nommément</a:t>
                      </a:r>
                      <a:r>
                        <a:rPr lang="en-US" sz="950" dirty="0">
                          <a:solidFill>
                            <a:srgbClr val="2C1A0E"/>
                          </a:solidFill>
                          <a:latin typeface="Calibri" pitchFamily="34" charset="0"/>
                          <a:ea typeface="Calibri" pitchFamily="34" charset="-122"/>
                          <a:cs typeface="Calibri" pitchFamily="34" charset="-120"/>
                        </a:rPr>
                        <a:t> qui a archivé le document, pas </a:t>
                      </a:r>
                      <a:r>
                        <a:rPr lang="en-US" sz="950" dirty="0" err="1">
                          <a:solidFill>
                            <a:srgbClr val="2C1A0E"/>
                          </a:solidFill>
                          <a:latin typeface="Calibri" pitchFamily="34" charset="0"/>
                          <a:ea typeface="Calibri" pitchFamily="34" charset="-122"/>
                          <a:cs typeface="Calibri" pitchFamily="34" charset="-120"/>
                        </a:rPr>
                        <a:t>seulement</a:t>
                      </a:r>
                      <a:r>
                        <a:rPr lang="en-US" sz="950" dirty="0">
                          <a:solidFill>
                            <a:srgbClr val="2C1A0E"/>
                          </a:solidFill>
                          <a:latin typeface="Calibri" pitchFamily="34" charset="0"/>
                          <a:ea typeface="Calibri" pitchFamily="34" charset="-122"/>
                          <a:cs typeface="Calibri" pitchFamily="34" charset="-120"/>
                        </a:rPr>
                        <a:t> </a:t>
                      </a:r>
                      <a:r>
                        <a:rPr lang="en-US" sz="950" dirty="0" err="1">
                          <a:solidFill>
                            <a:srgbClr val="2C1A0E"/>
                          </a:solidFill>
                          <a:latin typeface="Calibri" pitchFamily="34" charset="0"/>
                          <a:ea typeface="Calibri" pitchFamily="34" charset="-122"/>
                          <a:cs typeface="Calibri" pitchFamily="34" charset="-120"/>
                        </a:rPr>
                        <a:t>que</a:t>
                      </a:r>
                      <a:r>
                        <a:rPr lang="en-US" sz="950" dirty="0">
                          <a:solidFill>
                            <a:srgbClr val="2C1A0E"/>
                          </a:solidFill>
                          <a:latin typeface="Calibri" pitchFamily="34" charset="0"/>
                          <a:ea typeface="Calibri" pitchFamily="34" charset="-122"/>
                          <a:cs typeface="Calibri" pitchFamily="34" charset="-120"/>
                        </a:rPr>
                        <a:t> </a:t>
                      </a:r>
                      <a:r>
                        <a:rPr lang="en-US" sz="950" dirty="0" err="1">
                          <a:solidFill>
                            <a:srgbClr val="2C1A0E"/>
                          </a:solidFill>
                          <a:latin typeface="Calibri" pitchFamily="34" charset="0"/>
                          <a:ea typeface="Calibri" pitchFamily="34" charset="-122"/>
                          <a:cs typeface="Calibri" pitchFamily="34" charset="-120"/>
                        </a:rPr>
                        <a:t>l'organisation</a:t>
                      </a:r>
                      <a:r>
                        <a:rPr lang="en-US" sz="950" dirty="0">
                          <a:solidFill>
                            <a:srgbClr val="2C1A0E"/>
                          </a:solidFill>
                          <a:latin typeface="Calibri" pitchFamily="34" charset="0"/>
                          <a:ea typeface="Calibri" pitchFamily="34" charset="-122"/>
                          <a:cs typeface="Calibri" pitchFamily="34" charset="-120"/>
                        </a:rPr>
                        <a:t> l'a fait.</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000" b="1" dirty="0" err="1">
                          <a:solidFill>
                            <a:srgbClr val="2C1A0E"/>
                          </a:solidFill>
                          <a:latin typeface="Calibri" pitchFamily="34" charset="0"/>
                          <a:ea typeface="Calibri" pitchFamily="34" charset="-122"/>
                          <a:cs typeface="Calibri" pitchFamily="34" charset="-120"/>
                        </a:rPr>
                        <a:t>Horodatage</a:t>
                      </a:r>
                      <a:r>
                        <a:rPr lang="en-US" sz="1000" b="1" dirty="0">
                          <a:solidFill>
                            <a:srgbClr val="2C1A0E"/>
                          </a:solidFill>
                          <a:latin typeface="Calibri" pitchFamily="34" charset="0"/>
                          <a:ea typeface="Calibri" pitchFamily="34" charset="-122"/>
                          <a:cs typeface="Calibri" pitchFamily="34" charset="-120"/>
                        </a:rPr>
                        <a:t> </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Prouver la date d'existence via une source indépendante de MadeArchive.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50" i="1" dirty="0" err="1">
                          <a:solidFill>
                            <a:schemeClr val="accent2">
                              <a:lumMod val="75000"/>
                            </a:schemeClr>
                          </a:solidFill>
                          <a:latin typeface="Calibri" pitchFamily="34" charset="0"/>
                          <a:ea typeface="Calibri" pitchFamily="34" charset="-122"/>
                          <a:cs typeface="Calibri" pitchFamily="34" charset="-120"/>
                        </a:rPr>
                        <a:t>FreeTSA</a:t>
                      </a:r>
                      <a:r>
                        <a:rPr lang="en-US" sz="950" i="1" dirty="0">
                          <a:solidFill>
                            <a:schemeClr val="accent2">
                              <a:lumMod val="75000"/>
                            </a:schemeClr>
                          </a:solidFill>
                          <a:latin typeface="Calibri" pitchFamily="34" charset="0"/>
                          <a:ea typeface="Calibri" pitchFamily="34" charset="-122"/>
                          <a:cs typeface="Calibri" pitchFamily="34" charset="-120"/>
                        </a:rPr>
                        <a:t> </a:t>
                      </a:r>
                      <a:r>
                        <a:rPr lang="en-US" sz="950" i="1" dirty="0" err="1">
                          <a:solidFill>
                            <a:schemeClr val="accent2">
                              <a:lumMod val="75000"/>
                            </a:schemeClr>
                          </a:solidFill>
                          <a:latin typeface="Calibri" pitchFamily="34" charset="0"/>
                          <a:ea typeface="Calibri" pitchFamily="34" charset="-122"/>
                          <a:cs typeface="Calibri" pitchFamily="34" charset="-120"/>
                        </a:rPr>
                        <a:t>n’a</a:t>
                      </a:r>
                      <a:r>
                        <a:rPr lang="en-US" sz="950" i="1" dirty="0">
                          <a:solidFill>
                            <a:schemeClr val="accent2">
                              <a:lumMod val="75000"/>
                            </a:schemeClr>
                          </a:solidFill>
                          <a:latin typeface="Calibri" pitchFamily="34" charset="0"/>
                          <a:ea typeface="Calibri" pitchFamily="34" charset="-122"/>
                          <a:cs typeface="Calibri" pitchFamily="34" charset="-120"/>
                        </a:rPr>
                        <a:t> pas de </a:t>
                      </a:r>
                      <a:r>
                        <a:rPr lang="en-US" sz="950" i="1" dirty="0" err="1">
                          <a:solidFill>
                            <a:schemeClr val="accent2">
                              <a:lumMod val="75000"/>
                            </a:schemeClr>
                          </a:solidFill>
                          <a:latin typeface="Calibri" pitchFamily="34" charset="0"/>
                          <a:ea typeface="Calibri" pitchFamily="34" charset="-122"/>
                          <a:cs typeface="Calibri" pitchFamily="34" charset="-120"/>
                        </a:rPr>
                        <a:t>garanties</a:t>
                      </a:r>
                      <a:r>
                        <a:rPr lang="en-US" sz="950" i="1" dirty="0">
                          <a:solidFill>
                            <a:schemeClr val="accent2">
                              <a:lumMod val="75000"/>
                            </a:schemeClr>
                          </a:solidFill>
                          <a:latin typeface="Calibri" pitchFamily="34" charset="0"/>
                          <a:ea typeface="Calibri" pitchFamily="34" charset="-122"/>
                          <a:cs typeface="Calibri" pitchFamily="34" charset="-120"/>
                        </a:rPr>
                        <a:t> </a:t>
                      </a:r>
                      <a:r>
                        <a:rPr lang="en-US" sz="950" i="1" dirty="0" err="1">
                          <a:solidFill>
                            <a:schemeClr val="accent2">
                              <a:lumMod val="75000"/>
                            </a:schemeClr>
                          </a:solidFill>
                          <a:latin typeface="Calibri" pitchFamily="34" charset="0"/>
                          <a:ea typeface="Calibri" pitchFamily="34" charset="-122"/>
                          <a:cs typeface="Calibri" pitchFamily="34" charset="-120"/>
                        </a:rPr>
                        <a:t>legales</a:t>
                      </a:r>
                      <a:r>
                        <a:rPr lang="en-US" sz="950" i="1" dirty="0">
                          <a:solidFill>
                            <a:schemeClr val="accent2">
                              <a:lumMod val="75000"/>
                            </a:schemeClr>
                          </a:solidFill>
                          <a:latin typeface="Calibri" pitchFamily="34" charset="0"/>
                          <a:ea typeface="Calibri" pitchFamily="34" charset="-122"/>
                          <a:cs typeface="Calibri" pitchFamily="34" charset="-120"/>
                        </a:rPr>
                        <a:t> </a:t>
                      </a:r>
                      <a:r>
                        <a:rPr lang="en-US" sz="950" i="1" dirty="0" err="1">
                          <a:solidFill>
                            <a:schemeClr val="accent2">
                              <a:lumMod val="75000"/>
                            </a:schemeClr>
                          </a:solidFill>
                          <a:latin typeface="Calibri" pitchFamily="34" charset="0"/>
                          <a:ea typeface="Calibri" pitchFamily="34" charset="-122"/>
                          <a:cs typeface="Calibri" pitchFamily="34" charset="-120"/>
                        </a:rPr>
                        <a:t>en</a:t>
                      </a:r>
                      <a:r>
                        <a:rPr lang="en-US" sz="950" i="1" dirty="0">
                          <a:solidFill>
                            <a:schemeClr val="accent2">
                              <a:lumMod val="75000"/>
                            </a:schemeClr>
                          </a:solidFill>
                          <a:latin typeface="Calibri" pitchFamily="34" charset="0"/>
                          <a:ea typeface="Calibri" pitchFamily="34" charset="-122"/>
                          <a:cs typeface="Calibri" pitchFamily="34" charset="-120"/>
                        </a:rPr>
                        <a:t> justice</a:t>
                      </a:r>
                      <a:endParaRPr lang="en-US" sz="950" dirty="0">
                        <a:solidFill>
                          <a:schemeClr val="accent2">
                            <a:lumMod val="75000"/>
                          </a:schemeClr>
                        </a:solidFill>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Attestation publique avec QR code</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Permettre à un tiers sans compte de vérifier l'authenticité d'un document.</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Contrôle de fixité périodique</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Détecter une corruption de stockage avant qu'un utilisateur ne l'ouvre.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6"/>
                  </a:ext>
                </a:extLst>
              </a:tr>
              <a:tr h="0">
                <a:tc>
                  <a:txBody>
                    <a:bodyPr/>
                    <a:lstStyle/>
                    <a:p>
                      <a:pPr marL="0" indent="0">
                        <a:buNone/>
                      </a:pP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Recherche hybride (Meilisearch → BD)</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Recherche plein texte rapide sans laisser un moteur externe faire autorité sur les droits d'accès.</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50" i="1" dirty="0" err="1">
                          <a:solidFill>
                            <a:srgbClr val="3E7A52"/>
                          </a:solidFill>
                          <a:latin typeface="Calibri" pitchFamily="34" charset="0"/>
                          <a:ea typeface="Calibri" pitchFamily="34" charset="-122"/>
                          <a:cs typeface="Calibri" pitchFamily="34" charset="-120"/>
                        </a:rPr>
                        <a:t>Aucune</a:t>
                      </a:r>
                      <a:r>
                        <a:rPr lang="en-US" sz="950" i="1" dirty="0">
                          <a:solidFill>
                            <a:srgbClr val="3E7A52"/>
                          </a:solidFill>
                          <a:latin typeface="Calibri" pitchFamily="34" charset="0"/>
                          <a:ea typeface="Calibri" pitchFamily="34" charset="-122"/>
                          <a:cs typeface="Calibri" pitchFamily="34" charset="-120"/>
                        </a:rPr>
                        <a:t> </a:t>
                      </a:r>
                      <a:r>
                        <a:rPr lang="en-US" sz="950" i="1" dirty="0" err="1">
                          <a:solidFill>
                            <a:srgbClr val="3E7A52"/>
                          </a:solidFill>
                          <a:latin typeface="Calibri" pitchFamily="34" charset="0"/>
                          <a:ea typeface="Calibri" pitchFamily="34" charset="-122"/>
                          <a:cs typeface="Calibri" pitchFamily="34" charset="-120"/>
                        </a:rPr>
                        <a:t>limite</a:t>
                      </a:r>
                      <a:r>
                        <a:rPr lang="en-US" sz="950" i="1" dirty="0">
                          <a:solidFill>
                            <a:srgbClr val="3E7A52"/>
                          </a:solidFill>
                          <a:latin typeface="Calibri" pitchFamily="34" charset="0"/>
                          <a:ea typeface="Calibri" pitchFamily="34" charset="-122"/>
                          <a:cs typeface="Calibri" pitchFamily="34" charset="-120"/>
                        </a:rPr>
                        <a:t> majeure </a:t>
                      </a:r>
                      <a:r>
                        <a:rPr lang="en-US" sz="950" i="1" dirty="0" err="1">
                          <a:solidFill>
                            <a:srgbClr val="3E7A52"/>
                          </a:solidFill>
                          <a:latin typeface="Calibri" pitchFamily="34" charset="0"/>
                          <a:ea typeface="Calibri" pitchFamily="34" charset="-122"/>
                          <a:cs typeface="Calibri" pitchFamily="34" charset="-120"/>
                        </a:rPr>
                        <a:t>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8"/>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Documents accessibles / Mes documents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Séparer "ce que j'ai archivé" de "ce à quoi j'ai droit".</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icPr>
            <a:picLocks noChangeAspect="1"/>
          </p:cNvPicPr>
          <p:nvPr/>
        </p:nvPicPr>
        <p:blipFill>
          <a:blip r:embed="rId3"/>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marL="0" indent="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marL="0" indent="0" algn="r">
              <a:buNone/>
            </a:pPr>
            <a:r>
              <a:rPr lang="en-US" sz="1100" dirty="0">
                <a:solidFill>
                  <a:srgbClr val="7C6552"/>
                </a:solidFill>
                <a:latin typeface="Calibri" pitchFamily="34" charset="0"/>
                <a:ea typeface="Calibri" pitchFamily="34" charset="-122"/>
                <a:cs typeface="Calibri" pitchFamily="34" charset="-120"/>
              </a:rPr>
              <a:t>3 / 3</a:t>
            </a:r>
            <a:endParaRPr lang="en-US" sz="1100" dirty="0"/>
          </a:p>
        </p:txBody>
      </p:sp>
      <p:graphicFrame>
        <p:nvGraphicFramePr>
          <p:cNvPr id="56" name="Table 0"/>
          <p:cNvGraphicFramePr>
            <a:graphicFrameLocks noGrp="1"/>
          </p:cNvGraphicFramePr>
          <p:nvPr>
            <p:extLst>
              <p:ext uri="{D42A27DB-BD31-4B8C-83A1-F6EECF244321}">
                <p14:modId xmlns:p14="http://schemas.microsoft.com/office/powerpoint/2010/main" val="704146359"/>
              </p:ext>
            </p:extLst>
          </p:nvPr>
        </p:nvGraphicFramePr>
        <p:xfrm>
          <a:off x="457200" y="1051560"/>
          <a:ext cx="11274552" cy="2039620"/>
        </p:xfrm>
        <a:graphic>
          <a:graphicData uri="http://schemas.openxmlformats.org/drawingml/2006/table">
            <a:tbl>
              <a:tblPr/>
              <a:tblGrid>
                <a:gridCol w="2651760">
                  <a:extLst>
                    <a:ext uri="{9D8B030D-6E8A-4147-A177-3AD203B41FA5}">
                      <a16:colId xmlns:a16="http://schemas.microsoft.com/office/drawing/2014/main" val="20000"/>
                    </a:ext>
                  </a:extLst>
                </a:gridCol>
                <a:gridCol w="5239512">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Projets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Représenter un dossier réel qui regroupe plusieurs types de documents liés.</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Emplacements physiques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Conserver la traçabilité de </a:t>
                      </a:r>
                      <a:r>
                        <a:rPr lang="en-US" sz="950" dirty="0" err="1">
                          <a:solidFill>
                            <a:srgbClr val="2C1A0E"/>
                          </a:solidFill>
                          <a:latin typeface="Calibri" pitchFamily="34" charset="0"/>
                          <a:ea typeface="Calibri" pitchFamily="34" charset="-122"/>
                          <a:cs typeface="Calibri" pitchFamily="34" charset="-120"/>
                        </a:rPr>
                        <a:t>l'original</a:t>
                      </a:r>
                      <a:r>
                        <a:rPr lang="en-US" sz="950" dirty="0">
                          <a:solidFill>
                            <a:srgbClr val="2C1A0E"/>
                          </a:solidFill>
                          <a:latin typeface="Calibri" pitchFamily="34" charset="0"/>
                          <a:ea typeface="Calibri" pitchFamily="34" charset="-122"/>
                          <a:cs typeface="Calibri" pitchFamily="34" charset="-120"/>
                        </a:rPr>
                        <a:t> papier</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Groupes d'accès privés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Restreindre un document/projet sensible à une </a:t>
                      </a:r>
                      <a:r>
                        <a:rPr lang="en-US" sz="950" dirty="0" err="1">
                          <a:solidFill>
                            <a:srgbClr val="2C1A0E"/>
                          </a:solidFill>
                          <a:latin typeface="Calibri" pitchFamily="34" charset="0"/>
                          <a:ea typeface="Calibri" pitchFamily="34" charset="-122"/>
                          <a:cs typeface="Calibri" pitchFamily="34" charset="-120"/>
                        </a:rPr>
                        <a:t>liste</a:t>
                      </a:r>
                      <a:r>
                        <a:rPr lang="en-US" sz="950" dirty="0">
                          <a:solidFill>
                            <a:srgbClr val="2C1A0E"/>
                          </a:solidFill>
                          <a:latin typeface="Calibri" pitchFamily="34" charset="0"/>
                          <a:ea typeface="Calibri" pitchFamily="34" charset="-122"/>
                          <a:cs typeface="Calibri" pitchFamily="34" charset="-120"/>
                        </a:rPr>
                        <a:t> nominative.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Corbeille &amp; rétention (3 jours)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Éviter qu'une suppression de document soit instantanée et sans recours.</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Export administratif</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Permettre à une institution de récupérer tous ses documents </a:t>
                      </a:r>
                      <a:r>
                        <a:rPr lang="en-US" sz="950" dirty="0" err="1">
                          <a:solidFill>
                            <a:srgbClr val="2C1A0E"/>
                          </a:solidFill>
                          <a:latin typeface="Calibri" pitchFamily="34" charset="0"/>
                          <a:ea typeface="Calibri" pitchFamily="34" charset="-122"/>
                          <a:cs typeface="Calibri" pitchFamily="34" charset="-120"/>
                        </a:rPr>
                        <a:t>en</a:t>
                      </a:r>
                      <a:r>
                        <a:rPr lang="en-US" sz="950" dirty="0">
                          <a:solidFill>
                            <a:srgbClr val="2C1A0E"/>
                          </a:solidFill>
                          <a:latin typeface="Calibri" pitchFamily="34" charset="0"/>
                          <a:ea typeface="Calibri" pitchFamily="34" charset="-122"/>
                          <a:cs typeface="Calibri" pitchFamily="34" charset="-120"/>
                        </a:rPr>
                        <a:t> </a:t>
                      </a:r>
                      <a:r>
                        <a:rPr lang="en-US" sz="950" dirty="0" err="1">
                          <a:solidFill>
                            <a:srgbClr val="2C1A0E"/>
                          </a:solidFill>
                          <a:latin typeface="Calibri" pitchFamily="34" charset="0"/>
                          <a:ea typeface="Calibri" pitchFamily="34" charset="-122"/>
                          <a:cs typeface="Calibri" pitchFamily="34" charset="-120"/>
                        </a:rPr>
                        <a:t>clair</a:t>
                      </a:r>
                      <a:r>
                        <a:rPr lang="en-US" sz="950">
                          <a:solidFill>
                            <a:srgbClr val="2C1A0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Journal d'audit</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Tracer qui a fait quoi, sur quel document, dans quelle UO.</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2C1A0E"/>
                          </a:solidFill>
                          <a:latin typeface="Calibri" pitchFamily="34" charset="0"/>
                          <a:ea typeface="Calibri" pitchFamily="34" charset="-122"/>
                          <a:cs typeface="Calibri" pitchFamily="34" charset="-120"/>
                        </a:rPr>
                        <a:t>Notifications</a:t>
                      </a:r>
                      <a:endParaRPr lang="en-US" sz="100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dirty="0">
                          <a:solidFill>
                            <a:srgbClr val="2C1A0E"/>
                          </a:solidFill>
                          <a:latin typeface="Calibri" pitchFamily="34" charset="0"/>
                          <a:ea typeface="Calibri" pitchFamily="34" charset="-122"/>
                          <a:cs typeface="Calibri" pitchFamily="34" charset="-120"/>
                        </a:rPr>
                        <a:t>Informer un utilisateur des événements qui le concernent.</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marL="0" indent="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marL="0" indent="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7C6552"/>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982</TotalTime>
  <Words>3678</Words>
  <Application>Microsoft Macintosh PowerPoint</Application>
  <PresentationFormat>Grand écran</PresentationFormat>
  <Paragraphs>523</Paragraphs>
  <Slides>47</Slides>
  <Notes>47</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47</vt:i4>
      </vt:variant>
    </vt:vector>
  </HeadingPairs>
  <TitlesOfParts>
    <vt:vector size="52" baseType="lpstr">
      <vt:lpstr>Arial</vt:lpstr>
      <vt:lpstr>Calibri</vt:lpstr>
      <vt:lpstr>Cambria</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MadeArchive — Documentation technique</dc:title>
  <dc:subject>PptxGenJS Presentation</dc:subject>
  <dc:creator>MadeArchive</dc:creator>
  <cp:lastModifiedBy>Lloyd Marvin Koutele</cp:lastModifiedBy>
  <cp:revision>2</cp:revision>
  <dcterms:created xsi:type="dcterms:W3CDTF">2026-09-07T23:36:40Z</dcterms:created>
  <dcterms:modified xsi:type="dcterms:W3CDTF">2026-09-08T16:05:15Z</dcterms:modified>
</cp:coreProperties>
</file>